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330200" y="285750"/>
            <a:ext cx="254000" cy="0"/>
          </a:xfrm>
          <a:prstGeom prst="line">
            <a:avLst/>
          </a:prstGeom>
          <a:ln w="19050">
            <a:solidFill>
              <a:srgbClr val="6E2B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60400" y="215900"/>
            <a:ext cx="4064000" cy="152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1" lang="ja-JP" spc="140">
                <a:solidFill>
                  <a:srgbClr val="6E2B30"/>
                </a:solidFill>
                <a:latin typeface="Yu Gothic"/>
                <a:ea typeface="Yu Gothic"/>
                <a:cs typeface="Yu Gothic"/>
              </a:rPr>
              <a:t>AI経営診断 ／ 経営層の使いどころ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0200" y="381000"/>
            <a:ext cx="6604000" cy="711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850" b="1" lang="ja-JP">
                <a:solidFill>
                  <a:srgbClr val="231B1A"/>
                </a:solidFill>
                <a:latin typeface="Yu Mincho"/>
                <a:ea typeface="Yu Mincho"/>
                <a:cs typeface="Yu Mincho"/>
              </a:rPr>
              <a:t>計画は、立てて終わりではなく回り続ける。</a:t>
            </a:r>
          </a:p>
          <a:p>
            <a:pPr algn="l">
              <a:lnSpc>
                <a:spcPct val="130000"/>
              </a:lnSpc>
            </a:pPr>
            <a:r>
              <a:rPr sz="1850" b="1" lang="ja-JP">
                <a:solidFill>
                  <a:srgbClr val="231B1A"/>
                </a:solidFill>
                <a:latin typeface="Yu Mincho"/>
                <a:ea typeface="Yu Mincho"/>
                <a:cs typeface="Yu Mincho"/>
              </a:rPr>
              <a:t>その一周のどこで、この道具を使うか。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16800" y="228600"/>
            <a:ext cx="4445000" cy="787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5000"/>
              </a:lnSpc>
            </a:pPr>
            <a:r>
              <a:rPr sz="800" b="0" lang="ja-JP">
                <a:solidFill>
                  <a:srgbClr val="5B4D4A"/>
                </a:solidFill>
                <a:latin typeface="Yu Gothic"/>
                <a:ea typeface="Yu Gothic"/>
                <a:cs typeface="Yu Gothic"/>
              </a:rPr>
              <a:t>経営計画は「策定 → 実態との検証 → 世の中の変化を知る」で一周し、そこで得た知見が次の計画の前提になります。アプリの3つの入口は、この一周にそのまま対応しています。誰が・いつ・何を求めて、どの機能に入るかを一枚に整理しました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459566" y="1574800"/>
            <a:ext cx="3369734" cy="0"/>
          </a:xfrm>
          <a:prstGeom prst="line">
            <a:avLst/>
          </a:prstGeom>
          <a:ln w="15875">
            <a:solidFill>
              <a:srgbClr val="CABBB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459566" y="1358900"/>
            <a:ext cx="3369733" cy="1397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0" lang="ja-JP">
                <a:solidFill>
                  <a:srgbClr val="5B4D4A"/>
                </a:solidFill>
                <a:latin typeface="Yu Gothic"/>
                <a:ea typeface="Yu Gothic"/>
                <a:cs typeface="Yu Gothic"/>
              </a:rPr>
              <a:t>計画の確定後、実態と照らす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362700" y="1574800"/>
            <a:ext cx="3369733" cy="0"/>
          </a:xfrm>
          <a:prstGeom prst="line">
            <a:avLst/>
          </a:prstGeom>
          <a:ln w="15875">
            <a:solidFill>
              <a:srgbClr val="CABBB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362700" y="1358900"/>
            <a:ext cx="3369733" cy="1397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0" lang="ja-JP">
                <a:solidFill>
                  <a:srgbClr val="5B4D4A"/>
                </a:solidFill>
                <a:latin typeface="Yu Gothic"/>
                <a:ea typeface="Yu Gothic"/>
                <a:cs typeface="Yu Gothic"/>
              </a:rPr>
              <a:t>乖離の背景を、外の変化に探す</a:t>
            </a:r>
          </a:p>
        </p:txBody>
      </p:sp>
      <p:sp>
        <p:nvSpPr>
          <p:cNvPr id="11" name="Freeform 10"/>
          <p:cNvSpPr/>
          <p:nvPr/>
        </p:nvSpPr>
        <p:spPr>
          <a:xfrm>
            <a:off x="2192866" y="1165225"/>
            <a:ext cx="7806267" cy="219075"/>
          </a:xfrm>
          <a:custGeom>
            <a:avLst/>
            <a:gdLst/>
            <a:ahLst/>
            <a:cxnLst/>
            <a:rect l="l" t="t" r="r" b="b"/>
            <a:pathLst>
              <a:path w="7806267" h="219075">
                <a:moveTo>
                  <a:pt x="7806267" y="219075"/>
                </a:moveTo>
                <a:lnTo>
                  <a:pt x="7798888" y="203706"/>
                </a:lnTo>
                <a:lnTo>
                  <a:pt x="7777107" y="188896"/>
                </a:lnTo>
                <a:lnTo>
                  <a:pt x="7741458" y="174645"/>
                </a:lnTo>
                <a:lnTo>
                  <a:pt x="7692473" y="160953"/>
                </a:lnTo>
                <a:lnTo>
                  <a:pt x="7630686" y="147819"/>
                </a:lnTo>
                <a:lnTo>
                  <a:pt x="7556631" y="135245"/>
                </a:lnTo>
                <a:lnTo>
                  <a:pt x="7470841" y="123229"/>
                </a:lnTo>
                <a:lnTo>
                  <a:pt x="7373850" y="111772"/>
                </a:lnTo>
                <a:lnTo>
                  <a:pt x="7266190" y="100875"/>
                </a:lnTo>
                <a:lnTo>
                  <a:pt x="7148395" y="90536"/>
                </a:lnTo>
                <a:lnTo>
                  <a:pt x="7021000" y="80755"/>
                </a:lnTo>
                <a:lnTo>
                  <a:pt x="6884536" y="71534"/>
                </a:lnTo>
                <a:lnTo>
                  <a:pt x="6739537" y="62872"/>
                </a:lnTo>
                <a:lnTo>
                  <a:pt x="6586538" y="54768"/>
                </a:lnTo>
                <a:lnTo>
                  <a:pt x="6426070" y="47224"/>
                </a:lnTo>
                <a:lnTo>
                  <a:pt x="6258669" y="40238"/>
                </a:lnTo>
                <a:lnTo>
                  <a:pt x="6084866" y="33811"/>
                </a:lnTo>
                <a:lnTo>
                  <a:pt x="5905196" y="27943"/>
                </a:lnTo>
                <a:lnTo>
                  <a:pt x="5720192" y="22634"/>
                </a:lnTo>
                <a:lnTo>
                  <a:pt x="5530387" y="17883"/>
                </a:lnTo>
                <a:lnTo>
                  <a:pt x="5336315" y="13692"/>
                </a:lnTo>
                <a:lnTo>
                  <a:pt x="5138509" y="10059"/>
                </a:lnTo>
                <a:lnTo>
                  <a:pt x="4937503" y="6985"/>
                </a:lnTo>
                <a:lnTo>
                  <a:pt x="4733830" y="4470"/>
                </a:lnTo>
                <a:lnTo>
                  <a:pt x="4528022" y="2514"/>
                </a:lnTo>
                <a:lnTo>
                  <a:pt x="4320615" y="1117"/>
                </a:lnTo>
                <a:lnTo>
                  <a:pt x="4112141" y="279"/>
                </a:lnTo>
                <a:lnTo>
                  <a:pt x="3903133" y="0"/>
                </a:lnTo>
                <a:lnTo>
                  <a:pt x="3694126" y="279"/>
                </a:lnTo>
                <a:lnTo>
                  <a:pt x="3485652" y="1117"/>
                </a:lnTo>
                <a:lnTo>
                  <a:pt x="3278245" y="2514"/>
                </a:lnTo>
                <a:lnTo>
                  <a:pt x="3072437" y="4470"/>
                </a:lnTo>
                <a:lnTo>
                  <a:pt x="2868764" y="6985"/>
                </a:lnTo>
                <a:lnTo>
                  <a:pt x="2667758" y="10059"/>
                </a:lnTo>
                <a:lnTo>
                  <a:pt x="2469952" y="13692"/>
                </a:lnTo>
                <a:lnTo>
                  <a:pt x="2275880" y="17883"/>
                </a:lnTo>
                <a:lnTo>
                  <a:pt x="2086075" y="22634"/>
                </a:lnTo>
                <a:lnTo>
                  <a:pt x="1901071" y="27943"/>
                </a:lnTo>
                <a:lnTo>
                  <a:pt x="1721401" y="33811"/>
                </a:lnTo>
                <a:lnTo>
                  <a:pt x="1547598" y="40238"/>
                </a:lnTo>
                <a:lnTo>
                  <a:pt x="1380197" y="47224"/>
                </a:lnTo>
                <a:lnTo>
                  <a:pt x="1219729" y="54768"/>
                </a:lnTo>
                <a:lnTo>
                  <a:pt x="1066730" y="62872"/>
                </a:lnTo>
                <a:lnTo>
                  <a:pt x="921731" y="71534"/>
                </a:lnTo>
                <a:lnTo>
                  <a:pt x="785267" y="80755"/>
                </a:lnTo>
                <a:lnTo>
                  <a:pt x="657872" y="90536"/>
                </a:lnTo>
                <a:lnTo>
                  <a:pt x="540077" y="100875"/>
                </a:lnTo>
                <a:lnTo>
                  <a:pt x="432417" y="111772"/>
                </a:lnTo>
                <a:lnTo>
                  <a:pt x="335426" y="123229"/>
                </a:lnTo>
                <a:lnTo>
                  <a:pt x="249636" y="135245"/>
                </a:lnTo>
                <a:lnTo>
                  <a:pt x="175581" y="147819"/>
                </a:lnTo>
                <a:lnTo>
                  <a:pt x="113794" y="160953"/>
                </a:lnTo>
                <a:lnTo>
                  <a:pt x="64809" y="174645"/>
                </a:lnTo>
                <a:lnTo>
                  <a:pt x="29160" y="188896"/>
                </a:lnTo>
                <a:lnTo>
                  <a:pt x="7379" y="203706"/>
                </a:lnTo>
                <a:lnTo>
                  <a:pt x="0" y="219075"/>
                </a:lnTo>
              </a:path>
            </a:pathLst>
          </a:custGeom>
          <a:noFill/>
          <a:ln w="15875">
            <a:solidFill>
              <a:srgbClr val="6E2B30"/>
            </a:solidFill>
            <a:prstDash val="dash"/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91000" y="1066800"/>
            <a:ext cx="3810000" cy="177800"/>
          </a:xfrm>
          <a:prstGeom prst="rect">
            <a:avLst/>
          </a:prstGeom>
          <a:solidFill>
            <a:srgbClr val="FA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750" b="1" lang="ja-JP">
                <a:solidFill>
                  <a:srgbClr val="6E2B30"/>
                </a:solidFill>
                <a:latin typeface="Yu Gothic"/>
                <a:ea typeface="Yu Gothic"/>
                <a:cs typeface="Yu Gothic"/>
              </a:rPr>
              <a:t>前期の計画・積み上げた乖離・掴んだ変化を、次期計画の前提へ</a:t>
            </a:r>
          </a:p>
        </p:txBody>
      </p:sp>
      <p:sp>
        <p:nvSpPr>
          <p:cNvPr id="13" name="Oval 12"/>
          <p:cNvSpPr/>
          <p:nvPr/>
        </p:nvSpPr>
        <p:spPr>
          <a:xfrm>
            <a:off x="2002366" y="1384300"/>
            <a:ext cx="381000" cy="381000"/>
          </a:xfrm>
          <a:prstGeom prst="ellipse">
            <a:avLst/>
          </a:prstGeom>
          <a:solidFill>
            <a:srgbClr val="A53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 lang="ja-JP">
                <a:solidFill>
                  <a:srgbClr val="FFFFFF"/>
                </a:solidFill>
                <a:latin typeface="Yu Mincho"/>
                <a:ea typeface="Yu Mincho"/>
                <a:cs typeface="Yu Mincho"/>
              </a:rPr>
              <a:t>1</a:t>
            </a:r>
          </a:p>
        </p:txBody>
      </p:sp>
      <p:sp>
        <p:nvSpPr>
          <p:cNvPr id="14" name="Oval 13"/>
          <p:cNvSpPr/>
          <p:nvPr/>
        </p:nvSpPr>
        <p:spPr>
          <a:xfrm>
            <a:off x="5905500" y="1384300"/>
            <a:ext cx="381000" cy="381000"/>
          </a:xfrm>
          <a:prstGeom prst="ellipse">
            <a:avLst/>
          </a:prstGeom>
          <a:solidFill>
            <a:srgbClr val="2570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 lang="ja-JP">
                <a:solidFill>
                  <a:srgbClr val="FFFFFF"/>
                </a:solidFill>
                <a:latin typeface="Yu Mincho"/>
                <a:ea typeface="Yu Mincho"/>
                <a:cs typeface="Yu Mincho"/>
              </a:rPr>
              <a:t>2</a:t>
            </a:r>
          </a:p>
        </p:txBody>
      </p:sp>
      <p:sp>
        <p:nvSpPr>
          <p:cNvPr id="15" name="Oval 14"/>
          <p:cNvSpPr/>
          <p:nvPr/>
        </p:nvSpPr>
        <p:spPr>
          <a:xfrm>
            <a:off x="9808633" y="1384300"/>
            <a:ext cx="381000" cy="381000"/>
          </a:xfrm>
          <a:prstGeom prst="ellipse">
            <a:avLst/>
          </a:prstGeom>
          <a:solidFill>
            <a:srgbClr val="AC7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 lang="ja-JP">
                <a:solidFill>
                  <a:srgbClr val="FFFFFF"/>
                </a:solidFill>
                <a:latin typeface="Yu Mincho"/>
                <a:ea typeface="Yu Mincho"/>
                <a:cs typeface="Yu Mincho"/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0200" y="1879600"/>
            <a:ext cx="3725333" cy="4089400"/>
          </a:xfrm>
          <a:prstGeom prst="rect">
            <a:avLst/>
          </a:prstGeom>
          <a:solidFill>
            <a:srgbClr val="FFFFFF"/>
          </a:solidFill>
          <a:ln w="9525">
            <a:solidFill>
              <a:srgbClr val="E3D8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0200" y="1879600"/>
            <a:ext cx="3725333" cy="44450"/>
          </a:xfrm>
          <a:prstGeom prst="rect">
            <a:avLst/>
          </a:prstGeom>
          <a:solidFill>
            <a:srgbClr val="A53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2600" y="1993900"/>
            <a:ext cx="3420533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 lang="ja-JP">
                <a:solidFill>
                  <a:srgbClr val="231B1A"/>
                </a:solidFill>
                <a:latin typeface="Yu Mincho"/>
                <a:ea typeface="Yu Mincho"/>
                <a:cs typeface="Yu Mincho"/>
              </a:rPr>
              <a:t>計画の策定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2600" y="2247900"/>
            <a:ext cx="3420533" cy="127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0" lang="ja-JP">
                <a:solidFill>
                  <a:srgbClr val="8D7D78"/>
                </a:solidFill>
                <a:latin typeface="Yu Gothic"/>
                <a:ea typeface="Yu Gothic"/>
                <a:cs typeface="Yu Gothic"/>
              </a:rPr>
              <a:t>ホームのカード：計画の策定・確認を支援する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30200" y="2425700"/>
            <a:ext cx="3725333" cy="0"/>
          </a:xfrm>
          <a:prstGeom prst="line">
            <a:avLst/>
          </a:prstGeom>
          <a:ln w="9525">
            <a:solidFill>
              <a:srgbClr val="E3D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82600" y="2514600"/>
            <a:ext cx="330200" cy="127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650" b="1" lang="ja-JP" spc="100">
                <a:solidFill>
                  <a:srgbClr val="8D7D78"/>
                </a:solidFill>
                <a:latin typeface="Yu Gothic"/>
                <a:ea typeface="Yu Gothic"/>
                <a:cs typeface="Yu Gothic"/>
              </a:rPr>
              <a:t>いつ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9800" y="2482850"/>
            <a:ext cx="2963333" cy="330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800" b="0" lang="ja-JP">
                <a:solidFill>
                  <a:srgbClr val="5B4D4A"/>
                </a:solidFill>
                <a:latin typeface="Yu Gothic"/>
                <a:ea typeface="Yu Gothic"/>
                <a:cs typeface="Yu Gothic"/>
              </a:rPr>
              <a:t>次期計画の検討開始から、確定・付議の直前まで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2600" y="2819400"/>
            <a:ext cx="330200" cy="127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650" b="1" lang="ja-JP" spc="100">
                <a:solidFill>
                  <a:srgbClr val="8D7D78"/>
                </a:solidFill>
                <a:latin typeface="Yu Gothic"/>
                <a:ea typeface="Yu Gothic"/>
                <a:cs typeface="Yu Gothic"/>
              </a:rPr>
              <a:t>誰が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9800" y="2787650"/>
            <a:ext cx="2963333" cy="330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800" b="0" lang="ja-JP">
                <a:solidFill>
                  <a:srgbClr val="5B4D4A"/>
                </a:solidFill>
                <a:latin typeface="Yu Gothic"/>
                <a:ea typeface="Yu Gothic"/>
                <a:cs typeface="Yu Gothic"/>
              </a:rPr>
              <a:t>各事業体の経営層／グループ経営層（横串は HD のみ）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2600" y="3124200"/>
            <a:ext cx="330200" cy="127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650" b="1" lang="ja-JP" spc="100">
                <a:solidFill>
                  <a:srgbClr val="8D7D78"/>
                </a:solidFill>
                <a:latin typeface="Yu Gothic"/>
                <a:ea typeface="Yu Gothic"/>
                <a:cs typeface="Yu Gothic"/>
              </a:rPr>
              <a:t>何を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9800" y="3092450"/>
            <a:ext cx="2963333" cy="330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950" b="1" lang="ja-JP">
                <a:solidFill>
                  <a:srgbClr val="231B1A"/>
                </a:solidFill>
                <a:latin typeface="Yu Mincho"/>
                <a:ea typeface="Yu Mincho"/>
                <a:cs typeface="Yu Mincho"/>
              </a:rPr>
              <a:t>「何を前提に置き、どこを目指すか」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6300" y="2489200"/>
            <a:ext cx="0" cy="812800"/>
          </a:xfrm>
          <a:prstGeom prst="line">
            <a:avLst/>
          </a:prstGeom>
          <a:ln w="9525">
            <a:solidFill>
              <a:srgbClr val="E3D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482600" y="3429000"/>
            <a:ext cx="3420533" cy="711200"/>
          </a:xfrm>
          <a:prstGeom prst="rect">
            <a:avLst/>
          </a:prstGeom>
          <a:solidFill>
            <a:srgbClr val="F6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82600" y="3429000"/>
            <a:ext cx="31750" cy="711200"/>
          </a:xfrm>
          <a:prstGeom prst="rect">
            <a:avLst/>
          </a:prstGeom>
          <a:solidFill>
            <a:srgbClr val="A53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336713" y="3517900"/>
            <a:ext cx="464820" cy="158750"/>
          </a:xfrm>
          <a:prstGeom prst="rect">
            <a:avLst/>
          </a:prstGeom>
          <a:solidFill>
            <a:srgbClr val="231B1A"/>
          </a:solidFill>
          <a:ln w="7620">
            <a:solidFill>
              <a:srgbClr val="231B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50" b="0" lang="ja-JP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グループ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921423" y="3517900"/>
            <a:ext cx="377190" cy="158750"/>
          </a:xfrm>
          <a:prstGeom prst="rect">
            <a:avLst/>
          </a:prstGeom>
          <a:solidFill>
            <a:srgbClr val="FFFFFF"/>
          </a:solidFill>
          <a:ln w="7620">
            <a:solidFill>
              <a:srgbClr val="8D7D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50" b="0" lang="ja-JP">
                <a:solidFill>
                  <a:srgbClr val="5B4D4A"/>
                </a:solidFill>
                <a:latin typeface="Yu Gothic"/>
                <a:ea typeface="Yu Gothic"/>
                <a:cs typeface="Yu Gothic"/>
              </a:rPr>
              <a:t>事業体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9600" y="3517900"/>
            <a:ext cx="2222923" cy="177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lang="ja-JP">
                <a:solidFill>
                  <a:srgbClr val="231B1A"/>
                </a:solidFill>
                <a:latin typeface="Yu Gothic"/>
                <a:ea typeface="Yu Gothic"/>
                <a:cs typeface="Yu Gothic"/>
              </a:rPr>
              <a:t>戦略・計画の前提を洗い直す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9600" y="3721100"/>
            <a:ext cx="3166533" cy="381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</a:pPr>
            <a:r>
              <a:rPr sz="750" b="0" lang="ja-JP">
                <a:solidFill>
                  <a:srgbClr val="5B4D4A"/>
                </a:solidFill>
                <a:latin typeface="Yu Gothic"/>
                <a:ea typeface="Yu Gothic"/>
                <a:cs typeface="Yu Gothic"/>
              </a:rPr>
              <a:t>ここから始める。過去の計画に、積み上げた乖離と会議での議論、現在の情勢を重ね、今期に考えるべき要素と計画書の素案枠を出す。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2600" y="4229100"/>
            <a:ext cx="3420533" cy="711200"/>
          </a:xfrm>
          <a:prstGeom prst="rect">
            <a:avLst/>
          </a:prstGeom>
          <a:solidFill>
            <a:srgbClr val="F6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82600" y="4229100"/>
            <a:ext cx="31750" cy="711200"/>
          </a:xfrm>
          <a:prstGeom prst="rect">
            <a:avLst/>
          </a:prstGeom>
          <a:solidFill>
            <a:srgbClr val="A53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336713" y="4318000"/>
            <a:ext cx="464820" cy="158750"/>
          </a:xfrm>
          <a:prstGeom prst="rect">
            <a:avLst/>
          </a:prstGeom>
          <a:solidFill>
            <a:srgbClr val="231B1A"/>
          </a:solidFill>
          <a:ln w="7620">
            <a:solidFill>
              <a:srgbClr val="231B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50" b="0" lang="ja-JP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グループ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921423" y="4318000"/>
            <a:ext cx="377190" cy="158750"/>
          </a:xfrm>
          <a:prstGeom prst="rect">
            <a:avLst/>
          </a:prstGeom>
          <a:solidFill>
            <a:srgbClr val="FFFFFF"/>
          </a:solidFill>
          <a:ln w="7620">
            <a:solidFill>
              <a:srgbClr val="8D7D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50" b="0" lang="ja-JP">
                <a:solidFill>
                  <a:srgbClr val="5B4D4A"/>
                </a:solidFill>
                <a:latin typeface="Yu Gothic"/>
                <a:ea typeface="Yu Gothic"/>
                <a:cs typeface="Yu Gothic"/>
              </a:rPr>
              <a:t>事業体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9600" y="4318000"/>
            <a:ext cx="2222923" cy="177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lang="ja-JP">
                <a:solidFill>
                  <a:srgbClr val="231B1A"/>
                </a:solidFill>
                <a:latin typeface="Yu Gothic"/>
                <a:ea typeface="Yu Gothic"/>
                <a:cs typeface="Yu Gothic"/>
              </a:rPr>
              <a:t>戦略・計画を点検する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9600" y="4521200"/>
            <a:ext cx="3166533" cy="381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</a:pPr>
            <a:r>
              <a:rPr sz="750" b="0" lang="ja-JP">
                <a:solidFill>
                  <a:srgbClr val="5B4D4A"/>
                </a:solidFill>
                <a:latin typeface="Yu Gothic"/>
                <a:ea typeface="Yu Gothic"/>
                <a:cs typeface="Yu Gothic"/>
              </a:rPr>
              <a:t>作成中の今期ドラフトを、論理の通り・リスク・過去の指摘への対応まで一括で点検。確定前の精緻化に使う。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82600" y="5029200"/>
            <a:ext cx="3420533" cy="711200"/>
          </a:xfrm>
          <a:prstGeom prst="rect">
            <a:avLst/>
          </a:prstGeom>
          <a:solidFill>
            <a:srgbClr val="F6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82600" y="5029200"/>
            <a:ext cx="31750" cy="711200"/>
          </a:xfrm>
          <a:prstGeom prst="rect">
            <a:avLst/>
          </a:prstGeom>
          <a:solidFill>
            <a:srgbClr val="A53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336713" y="5118100"/>
            <a:ext cx="464820" cy="158750"/>
          </a:xfrm>
          <a:prstGeom prst="rect">
            <a:avLst/>
          </a:prstGeom>
          <a:solidFill>
            <a:srgbClr val="231B1A"/>
          </a:solidFill>
          <a:ln w="7620">
            <a:solidFill>
              <a:srgbClr val="231B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50" b="0" lang="ja-JP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グループ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9600" y="5118100"/>
            <a:ext cx="2638213" cy="177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lang="ja-JP">
                <a:solidFill>
                  <a:srgbClr val="231B1A"/>
                </a:solidFill>
                <a:latin typeface="Yu Gothic"/>
                <a:ea typeface="Yu Gothic"/>
                <a:cs typeface="Yu Gothic"/>
              </a:rPr>
              <a:t>グループ横断で計画を束ねる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9600" y="5321300"/>
            <a:ext cx="3166533" cy="381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</a:pPr>
            <a:r>
              <a:rPr sz="750" b="0" lang="ja-JP">
                <a:solidFill>
                  <a:srgbClr val="5B4D4A"/>
                </a:solidFill>
                <a:latin typeface="Yu Gothic"/>
                <a:ea typeface="Yu Gothic"/>
                <a:cs typeface="Yu Gothic"/>
              </a:rPr>
              <a:t>6事業を並べて読み、前提・KPI・方針の整合性と資源配分を横串で確認する。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42900" y="5689600"/>
            <a:ext cx="3699933" cy="266700"/>
          </a:xfrm>
          <a:prstGeom prst="rect">
            <a:avLst/>
          </a:prstGeom>
          <a:solidFill>
            <a:srgbClr val="F5E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46" name="Connector 45"/>
          <p:cNvCxnSpPr/>
          <p:nvPr/>
        </p:nvCxnSpPr>
        <p:spPr>
          <a:xfrm>
            <a:off x="330200" y="5689600"/>
            <a:ext cx="3725333" cy="0"/>
          </a:xfrm>
          <a:prstGeom prst="line">
            <a:avLst/>
          </a:prstGeom>
          <a:ln w="9525">
            <a:solidFill>
              <a:srgbClr val="CABBB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482600" y="5765800"/>
            <a:ext cx="3420533" cy="152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lang="ja-JP">
                <a:solidFill>
                  <a:srgbClr val="5B4D4A"/>
                </a:solidFill>
                <a:latin typeface="Yu Gothic"/>
                <a:ea typeface="Yu Gothic"/>
                <a:cs typeface="Yu Gothic"/>
              </a:rPr>
              <a:t>出口：確定した計画 ─ 以後は②の点検対象になる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33333" y="1879600"/>
            <a:ext cx="3725333" cy="4089400"/>
          </a:xfrm>
          <a:prstGeom prst="rect">
            <a:avLst/>
          </a:prstGeom>
          <a:solidFill>
            <a:srgbClr val="FFFFFF"/>
          </a:solidFill>
          <a:ln w="9525">
            <a:solidFill>
              <a:srgbClr val="E3D8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233333" y="1879600"/>
            <a:ext cx="3725333" cy="44450"/>
          </a:xfrm>
          <a:prstGeom prst="rect">
            <a:avLst/>
          </a:prstGeom>
          <a:solidFill>
            <a:srgbClr val="2570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85733" y="1993900"/>
            <a:ext cx="3420533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 lang="ja-JP">
                <a:solidFill>
                  <a:srgbClr val="231B1A"/>
                </a:solidFill>
                <a:latin typeface="Yu Mincho"/>
                <a:ea typeface="Yu Mincho"/>
                <a:cs typeface="Yu Mincho"/>
              </a:rPr>
              <a:t>計画と実態の検証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85733" y="2247900"/>
            <a:ext cx="3420533" cy="127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0" lang="ja-JP">
                <a:solidFill>
                  <a:srgbClr val="8D7D78"/>
                </a:solidFill>
                <a:latin typeface="Yu Gothic"/>
                <a:ea typeface="Yu Gothic"/>
                <a:cs typeface="Yu Gothic"/>
              </a:rPr>
              <a:t>ホームのカード：計画と実態の乖離を検証する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4233333" y="2425700"/>
            <a:ext cx="3725333" cy="0"/>
          </a:xfrm>
          <a:prstGeom prst="line">
            <a:avLst/>
          </a:prstGeom>
          <a:ln w="9525">
            <a:solidFill>
              <a:srgbClr val="E3D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4385733" y="2514600"/>
            <a:ext cx="330200" cy="127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650" b="1" lang="ja-JP" spc="100">
                <a:solidFill>
                  <a:srgbClr val="8D7D78"/>
                </a:solidFill>
                <a:latin typeface="Yu Gothic"/>
                <a:ea typeface="Yu Gothic"/>
                <a:cs typeface="Yu Gothic"/>
              </a:rPr>
              <a:t>いつ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842933" y="2482850"/>
            <a:ext cx="2963333" cy="330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800" b="0" lang="ja-JP">
                <a:solidFill>
                  <a:srgbClr val="5B4D4A"/>
                </a:solidFill>
                <a:latin typeface="Yu Gothic"/>
                <a:ea typeface="Yu Gothic"/>
                <a:cs typeface="Yu Gothic"/>
              </a:rPr>
              <a:t>計画の確定後、四半期・月次の定例レビューのたびに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385733" y="2819400"/>
            <a:ext cx="330200" cy="127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650" b="1" lang="ja-JP" spc="100">
                <a:solidFill>
                  <a:srgbClr val="8D7D78"/>
                </a:solidFill>
                <a:latin typeface="Yu Gothic"/>
                <a:ea typeface="Yu Gothic"/>
                <a:cs typeface="Yu Gothic"/>
              </a:rPr>
              <a:t>誰が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842933" y="2787650"/>
            <a:ext cx="2963333" cy="330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800" b="0" lang="ja-JP">
                <a:solidFill>
                  <a:srgbClr val="5B4D4A"/>
                </a:solidFill>
                <a:latin typeface="Yu Gothic"/>
                <a:ea typeface="Yu Gothic"/>
                <a:cs typeface="Yu Gothic"/>
              </a:rPr>
              <a:t>各事業体の経営層／グループ経営層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385733" y="3124200"/>
            <a:ext cx="330200" cy="127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650" b="1" lang="ja-JP" spc="100">
                <a:solidFill>
                  <a:srgbClr val="8D7D78"/>
                </a:solidFill>
                <a:latin typeface="Yu Gothic"/>
                <a:ea typeface="Yu Gothic"/>
                <a:cs typeface="Yu Gothic"/>
              </a:rPr>
              <a:t>何を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842933" y="3092450"/>
            <a:ext cx="2963333" cy="330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950" b="1" lang="ja-JP">
                <a:solidFill>
                  <a:srgbClr val="231B1A"/>
                </a:solidFill>
                <a:latin typeface="Yu Mincho"/>
                <a:ea typeface="Yu Mincho"/>
                <a:cs typeface="Yu Mincho"/>
              </a:rPr>
              <a:t>「想定からどれだけ離れたか、直すべきか」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4779433" y="2489200"/>
            <a:ext cx="0" cy="812800"/>
          </a:xfrm>
          <a:prstGeom prst="line">
            <a:avLst/>
          </a:prstGeom>
          <a:ln w="9525">
            <a:solidFill>
              <a:srgbClr val="E3D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ectangle 59"/>
          <p:cNvSpPr/>
          <p:nvPr/>
        </p:nvSpPr>
        <p:spPr>
          <a:xfrm>
            <a:off x="4385733" y="3429000"/>
            <a:ext cx="3420533" cy="787400"/>
          </a:xfrm>
          <a:prstGeom prst="rect">
            <a:avLst/>
          </a:prstGeom>
          <a:solidFill>
            <a:srgbClr val="E5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385733" y="3429000"/>
            <a:ext cx="31750" cy="787400"/>
          </a:xfrm>
          <a:prstGeom prst="rect">
            <a:avLst/>
          </a:prstGeom>
          <a:solidFill>
            <a:srgbClr val="2570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239846" y="3517900"/>
            <a:ext cx="464820" cy="158750"/>
          </a:xfrm>
          <a:prstGeom prst="rect">
            <a:avLst/>
          </a:prstGeom>
          <a:solidFill>
            <a:srgbClr val="231B1A"/>
          </a:solidFill>
          <a:ln w="7620">
            <a:solidFill>
              <a:srgbClr val="231B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50" b="0" lang="ja-JP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グループ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824556" y="3517900"/>
            <a:ext cx="377190" cy="158750"/>
          </a:xfrm>
          <a:prstGeom prst="rect">
            <a:avLst/>
          </a:prstGeom>
          <a:solidFill>
            <a:srgbClr val="FFFFFF"/>
          </a:solidFill>
          <a:ln w="7620">
            <a:solidFill>
              <a:srgbClr val="8D7D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50" b="0" lang="ja-JP">
                <a:solidFill>
                  <a:srgbClr val="5B4D4A"/>
                </a:solidFill>
                <a:latin typeface="Yu Gothic"/>
                <a:ea typeface="Yu Gothic"/>
                <a:cs typeface="Yu Gothic"/>
              </a:rPr>
              <a:t>事業体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12733" y="3517900"/>
            <a:ext cx="2222923" cy="177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lang="ja-JP">
                <a:solidFill>
                  <a:srgbClr val="231B1A"/>
                </a:solidFill>
                <a:latin typeface="Yu Gothic"/>
                <a:ea typeface="Yu Gothic"/>
                <a:cs typeface="Yu Gothic"/>
              </a:rPr>
              <a:t>戦略・計画と実態の乖離を捉える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12733" y="3721100"/>
            <a:ext cx="316653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</a:pPr>
            <a:r>
              <a:rPr sz="750" b="0" lang="ja-JP">
                <a:solidFill>
                  <a:srgbClr val="5B4D4A"/>
                </a:solidFill>
                <a:latin typeface="Yu Gothic"/>
                <a:ea typeface="Yu Gothic"/>
                <a:cs typeface="Yu Gothic"/>
              </a:rPr>
              <a:t>実績と外部環境が計画の想定からどれだけ離れたかを点検し、個別案件の進捗差分まで降りて修正の要否を整理する。定期的な軌道修正の場。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385733" y="4775200"/>
            <a:ext cx="3420533" cy="787400"/>
          </a:xfrm>
          <a:prstGeom prst="rect">
            <a:avLst/>
          </a:prstGeom>
          <a:noFill/>
          <a:ln w="9525">
            <a:solidFill>
              <a:srgbClr val="CABBB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626436" y="4864100"/>
            <a:ext cx="1078230" cy="158750"/>
          </a:xfrm>
          <a:prstGeom prst="rect">
            <a:avLst/>
          </a:prstGeom>
          <a:noFill/>
          <a:ln w="7620">
            <a:solidFill>
              <a:srgbClr val="CABBB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50" b="0" lang="ja-JP">
                <a:solidFill>
                  <a:srgbClr val="8D7D78"/>
                </a:solidFill>
                <a:latin typeface="Yu Gothic"/>
                <a:ea typeface="Yu Gothic"/>
                <a:cs typeface="Yu Gothic"/>
              </a:rPr>
              <a:t>今後の拡張として検討中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12733" y="4864100"/>
            <a:ext cx="2024803" cy="177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lang="ja-JP">
                <a:solidFill>
                  <a:srgbClr val="5B4D4A"/>
                </a:solidFill>
                <a:latin typeface="Yu Gothic"/>
                <a:ea typeface="Yu Gothic"/>
                <a:cs typeface="Yu Gothic"/>
              </a:rPr>
              <a:t>外部変数と業績の関係を解き明かす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512733" y="5067300"/>
            <a:ext cx="316653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</a:pPr>
            <a:r>
              <a:rPr sz="750" b="0" lang="ja-JP">
                <a:solidFill>
                  <a:srgbClr val="5B4D4A"/>
                </a:solidFill>
                <a:latin typeface="Yu Gothic"/>
                <a:ea typeface="Yu Gothic"/>
                <a:cs typeface="Yu Gothic"/>
              </a:rPr>
              <a:t>天候・為替などの外部データと自社実績を突き合わせ、何がどれだけ効いたかを検証する。乖離の「理由」まで踏み込むための機能。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246033" y="5689600"/>
            <a:ext cx="3699933" cy="266700"/>
          </a:xfrm>
          <a:prstGeom prst="rect">
            <a:avLst/>
          </a:prstGeom>
          <a:solidFill>
            <a:srgbClr val="F5E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71" name="Connector 70"/>
          <p:cNvCxnSpPr/>
          <p:nvPr/>
        </p:nvCxnSpPr>
        <p:spPr>
          <a:xfrm>
            <a:off x="4233333" y="5689600"/>
            <a:ext cx="3725333" cy="0"/>
          </a:xfrm>
          <a:prstGeom prst="line">
            <a:avLst/>
          </a:prstGeom>
          <a:ln w="9525">
            <a:solidFill>
              <a:srgbClr val="CABBB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4385733" y="5765800"/>
            <a:ext cx="3420533" cy="152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lang="ja-JP">
                <a:solidFill>
                  <a:srgbClr val="5B4D4A"/>
                </a:solidFill>
                <a:latin typeface="Yu Gothic"/>
                <a:ea typeface="Yu Gothic"/>
                <a:cs typeface="Yu Gothic"/>
              </a:rPr>
              <a:t>ここで積み上がった乖離と議論が、次期計画の前提材料として①へ渡る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136466" y="1879600"/>
            <a:ext cx="3725333" cy="4089400"/>
          </a:xfrm>
          <a:prstGeom prst="rect">
            <a:avLst/>
          </a:prstGeom>
          <a:solidFill>
            <a:srgbClr val="FFFFFF"/>
          </a:solidFill>
          <a:ln w="9525">
            <a:solidFill>
              <a:srgbClr val="E3D8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8136466" y="1879600"/>
            <a:ext cx="3725333" cy="44450"/>
          </a:xfrm>
          <a:prstGeom prst="rect">
            <a:avLst/>
          </a:prstGeom>
          <a:solidFill>
            <a:srgbClr val="AC7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288866" y="1993900"/>
            <a:ext cx="3420533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 lang="ja-JP">
                <a:solidFill>
                  <a:srgbClr val="231B1A"/>
                </a:solidFill>
                <a:latin typeface="Yu Mincho"/>
                <a:ea typeface="Yu Mincho"/>
                <a:cs typeface="Yu Mincho"/>
              </a:rPr>
              <a:t>動向・変化を知る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288866" y="2247900"/>
            <a:ext cx="3420533" cy="127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0" lang="ja-JP">
                <a:solidFill>
                  <a:srgbClr val="8D7D78"/>
                </a:solidFill>
                <a:latin typeface="Yu Gothic"/>
                <a:ea typeface="Yu Gothic"/>
                <a:cs typeface="Yu Gothic"/>
              </a:rPr>
              <a:t>ホームのカード：世の中の動向・変化を知る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8136466" y="2425700"/>
            <a:ext cx="3725334" cy="0"/>
          </a:xfrm>
          <a:prstGeom prst="line">
            <a:avLst/>
          </a:prstGeom>
          <a:ln w="9525">
            <a:solidFill>
              <a:srgbClr val="E3D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8288866" y="2514600"/>
            <a:ext cx="330200" cy="127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650" b="1" lang="ja-JP" spc="100">
                <a:solidFill>
                  <a:srgbClr val="8D7D78"/>
                </a:solidFill>
                <a:latin typeface="Yu Gothic"/>
                <a:ea typeface="Yu Gothic"/>
                <a:cs typeface="Yu Gothic"/>
              </a:rPr>
              <a:t>いつ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746066" y="2482850"/>
            <a:ext cx="2963333" cy="330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800" b="0" lang="ja-JP">
                <a:solidFill>
                  <a:srgbClr val="5B4D4A"/>
                </a:solidFill>
                <a:latin typeface="Yu Gothic"/>
                <a:ea typeface="Yu Gothic"/>
                <a:cs typeface="Yu Gothic"/>
              </a:rPr>
              <a:t>日常的に。加えて、重大な事象が起きたその時に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288866" y="2819400"/>
            <a:ext cx="330200" cy="127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650" b="1" lang="ja-JP" spc="100">
                <a:solidFill>
                  <a:srgbClr val="8D7D78"/>
                </a:solidFill>
                <a:latin typeface="Yu Gothic"/>
                <a:ea typeface="Yu Gothic"/>
                <a:cs typeface="Yu Gothic"/>
              </a:rPr>
              <a:t>誰が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746066" y="2787650"/>
            <a:ext cx="2963333" cy="330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800" b="0" lang="ja-JP">
                <a:solidFill>
                  <a:srgbClr val="5B4D4A"/>
                </a:solidFill>
                <a:latin typeface="Yu Gothic"/>
                <a:ea typeface="Yu Gothic"/>
                <a:cs typeface="Yu Gothic"/>
              </a:rPr>
              <a:t>各事業体の経営層／グループ経営層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288866" y="3124200"/>
            <a:ext cx="330200" cy="127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650" b="1" lang="ja-JP" spc="100">
                <a:solidFill>
                  <a:srgbClr val="8D7D78"/>
                </a:solidFill>
                <a:latin typeface="Yu Gothic"/>
                <a:ea typeface="Yu Gothic"/>
                <a:cs typeface="Yu Gothic"/>
              </a:rPr>
              <a:t>何を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746066" y="3092450"/>
            <a:ext cx="2963333" cy="330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950" b="1" lang="ja-JP">
                <a:solidFill>
                  <a:srgbClr val="231B1A"/>
                </a:solidFill>
                <a:latin typeface="Yu Mincho"/>
                <a:ea typeface="Yu Mincho"/>
                <a:cs typeface="Yu Mincho"/>
              </a:rPr>
              <a:t>「何が起きていて、自社にどう効くか」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8682566" y="2489200"/>
            <a:ext cx="0" cy="812800"/>
          </a:xfrm>
          <a:prstGeom prst="line">
            <a:avLst/>
          </a:prstGeom>
          <a:ln w="9525">
            <a:solidFill>
              <a:srgbClr val="E3D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Rectangle 84"/>
          <p:cNvSpPr/>
          <p:nvPr/>
        </p:nvSpPr>
        <p:spPr>
          <a:xfrm>
            <a:off x="8288866" y="3429000"/>
            <a:ext cx="3420533" cy="711200"/>
          </a:xfrm>
          <a:prstGeom prst="rect">
            <a:avLst/>
          </a:prstGeom>
          <a:solidFill>
            <a:srgbClr val="F6E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8288866" y="3429000"/>
            <a:ext cx="31750" cy="711200"/>
          </a:xfrm>
          <a:prstGeom prst="rect">
            <a:avLst/>
          </a:prstGeom>
          <a:solidFill>
            <a:srgbClr val="AC7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11142980" y="3517900"/>
            <a:ext cx="464820" cy="158750"/>
          </a:xfrm>
          <a:prstGeom prst="rect">
            <a:avLst/>
          </a:prstGeom>
          <a:solidFill>
            <a:srgbClr val="231B1A"/>
          </a:solidFill>
          <a:ln w="7620">
            <a:solidFill>
              <a:srgbClr val="231B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50" b="0" lang="ja-JP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グループ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0727690" y="3517900"/>
            <a:ext cx="377190" cy="158750"/>
          </a:xfrm>
          <a:prstGeom prst="rect">
            <a:avLst/>
          </a:prstGeom>
          <a:solidFill>
            <a:srgbClr val="FFFFFF"/>
          </a:solidFill>
          <a:ln w="7620">
            <a:solidFill>
              <a:srgbClr val="8D7D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50" b="0" lang="ja-JP">
                <a:solidFill>
                  <a:srgbClr val="5B4D4A"/>
                </a:solidFill>
                <a:latin typeface="Yu Gothic"/>
                <a:ea typeface="Yu Gothic"/>
                <a:cs typeface="Yu Gothic"/>
              </a:rPr>
              <a:t>事業体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415866" y="3517900"/>
            <a:ext cx="2222923" cy="177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lang="ja-JP">
                <a:solidFill>
                  <a:srgbClr val="231B1A"/>
                </a:solidFill>
                <a:latin typeface="Yu Gothic"/>
                <a:ea typeface="Yu Gothic"/>
                <a:cs typeface="Yu Gothic"/>
              </a:rPr>
              <a:t>変化の予兆をいち早く掴む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415866" y="3721100"/>
            <a:ext cx="3166533" cy="381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</a:pPr>
            <a:r>
              <a:rPr sz="750" b="0" lang="ja-JP">
                <a:solidFill>
                  <a:srgbClr val="5B4D4A"/>
                </a:solidFill>
                <a:latin typeface="Yu Gothic"/>
                <a:ea typeface="Yu Gothic"/>
                <a:cs typeface="Yu Gothic"/>
              </a:rPr>
              <a:t>6事業の重要指標と社内外のデータを継続監視し、閾値超過や急変のシグナルを知らせる。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288866" y="4229100"/>
            <a:ext cx="3420533" cy="711200"/>
          </a:xfrm>
          <a:prstGeom prst="rect">
            <a:avLst/>
          </a:prstGeom>
          <a:solidFill>
            <a:srgbClr val="F6E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288866" y="4229100"/>
            <a:ext cx="31750" cy="711200"/>
          </a:xfrm>
          <a:prstGeom prst="rect">
            <a:avLst/>
          </a:prstGeom>
          <a:solidFill>
            <a:srgbClr val="AC7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1142980" y="4318000"/>
            <a:ext cx="464820" cy="158750"/>
          </a:xfrm>
          <a:prstGeom prst="rect">
            <a:avLst/>
          </a:prstGeom>
          <a:solidFill>
            <a:srgbClr val="231B1A"/>
          </a:solidFill>
          <a:ln w="7620">
            <a:solidFill>
              <a:srgbClr val="231B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50" b="0" lang="ja-JP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グループ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0727690" y="4318000"/>
            <a:ext cx="377190" cy="158750"/>
          </a:xfrm>
          <a:prstGeom prst="rect">
            <a:avLst/>
          </a:prstGeom>
          <a:solidFill>
            <a:srgbClr val="FFFFFF"/>
          </a:solidFill>
          <a:ln w="7620">
            <a:solidFill>
              <a:srgbClr val="8D7D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50" b="0" lang="ja-JP">
                <a:solidFill>
                  <a:srgbClr val="5B4D4A"/>
                </a:solidFill>
                <a:latin typeface="Yu Gothic"/>
                <a:ea typeface="Yu Gothic"/>
                <a:cs typeface="Yu Gothic"/>
              </a:rPr>
              <a:t>事業体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415866" y="4318000"/>
            <a:ext cx="2222923" cy="177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lang="ja-JP">
                <a:solidFill>
                  <a:srgbClr val="231B1A"/>
                </a:solidFill>
                <a:latin typeface="Yu Gothic"/>
                <a:ea typeface="Yu Gothic"/>
                <a:cs typeface="Yu Gothic"/>
              </a:rPr>
              <a:t>発生事象の影響と打ち手を導出する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415866" y="4521200"/>
            <a:ext cx="3166533" cy="381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</a:pPr>
            <a:r>
              <a:rPr sz="750" b="0" lang="ja-JP">
                <a:solidFill>
                  <a:srgbClr val="5B4D4A"/>
                </a:solidFill>
                <a:latin typeface="Yu Gothic"/>
                <a:ea typeface="Yu Gothic"/>
                <a:cs typeface="Yu Gothic"/>
              </a:rPr>
              <a:t>掴んだシグナルを起点に、影響の経路をたどって打ち手を相談する。見直すべき戦略・計画まで示す。</a:t>
            </a:r>
          </a:p>
        </p:txBody>
      </p:sp>
      <p:sp>
        <p:nvSpPr>
          <p:cNvPr id="97" name="Rectangle 96"/>
          <p:cNvSpPr/>
          <p:nvPr/>
        </p:nvSpPr>
        <p:spPr>
          <a:xfrm>
            <a:off x="8288866" y="5029200"/>
            <a:ext cx="3420533" cy="711200"/>
          </a:xfrm>
          <a:prstGeom prst="rect">
            <a:avLst/>
          </a:prstGeom>
          <a:solidFill>
            <a:srgbClr val="F6E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288866" y="5029200"/>
            <a:ext cx="31750" cy="711200"/>
          </a:xfrm>
          <a:prstGeom prst="rect">
            <a:avLst/>
          </a:prstGeom>
          <a:solidFill>
            <a:srgbClr val="AC7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11142980" y="5118100"/>
            <a:ext cx="464820" cy="158750"/>
          </a:xfrm>
          <a:prstGeom prst="rect">
            <a:avLst/>
          </a:prstGeom>
          <a:solidFill>
            <a:srgbClr val="231B1A"/>
          </a:solidFill>
          <a:ln w="7620">
            <a:solidFill>
              <a:srgbClr val="231B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50" b="0" lang="ja-JP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グループ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0727690" y="5118100"/>
            <a:ext cx="377190" cy="158750"/>
          </a:xfrm>
          <a:prstGeom prst="rect">
            <a:avLst/>
          </a:prstGeom>
          <a:solidFill>
            <a:srgbClr val="FFFFFF"/>
          </a:solidFill>
          <a:ln w="7620">
            <a:solidFill>
              <a:srgbClr val="8D7D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50" b="0" lang="ja-JP">
                <a:solidFill>
                  <a:srgbClr val="5B4D4A"/>
                </a:solidFill>
                <a:latin typeface="Yu Gothic"/>
                <a:ea typeface="Yu Gothic"/>
                <a:cs typeface="Yu Gothic"/>
              </a:rPr>
              <a:t>事業体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415866" y="5118100"/>
            <a:ext cx="2222923" cy="177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lang="ja-JP">
                <a:solidFill>
                  <a:srgbClr val="231B1A"/>
                </a:solidFill>
                <a:latin typeface="Yu Gothic"/>
                <a:ea typeface="Yu Gothic"/>
                <a:cs typeface="Yu Gothic"/>
              </a:rPr>
              <a:t>起こり得る事象に備える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415866" y="5321300"/>
            <a:ext cx="3166533" cy="381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</a:pPr>
            <a:r>
              <a:rPr sz="750" b="0" lang="ja-JP">
                <a:solidFill>
                  <a:srgbClr val="5B4D4A"/>
                </a:solidFill>
                <a:latin typeface="Yu Gothic"/>
                <a:ea typeface="Yu Gothic"/>
                <a:cs typeface="Yu Gothic"/>
              </a:rPr>
              <a:t>「もしこうなったら」を複数シナリオで試算する波及シミュレーション。自由度の高い対話で使う。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8149166" y="5689600"/>
            <a:ext cx="3699933" cy="266700"/>
          </a:xfrm>
          <a:prstGeom prst="rect">
            <a:avLst/>
          </a:prstGeom>
          <a:solidFill>
            <a:srgbClr val="F5E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104" name="Connector 103"/>
          <p:cNvCxnSpPr/>
          <p:nvPr/>
        </p:nvCxnSpPr>
        <p:spPr>
          <a:xfrm>
            <a:off x="8136466" y="5689600"/>
            <a:ext cx="3725334" cy="0"/>
          </a:xfrm>
          <a:prstGeom prst="line">
            <a:avLst/>
          </a:prstGeom>
          <a:ln w="9525">
            <a:solidFill>
              <a:srgbClr val="CABBB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TextBox 104"/>
          <p:cNvSpPr txBox="1"/>
          <p:nvPr/>
        </p:nvSpPr>
        <p:spPr>
          <a:xfrm>
            <a:off x="8288866" y="5765800"/>
            <a:ext cx="3420533" cy="152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lang="ja-JP">
                <a:solidFill>
                  <a:srgbClr val="5B4D4A"/>
                </a:solidFill>
                <a:latin typeface="Yu Gothic"/>
                <a:ea typeface="Yu Gothic"/>
                <a:cs typeface="Yu Gothic"/>
              </a:rPr>
              <a:t>掴んだ変化は、次期計画の情勢認識としてそのまま①へ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330200" y="6070600"/>
            <a:ext cx="11531600" cy="406400"/>
          </a:xfrm>
          <a:prstGeom prst="rect">
            <a:avLst/>
          </a:prstGeom>
          <a:solidFill>
            <a:srgbClr val="FFFFFF"/>
          </a:solidFill>
          <a:ln w="9525">
            <a:solidFill>
              <a:srgbClr val="E3D8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482600" y="6184900"/>
            <a:ext cx="787400" cy="177800"/>
          </a:xfrm>
          <a:prstGeom prst="rect">
            <a:avLst/>
          </a:prstGeom>
          <a:solidFill>
            <a:srgbClr val="6E2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700" b="1" lang="ja-JP" spc="10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どの段階でも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397000" y="6172200"/>
            <a:ext cx="939800" cy="203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lang="ja-JP">
                <a:solidFill>
                  <a:srgbClr val="231B1A"/>
                </a:solidFill>
                <a:latin typeface="Yu Mincho"/>
                <a:ea typeface="Yu Mincho"/>
                <a:cs typeface="Yu Mincho"/>
              </a:rPr>
              <a:t>経営AI相談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2438400" y="6197600"/>
            <a:ext cx="9245600" cy="177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lang="ja-JP">
                <a:solidFill>
                  <a:srgbClr val="5B4D4A"/>
                </a:solidFill>
                <a:latin typeface="Yu Gothic"/>
                <a:ea typeface="Yu Gothic"/>
                <a:cs typeface="Yu Gothic"/>
              </a:rPr>
              <a:t>会議・提案資料の要約、論点とToDoの抽出、文案の壁打ち。どの段階にいても、手元の資料を1つの対話で片づけるための共通の道具。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330200" y="6565900"/>
            <a:ext cx="377190" cy="158750"/>
          </a:xfrm>
          <a:prstGeom prst="rect">
            <a:avLst/>
          </a:prstGeom>
          <a:solidFill>
            <a:srgbClr val="FFFFFF"/>
          </a:solidFill>
          <a:ln w="7620">
            <a:solidFill>
              <a:srgbClr val="8D7D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50" b="0" lang="ja-JP">
                <a:solidFill>
                  <a:srgbClr val="5B4D4A"/>
                </a:solidFill>
                <a:latin typeface="Yu Gothic"/>
                <a:ea typeface="Yu Gothic"/>
                <a:cs typeface="Yu Gothic"/>
              </a:rPr>
              <a:t>事業体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70890" y="6591300"/>
            <a:ext cx="2794000" cy="1397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0" lang="ja-JP">
                <a:solidFill>
                  <a:srgbClr val="8D7D78"/>
                </a:solidFill>
                <a:latin typeface="Yu Gothic"/>
                <a:ea typeface="Yu Gothic"/>
                <a:cs typeface="Yu Gothic"/>
              </a:rPr>
              <a:t>各事業体の経営層（都市交通・不動産・エンタメ 等）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3615690" y="6565900"/>
            <a:ext cx="464820" cy="158750"/>
          </a:xfrm>
          <a:prstGeom prst="rect">
            <a:avLst/>
          </a:prstGeom>
          <a:solidFill>
            <a:srgbClr val="231B1A"/>
          </a:solidFill>
          <a:ln w="7620">
            <a:solidFill>
              <a:srgbClr val="231B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50" b="0" lang="ja-JP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グループ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144010" y="6591300"/>
            <a:ext cx="1905000" cy="1397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0" lang="ja-JP">
                <a:solidFill>
                  <a:srgbClr val="8D7D78"/>
                </a:solidFill>
                <a:latin typeface="Yu Gothic"/>
                <a:ea typeface="Yu Gothic"/>
                <a:cs typeface="Yu Gothic"/>
              </a:rPr>
              <a:t>グループ経営層（HD）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099810" y="6591300"/>
            <a:ext cx="2794000" cy="1397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0" lang="ja-JP">
                <a:solidFill>
                  <a:srgbClr val="8D7D78"/>
                </a:solidFill>
                <a:latin typeface="Yu Gothic"/>
                <a:ea typeface="Yu Gothic"/>
                <a:cs typeface="Yu Gothic"/>
              </a:rPr>
              <a:t>機能名はアプリ画面の表記と一致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経営層の利用シーン</dc:title>
  <dc:subject>AI経営診断：経営計画サイクルにおける利用シーン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ja-JP</dc:language>
</cp:coreProperties>
</file>