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lang="ja-JP">
                <a:solidFill>
                  <a:srgbClr val="9A2F49"/>
                </a:solidFill>
                <a:latin typeface="Meiryo"/>
                <a:ea typeface="Meiryo"/>
                <a:cs typeface="Meiryo"/>
              </a:rPr>
              <a:t>HHグループ AI経営診断アプリ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lang="ja-JP">
                <a:solidFill>
                  <a:srgbClr val="9A2F49"/>
                </a:solidFill>
                <a:latin typeface="Meiryo"/>
                <a:ea typeface="Meiryo"/>
                <a:cs typeface="Meiryo"/>
              </a:rPr>
              <a:t>HOW TO USE ｜ 機能の使い分け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4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 lang="ja-JP">
                <a:solidFill>
                  <a:srgbClr val="2B2320"/>
                </a:solidFill>
                <a:latin typeface="Meiryo"/>
                <a:ea typeface="Meiryo"/>
                <a:cs typeface="Meiryo"/>
              </a:rPr>
              <a:t>6つの使いどころ ― どんな時に、どれを使うか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26464"/>
            <a:ext cx="11274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経営者の3つの問い「気づく → 見極める → 打ち手を選ぶ」に沿って、迷わず使いどころを選べるように整理します。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648456" cy="2089404"/>
          </a:xfrm>
          <a:prstGeom prst="roundRect">
            <a:avLst>
              <a:gd name="adj" fmla="val 5500"/>
            </a:avLst>
          </a:prstGeom>
          <a:solidFill>
            <a:srgbClr val="EAF1FC"/>
          </a:solidFill>
          <a:ln w="9525">
            <a:solidFill>
              <a:srgbClr val="E1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37160" tIns="109728" bIns="36576"/>
          <a:lstStyle/>
          <a:p>
            <a:pPr algn="l"/>
            <a:r>
              <a:rPr sz="1300" b="1" i="0" lang="ja-JP">
                <a:solidFill>
                  <a:srgbClr val="3F6FD0"/>
                </a:solidFill>
                <a:latin typeface="Meiryo"/>
                <a:ea typeface="Meiryo"/>
                <a:cs typeface="Meiryo"/>
              </a:rPr>
              <a:t>⓪ </a:t>
            </a:r>
            <a:r>
              <a:rPr sz="1300" b="1" i="0" lang="ja-JP">
                <a:solidFill>
                  <a:srgbClr val="2B2320"/>
                </a:solidFill>
                <a:latin typeface="Meiryo"/>
                <a:ea typeface="Meiryo"/>
                <a:cs typeface="Meiryo"/>
              </a:rPr>
              <a:t>常時センシング</a:t>
            </a:r>
          </a:p>
          <a:p>
            <a:pPr algn="l">
              <a:spcBef>
                <a:spcPts val="200"/>
              </a:spcBef>
            </a:pPr>
            <a:r>
              <a:rPr sz="900" b="1" i="0" lang="ja-JP">
                <a:solidFill>
                  <a:srgbClr val="3F6FD0"/>
                </a:solidFill>
                <a:latin typeface="Meiryo"/>
                <a:ea typeface="Meiryo"/>
                <a:cs typeface="Meiryo"/>
              </a:rPr>
              <a:t>気づく</a:t>
            </a:r>
          </a:p>
          <a:p>
            <a:pPr algn="l">
              <a:spcBef>
                <a:spcPts val="500"/>
              </a:spcBef>
            </a:pPr>
            <a:r>
              <a:rPr sz="750" b="1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こんな時に使う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95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・為替・金利・電力・人流など外部環境の変化に気づきたい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95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・計画前提と実勢のズレ・対応が必要な兆候を早期に察知したい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850" b="1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できること：</a:t>
            </a:r>
            <a:r>
              <a:rPr sz="85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公開データ＋6事業KPIを横断監視／スマート分析で先読み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442716"/>
            <a:ext cx="33558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アウトプット</a:t>
            </a:r>
          </a:p>
          <a:p>
            <a:pPr algn="l">
              <a:spcBef>
                <a:spcPts val="100"/>
              </a:spcBef>
            </a:pPr>
            <a:r>
              <a:rPr sz="950" b="1" i="0" lang="ja-JP">
                <a:solidFill>
                  <a:srgbClr val="2B2320"/>
                </a:solidFill>
                <a:latin typeface="Meiryo"/>
                <a:ea typeface="Meiryo"/>
                <a:cs typeface="Meiryo"/>
              </a:rPr>
              <a:t>ダッシュボード・アラーム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1828800"/>
            <a:ext cx="3648456" cy="2089404"/>
          </a:xfrm>
          <a:prstGeom prst="roundRect">
            <a:avLst>
              <a:gd name="adj" fmla="val 5500"/>
            </a:avLst>
          </a:prstGeom>
          <a:solidFill>
            <a:srgbClr val="F6E9ED"/>
          </a:solidFill>
          <a:ln w="9525">
            <a:solidFill>
              <a:srgbClr val="E1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37160" tIns="109728" bIns="36576"/>
          <a:lstStyle/>
          <a:p>
            <a:pPr algn="l"/>
            <a:r>
              <a:rPr sz="1300" b="1" i="0" lang="ja-JP">
                <a:solidFill>
                  <a:srgbClr val="6F1D32"/>
                </a:solidFill>
                <a:latin typeface="Meiryo"/>
                <a:ea typeface="Meiryo"/>
                <a:cs typeface="Meiryo"/>
              </a:rPr>
              <a:t>① </a:t>
            </a:r>
            <a:r>
              <a:rPr sz="1300" b="1" i="0" lang="ja-JP">
                <a:solidFill>
                  <a:srgbClr val="2B2320"/>
                </a:solidFill>
                <a:latin typeface="Meiryo"/>
                <a:ea typeface="Meiryo"/>
                <a:cs typeface="Meiryo"/>
              </a:rPr>
              <a:t>定期計画診断</a:t>
            </a:r>
          </a:p>
          <a:p>
            <a:pPr algn="l">
              <a:spcBef>
                <a:spcPts val="200"/>
              </a:spcBef>
            </a:pPr>
            <a:r>
              <a:rPr sz="900" b="1" i="0" lang="ja-JP">
                <a:solidFill>
                  <a:srgbClr val="6F1D32"/>
                </a:solidFill>
                <a:latin typeface="Meiryo"/>
                <a:ea typeface="Meiryo"/>
                <a:cs typeface="Meiryo"/>
              </a:rPr>
              <a:t>気づく・見極める・打ち手</a:t>
            </a:r>
          </a:p>
          <a:p>
            <a:pPr algn="l">
              <a:spcBef>
                <a:spcPts val="500"/>
              </a:spcBef>
            </a:pPr>
            <a:r>
              <a:rPr sz="750" b="1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こんな時に使う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95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・事業計画・財報を定期的にレビューしたい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95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・前提の妥当性・過去計画との整合を精査し、リスクと提言をまとめたい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850" b="1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できること：</a:t>
            </a:r>
            <a:r>
              <a:rPr sz="85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計画書をアップロード→前提乖離・差分・リスク・提言を診断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696" y="3442716"/>
            <a:ext cx="33558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アウトプット</a:t>
            </a:r>
          </a:p>
          <a:p>
            <a:pPr algn="l">
              <a:spcBef>
                <a:spcPts val="100"/>
              </a:spcBef>
            </a:pPr>
            <a:r>
              <a:rPr sz="950" b="1" i="0" lang="ja-JP">
                <a:solidFill>
                  <a:srgbClr val="2B2320"/>
                </a:solidFill>
                <a:latin typeface="Meiryo"/>
                <a:ea typeface="Meiryo"/>
                <a:cs typeface="Meiryo"/>
              </a:rPr>
              <a:t>定期診断レポート（Word）＋根拠Q&amp;A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828800"/>
            <a:ext cx="3648456" cy="2089404"/>
          </a:xfrm>
          <a:prstGeom prst="roundRect">
            <a:avLst>
              <a:gd name="adj" fmla="val 5500"/>
            </a:avLst>
          </a:prstGeom>
          <a:solidFill>
            <a:srgbClr val="FBF2DE"/>
          </a:solidFill>
          <a:ln w="9525">
            <a:solidFill>
              <a:srgbClr val="E1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37160" tIns="109728" bIns="36576"/>
          <a:lstStyle/>
          <a:p>
            <a:pPr algn="l"/>
            <a:r>
              <a:rPr sz="1300" b="1" i="0" lang="ja-JP">
                <a:solidFill>
                  <a:srgbClr val="A9740F"/>
                </a:solidFill>
                <a:latin typeface="Meiryo"/>
                <a:ea typeface="Meiryo"/>
                <a:cs typeface="Meiryo"/>
              </a:rPr>
              <a:t>② </a:t>
            </a:r>
            <a:r>
              <a:rPr sz="1300" b="1" i="0" lang="ja-JP">
                <a:solidFill>
                  <a:srgbClr val="2B2320"/>
                </a:solidFill>
                <a:latin typeface="Meiryo"/>
                <a:ea typeface="Meiryo"/>
                <a:cs typeface="Meiryo"/>
              </a:rPr>
              <a:t>自由質問</a:t>
            </a:r>
          </a:p>
          <a:p>
            <a:pPr algn="l">
              <a:spcBef>
                <a:spcPts val="100"/>
              </a:spcBef>
            </a:pPr>
            <a:r>
              <a:rPr sz="750" b="1" i="0" lang="ja-JP">
                <a:solidFill>
                  <a:srgbClr val="A9740F"/>
                </a:solidFill>
                <a:latin typeface="Meiryo"/>
                <a:ea typeface="Meiryo"/>
                <a:cs typeface="Meiryo"/>
              </a:rPr>
              <a:t>壁打ちサポート</a:t>
            </a:r>
          </a:p>
          <a:p>
            <a:pPr algn="l"/>
            <a:r>
              <a:rPr sz="900" b="1" i="0" lang="ja-JP">
                <a:solidFill>
                  <a:srgbClr val="A9740F"/>
                </a:solidFill>
                <a:latin typeface="Meiryo"/>
                <a:ea typeface="Meiryo"/>
                <a:cs typeface="Meiryo"/>
              </a:rPr>
              <a:t>見極める</a:t>
            </a:r>
          </a:p>
          <a:p>
            <a:pPr algn="l">
              <a:spcBef>
                <a:spcPts val="500"/>
              </a:spcBef>
            </a:pPr>
            <a:r>
              <a:rPr sz="750" b="1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こんな時に使う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95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・疑問・論点を素早く確認したい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95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・結論・根拠・留意点を整理したい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850" b="1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できること：</a:t>
            </a:r>
            <a:r>
              <a:rPr sz="85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結論先行で回答／社内情報・ウェブ検索を切替・資料添付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38744" y="3442716"/>
            <a:ext cx="33558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アウトプット</a:t>
            </a:r>
          </a:p>
          <a:p>
            <a:pPr algn="l">
              <a:spcBef>
                <a:spcPts val="100"/>
              </a:spcBef>
            </a:pPr>
            <a:r>
              <a:rPr sz="950" b="1" i="0" lang="ja-JP">
                <a:solidFill>
                  <a:srgbClr val="2B2320"/>
                </a:solidFill>
                <a:latin typeface="Meiryo"/>
                <a:ea typeface="Meiryo"/>
                <a:cs typeface="Meiryo"/>
              </a:rPr>
              <a:t>結論・根拠・留意点・次の確認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82796"/>
            <a:ext cx="3648456" cy="2089404"/>
          </a:xfrm>
          <a:prstGeom prst="roundRect">
            <a:avLst>
              <a:gd name="adj" fmla="val 5500"/>
            </a:avLst>
          </a:prstGeom>
          <a:solidFill>
            <a:srgbClr val="FBF2DE"/>
          </a:solidFill>
          <a:ln w="9525">
            <a:solidFill>
              <a:srgbClr val="E1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37160" tIns="109728" bIns="36576"/>
          <a:lstStyle/>
          <a:p>
            <a:pPr algn="l"/>
            <a:r>
              <a:rPr sz="1300" b="1" i="0" lang="ja-JP">
                <a:solidFill>
                  <a:srgbClr val="A9740F"/>
                </a:solidFill>
                <a:latin typeface="Meiryo"/>
                <a:ea typeface="Meiryo"/>
                <a:cs typeface="Meiryo"/>
              </a:rPr>
              <a:t>③ </a:t>
            </a:r>
            <a:r>
              <a:rPr sz="1300" b="1" i="0" lang="ja-JP">
                <a:solidFill>
                  <a:srgbClr val="2B2320"/>
                </a:solidFill>
                <a:latin typeface="Meiryo"/>
                <a:ea typeface="Meiryo"/>
                <a:cs typeface="Meiryo"/>
              </a:rPr>
              <a:t>草案レビュー</a:t>
            </a:r>
          </a:p>
          <a:p>
            <a:pPr algn="l">
              <a:spcBef>
                <a:spcPts val="100"/>
              </a:spcBef>
            </a:pPr>
            <a:r>
              <a:rPr sz="750" b="1" i="0" lang="ja-JP">
                <a:solidFill>
                  <a:srgbClr val="A9740F"/>
                </a:solidFill>
                <a:latin typeface="Meiryo"/>
                <a:ea typeface="Meiryo"/>
                <a:cs typeface="Meiryo"/>
              </a:rPr>
              <a:t>壁打ちサポート</a:t>
            </a:r>
          </a:p>
          <a:p>
            <a:pPr algn="l"/>
            <a:r>
              <a:rPr sz="900" b="1" i="0" lang="ja-JP">
                <a:solidFill>
                  <a:srgbClr val="A9740F"/>
                </a:solidFill>
                <a:latin typeface="Meiryo"/>
                <a:ea typeface="Meiryo"/>
                <a:cs typeface="Meiryo"/>
              </a:rPr>
              <a:t>打ち手</a:t>
            </a:r>
          </a:p>
          <a:p>
            <a:pPr algn="l">
              <a:spcBef>
                <a:spcPts val="500"/>
              </a:spcBef>
            </a:pPr>
            <a:r>
              <a:rPr sz="750" b="1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こんな時に使う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95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・計画書・報告書などの草案を作り込みたい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95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・数値根拠・未検討リスクを洗い出したい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850" b="1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できること：</a:t>
            </a:r>
            <a:r>
              <a:rPr sz="85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草案を添付→構成・要点・数値根拠・リスク・修正案を提示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5696712"/>
            <a:ext cx="33558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アウトプット</a:t>
            </a:r>
          </a:p>
          <a:p>
            <a:pPr algn="l">
              <a:spcBef>
                <a:spcPts val="100"/>
              </a:spcBef>
            </a:pPr>
            <a:r>
              <a:rPr sz="950" b="1" i="0" lang="ja-JP">
                <a:solidFill>
                  <a:srgbClr val="2B2320"/>
                </a:solidFill>
                <a:latin typeface="Meiryo"/>
                <a:ea typeface="Meiryo"/>
                <a:cs typeface="Meiryo"/>
              </a:rPr>
              <a:t>総評・優先修正点・修正文案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0248" y="4082796"/>
            <a:ext cx="3648456" cy="2089404"/>
          </a:xfrm>
          <a:prstGeom prst="roundRect">
            <a:avLst>
              <a:gd name="adj" fmla="val 5500"/>
            </a:avLst>
          </a:prstGeom>
          <a:solidFill>
            <a:srgbClr val="FBF2DE"/>
          </a:solidFill>
          <a:ln w="9525">
            <a:solidFill>
              <a:srgbClr val="E1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37160" tIns="109728" bIns="36576"/>
          <a:lstStyle/>
          <a:p>
            <a:pPr algn="l"/>
            <a:r>
              <a:rPr sz="1300" b="1" i="0" lang="ja-JP">
                <a:solidFill>
                  <a:srgbClr val="A9740F"/>
                </a:solidFill>
                <a:latin typeface="Meiryo"/>
                <a:ea typeface="Meiryo"/>
                <a:cs typeface="Meiryo"/>
              </a:rPr>
              <a:t>④ </a:t>
            </a:r>
            <a:r>
              <a:rPr sz="1300" b="1" i="0" lang="ja-JP">
                <a:solidFill>
                  <a:srgbClr val="2B2320"/>
                </a:solidFill>
                <a:latin typeface="Meiryo"/>
                <a:ea typeface="Meiryo"/>
                <a:cs typeface="Meiryo"/>
              </a:rPr>
              <a:t>シナリオ分析</a:t>
            </a:r>
          </a:p>
          <a:p>
            <a:pPr algn="l">
              <a:spcBef>
                <a:spcPts val="100"/>
              </a:spcBef>
            </a:pPr>
            <a:r>
              <a:rPr sz="750" b="1" i="0" lang="ja-JP">
                <a:solidFill>
                  <a:srgbClr val="A9740F"/>
                </a:solidFill>
                <a:latin typeface="Meiryo"/>
                <a:ea typeface="Meiryo"/>
                <a:cs typeface="Meiryo"/>
              </a:rPr>
              <a:t>壁打ちサポート</a:t>
            </a:r>
          </a:p>
          <a:p>
            <a:pPr algn="l"/>
            <a:r>
              <a:rPr sz="900" b="1" i="0" lang="ja-JP">
                <a:solidFill>
                  <a:srgbClr val="A9740F"/>
                </a:solidFill>
                <a:latin typeface="Meiryo"/>
                <a:ea typeface="Meiryo"/>
                <a:cs typeface="Meiryo"/>
              </a:rPr>
              <a:t>見極める・打ち手</a:t>
            </a:r>
          </a:p>
          <a:p>
            <a:pPr algn="l">
              <a:spcBef>
                <a:spcPts val="500"/>
              </a:spcBef>
            </a:pPr>
            <a:r>
              <a:rPr sz="750" b="1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こんな時に使う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95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・需要変動など不確実性の影響を見極めたい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95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・基準／上振れ／下振れを比較したい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850" b="1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できること：</a:t>
            </a:r>
            <a:r>
              <a:rPr sz="85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6事業への一次・二次影響／先行指標／対応トリガーを分析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5696712"/>
            <a:ext cx="33558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アウトプット</a:t>
            </a:r>
          </a:p>
          <a:p>
            <a:pPr algn="l">
              <a:spcBef>
                <a:spcPts val="100"/>
              </a:spcBef>
            </a:pPr>
            <a:r>
              <a:rPr sz="950" b="1" i="0" lang="ja-JP">
                <a:solidFill>
                  <a:srgbClr val="2B2320"/>
                </a:solidFill>
                <a:latin typeface="Meiryo"/>
                <a:ea typeface="Meiryo"/>
                <a:cs typeface="Meiryo"/>
              </a:rPr>
              <a:t>シナリオ比較・波及・対応トリガー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4082796"/>
            <a:ext cx="3648456" cy="2089404"/>
          </a:xfrm>
          <a:prstGeom prst="roundRect">
            <a:avLst>
              <a:gd name="adj" fmla="val 5500"/>
            </a:avLst>
          </a:prstGeom>
          <a:solidFill>
            <a:srgbClr val="E9F3EE"/>
          </a:solidFill>
          <a:ln w="9525">
            <a:solidFill>
              <a:srgbClr val="E1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37160" tIns="109728" bIns="36576"/>
          <a:lstStyle/>
          <a:p>
            <a:pPr algn="l"/>
            <a:r>
              <a:rPr sz="1300" b="1" i="0" lang="ja-JP">
                <a:solidFill>
                  <a:srgbClr val="2E7D5B"/>
                </a:solidFill>
                <a:latin typeface="Meiryo"/>
                <a:ea typeface="Meiryo"/>
                <a:cs typeface="Meiryo"/>
              </a:rPr>
              <a:t>⑤ </a:t>
            </a:r>
            <a:r>
              <a:rPr sz="1300" b="1" i="0" lang="ja-JP">
                <a:solidFill>
                  <a:srgbClr val="2B2320"/>
                </a:solidFill>
                <a:latin typeface="Meiryo"/>
                <a:ea typeface="Meiryo"/>
                <a:cs typeface="Meiryo"/>
              </a:rPr>
              <a:t>事例ナレッジ基盤</a:t>
            </a:r>
          </a:p>
          <a:p>
            <a:pPr algn="l">
              <a:spcBef>
                <a:spcPts val="200"/>
              </a:spcBef>
            </a:pPr>
            <a:r>
              <a:rPr sz="900" b="1" i="0" lang="ja-JP">
                <a:solidFill>
                  <a:srgbClr val="2E7D5B"/>
                </a:solidFill>
                <a:latin typeface="Meiryo"/>
                <a:ea typeface="Meiryo"/>
                <a:cs typeface="Meiryo"/>
              </a:rPr>
              <a:t>見極める</a:t>
            </a:r>
          </a:p>
          <a:p>
            <a:pPr algn="l">
              <a:spcBef>
                <a:spcPts val="500"/>
              </a:spcBef>
            </a:pPr>
            <a:r>
              <a:rPr sz="750" b="1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こんな時に使う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95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・過去に似た局面がなかったか知りたい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95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・他社事例・開示資料から示唆や診断の根拠事例を得たい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850" b="1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できること：</a:t>
            </a:r>
            <a:r>
              <a:rPr sz="85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外部/内部/すべてを類似度検索（RAG）／内部資料の登録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5696712"/>
            <a:ext cx="33558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アウトプット</a:t>
            </a:r>
          </a:p>
          <a:p>
            <a:pPr algn="l">
              <a:spcBef>
                <a:spcPts val="100"/>
              </a:spcBef>
            </a:pPr>
            <a:r>
              <a:rPr sz="950" b="1" i="0" lang="ja-JP">
                <a:solidFill>
                  <a:srgbClr val="2B2320"/>
                </a:solidFill>
                <a:latin typeface="Meiryo"/>
                <a:ea typeface="Meiryo"/>
                <a:cs typeface="Meiryo"/>
              </a:rPr>
              <a:t>類似事例リスト＋詳細・出典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291072"/>
            <a:ext cx="11274552" cy="420624"/>
          </a:xfrm>
          <a:prstGeom prst="roundRect">
            <a:avLst>
              <a:gd name="adj" fmla="val 5000"/>
            </a:avLst>
          </a:prstGeom>
          <a:solidFill>
            <a:srgbClr val="FAF6F2"/>
          </a:solidFill>
          <a:ln w="9525">
            <a:solidFill>
              <a:srgbClr val="E1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5448" rIns="137160" tIns="109728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291072"/>
            <a:ext cx="1090879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lang="ja-JP">
                <a:solidFill>
                  <a:srgbClr val="6F1D32"/>
                </a:solidFill>
                <a:latin typeface="Meiryo"/>
                <a:ea typeface="Meiryo"/>
                <a:cs typeface="Meiryo"/>
              </a:rPr>
              <a:t>使い分けの原則   </a:t>
            </a:r>
            <a:r>
              <a:rPr sz="95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⓪常時センシング＝</a:t>
            </a:r>
            <a:r>
              <a:rPr sz="950" b="1" i="0" lang="ja-JP">
                <a:solidFill>
                  <a:srgbClr val="3F6FD0"/>
                </a:solidFill>
                <a:latin typeface="Meiryo"/>
                <a:ea typeface="Meiryo"/>
                <a:cs typeface="Meiryo"/>
              </a:rPr>
              <a:t>常時「気づく」</a:t>
            </a:r>
            <a:r>
              <a:rPr sz="95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 ／ ①定期計画診断＝</a:t>
            </a:r>
            <a:r>
              <a:rPr sz="950" b="1" i="0" lang="ja-JP">
                <a:solidFill>
                  <a:srgbClr val="6F1D32"/>
                </a:solidFill>
                <a:latin typeface="Meiryo"/>
                <a:ea typeface="Meiryo"/>
                <a:cs typeface="Meiryo"/>
              </a:rPr>
              <a:t>計画を精査する</a:t>
            </a:r>
            <a:r>
              <a:rPr sz="95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 ／ ②③④壁打ちサポート＝</a:t>
            </a:r>
            <a:r>
              <a:rPr sz="950" b="1" i="0" lang="ja-JP">
                <a:solidFill>
                  <a:srgbClr val="A9740F"/>
                </a:solidFill>
                <a:latin typeface="Meiryo"/>
                <a:ea typeface="Meiryo"/>
                <a:cs typeface="Meiryo"/>
              </a:rPr>
              <a:t>対話で「考える」</a:t>
            </a:r>
            <a:r>
              <a:rPr sz="95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 ／ ⑤事例ナレッジ基盤＝</a:t>
            </a:r>
            <a:r>
              <a:rPr sz="950" b="1" i="0" lang="ja-JP">
                <a:solidFill>
                  <a:srgbClr val="2E7D5B"/>
                </a:solidFill>
                <a:latin typeface="Meiryo"/>
                <a:ea typeface="Meiryo"/>
                <a:cs typeface="Meiryo"/>
              </a:rPr>
              <a:t>過去に「学ぶ」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6547104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スライド 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lang="ja-JP">
                <a:solidFill>
                  <a:srgbClr val="9A2F49"/>
                </a:solidFill>
                <a:latin typeface="Meiryo"/>
                <a:ea typeface="Meiryo"/>
                <a:cs typeface="Meiryo"/>
              </a:rPr>
              <a:t>HHグループ AI経営診断アプリ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lang="ja-JP">
                <a:solidFill>
                  <a:srgbClr val="9A2F49"/>
                </a:solidFill>
                <a:latin typeface="Meiryo"/>
                <a:ea typeface="Meiryo"/>
                <a:cs typeface="Meiryo"/>
              </a:rPr>
              <a:t>NEW ｜ センシング内・定型スマート分析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45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 lang="ja-JP">
                <a:solidFill>
                  <a:srgbClr val="2B2320"/>
                </a:solidFill>
                <a:latin typeface="Meiryo"/>
                <a:ea typeface="Meiryo"/>
                <a:cs typeface="Meiryo"/>
              </a:rPr>
              <a:t>定型スマート分析 ― HHID×6事業で拓く新機能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26464"/>
            <a:ext cx="11274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共通ID（HHID）で「一人の顧客」をグループ6事業横断で捉え直し、単体では見えない価値・機会・リスクをAIのSo-what解釈まで提示します。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10512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6E9ED"/>
          </a:solidFill>
          <a:ln w="9525">
            <a:solidFill>
              <a:srgbClr val="E1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737360" tIns="109728" bIns="36576"/>
          <a:lstStyle/>
          <a:p>
            <a:pPr algn="l">
              <a:lnSpc>
                <a:spcPct val="115000"/>
              </a:lnSpc>
            </a:pPr>
            <a:r>
              <a:rPr sz="1200" b="1" i="0" lang="ja-JP">
                <a:solidFill>
                  <a:srgbClr val="6F1D32"/>
                </a:solidFill>
                <a:latin typeface="Meiryo"/>
                <a:ea typeface="Meiryo"/>
                <a:cs typeface="Meiryo"/>
              </a:rPr>
              <a:t>ねらい：</a:t>
            </a:r>
            <a:r>
              <a:rPr sz="120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分析結果を見せるだけでなく、</a:t>
            </a:r>
            <a:r>
              <a:rPr sz="1200" b="1" i="0" lang="ja-JP">
                <a:solidFill>
                  <a:srgbClr val="6F1D32"/>
                </a:solidFill>
                <a:latin typeface="Meiryo"/>
                <a:ea typeface="Meiryo"/>
                <a:cs typeface="Meiryo"/>
              </a:rPr>
              <a:t>「だから何を打つか（So-what）」</a:t>
            </a:r>
            <a:r>
              <a:rPr sz="120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まで踏み込む。顧客かたまりの解読・潜在ニーズ・リスク／チャンスの抽出まで自動化する。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938528"/>
            <a:ext cx="1417320" cy="420624"/>
          </a:xfrm>
          <a:prstGeom prst="roundRect">
            <a:avLst>
              <a:gd name="adj" fmla="val 12000"/>
            </a:avLst>
          </a:prstGeom>
          <a:solidFill>
            <a:srgbClr val="FBF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 lang="ja-JP">
                <a:solidFill>
                  <a:srgbClr val="A9740F"/>
                </a:solidFill>
                <a:latin typeface="Meiryo"/>
                <a:ea typeface="Meiryo"/>
                <a:cs typeface="Meiryo"/>
              </a:rPr>
              <a:t>現状はPoC用ダミー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70048"/>
            <a:ext cx="2240280" cy="384048"/>
          </a:xfrm>
          <a:prstGeom prst="rect">
            <a:avLst/>
          </a:prstGeom>
          <a:solidFill>
            <a:srgbClr val="4A1220"/>
          </a:solidFill>
          <a:ln w="6350">
            <a:solidFill>
              <a:srgbClr val="4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tIns="73152"/>
          <a:lstStyle/>
          <a:p>
            <a:pPr algn="l"/>
            <a:r>
              <a:rPr sz="1100" b="1" i="0" lang="ja-JP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分析機能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2670048"/>
            <a:ext cx="3154680" cy="384048"/>
          </a:xfrm>
          <a:prstGeom prst="rect">
            <a:avLst/>
          </a:prstGeom>
          <a:solidFill>
            <a:srgbClr val="4A1220"/>
          </a:solidFill>
          <a:ln w="6350">
            <a:solidFill>
              <a:srgbClr val="4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tIns="73152"/>
          <a:lstStyle/>
          <a:p>
            <a:pPr algn="l"/>
            <a:r>
              <a:rPr sz="1100" b="1" i="0" lang="ja-JP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何をする（機能の説明）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2670048"/>
            <a:ext cx="2880360" cy="384048"/>
          </a:xfrm>
          <a:prstGeom prst="rect">
            <a:avLst/>
          </a:prstGeom>
          <a:solidFill>
            <a:srgbClr val="4A1220"/>
          </a:solidFill>
          <a:ln w="6350">
            <a:solidFill>
              <a:srgbClr val="4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tIns="73152"/>
          <a:lstStyle/>
          <a:p>
            <a:pPr algn="l"/>
            <a:r>
              <a:rPr sz="1100" b="1" i="0" lang="ja-JP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期待されるビジネスインパクト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32520" y="2670048"/>
            <a:ext cx="2999232" cy="384048"/>
          </a:xfrm>
          <a:prstGeom prst="rect">
            <a:avLst/>
          </a:prstGeom>
          <a:solidFill>
            <a:srgbClr val="4A1220"/>
          </a:solidFill>
          <a:ln w="6350">
            <a:solidFill>
              <a:srgbClr val="4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tIns="73152"/>
          <a:lstStyle/>
          <a:p>
            <a:pPr algn="l"/>
            <a:r>
              <a:rPr sz="1100" b="1" i="0" lang="ja-JP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必要とするデータ（現状は未整備）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54096"/>
            <a:ext cx="2240280" cy="758952"/>
          </a:xfrm>
          <a:prstGeom prst="rect">
            <a:avLst/>
          </a:prstGeom>
          <a:solidFill>
            <a:srgbClr val="FAF6F2"/>
          </a:solidFill>
          <a:ln w="6350">
            <a:solidFill>
              <a:srgbClr val="E1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tIns="73152"/>
          <a:lstStyle/>
          <a:p>
            <a:pPr algn="l">
              <a:lnSpc>
                <a:spcPct val="100000"/>
              </a:lnSpc>
            </a:pPr>
            <a:r>
              <a:rPr sz="1200" b="1" i="0" lang="ja-JP">
                <a:solidFill>
                  <a:srgbClr val="6F1D32"/>
                </a:solidFill>
                <a:latin typeface="Meiryo"/>
                <a:ea typeface="Meiryo"/>
                <a:cs typeface="Meiryo"/>
              </a:rPr>
              <a:t>01  </a:t>
            </a:r>
            <a:r>
              <a:rPr sz="1200" b="1" i="0" lang="ja-JP">
                <a:solidFill>
                  <a:srgbClr val="2B2320"/>
                </a:solidFill>
                <a:latin typeface="Meiryo"/>
                <a:ea typeface="Meiryo"/>
                <a:cs typeface="Meiryo"/>
              </a:rPr>
              <a:t>クロスユース分析</a:t>
            </a:r>
          </a:p>
          <a:p>
            <a:pPr algn="l">
              <a:spcBef>
                <a:spcPts val="200"/>
              </a:spcBef>
            </a:pPr>
            <a:r>
              <a:rPr sz="900" b="0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深掘り｜顧客かたまり解読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3054096"/>
            <a:ext cx="315468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1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tIns="73152"/>
          <a:lstStyle/>
          <a:p>
            <a:pPr algn="l">
              <a:lnSpc>
                <a:spcPct val="108000"/>
              </a:lnSpc>
            </a:pPr>
            <a:r>
              <a:rPr sz="100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同一HHIDでの事業併用（クロスユース）を可視化し、顧客クラスタをAIがプロファイリング。潜在ニーズ・機会を解読。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3054096"/>
            <a:ext cx="288036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1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tIns="73152"/>
          <a:lstStyle/>
          <a:p>
            <a:pPr algn="l">
              <a:lnSpc>
                <a:spcPct val="108000"/>
              </a:lnSpc>
            </a:pPr>
            <a:r>
              <a:rPr sz="100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クロスセルの当たり所特定、</a:t>
            </a:r>
            <a:r>
              <a:rPr sz="1000" b="1" i="0" lang="ja-JP">
                <a:solidFill>
                  <a:srgbClr val="2E7D5B"/>
                </a:solidFill>
                <a:latin typeface="Meiryo"/>
                <a:ea typeface="Meiryo"/>
                <a:cs typeface="Meiryo"/>
              </a:rPr>
              <a:t>解約率の低下</a:t>
            </a:r>
            <a:r>
              <a:rPr sz="100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、ID内シェア（ウォレットシェア）の拡大。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3054096"/>
            <a:ext cx="2999232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1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tIns="73152"/>
          <a:lstStyle/>
          <a:p>
            <a:pPr algn="l">
              <a:lnSpc>
                <a:spcPct val="108000"/>
              </a:lnSpc>
            </a:pPr>
            <a:r>
              <a:rPr sz="1000" b="1" i="0" lang="ja-JP">
                <a:solidFill>
                  <a:srgbClr val="6F1D32"/>
                </a:solidFill>
                <a:latin typeface="Meiryo"/>
                <a:ea typeface="Meiryo"/>
                <a:cs typeface="Meiryo"/>
              </a:rPr>
              <a:t>6事業横断で名寄せ済みの利用ログ</a:t>
            </a:r>
            <a:r>
              <a:rPr sz="100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、統一会員・ポイントデータ、同意管理基盤。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13048"/>
            <a:ext cx="2240280" cy="758952"/>
          </a:xfrm>
          <a:prstGeom prst="rect">
            <a:avLst/>
          </a:prstGeom>
          <a:solidFill>
            <a:srgbClr val="FAF6F2"/>
          </a:solidFill>
          <a:ln w="6350">
            <a:solidFill>
              <a:srgbClr val="E1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tIns="73152"/>
          <a:lstStyle/>
          <a:p>
            <a:pPr algn="l">
              <a:lnSpc>
                <a:spcPct val="100000"/>
              </a:lnSpc>
            </a:pPr>
            <a:r>
              <a:rPr sz="1200" b="1" i="0" lang="ja-JP">
                <a:solidFill>
                  <a:srgbClr val="6F1D32"/>
                </a:solidFill>
                <a:latin typeface="Meiryo"/>
                <a:ea typeface="Meiryo"/>
                <a:cs typeface="Meiryo"/>
              </a:rPr>
              <a:t>02  </a:t>
            </a:r>
            <a:r>
              <a:rPr sz="1200" b="1" i="0" lang="ja-JP">
                <a:solidFill>
                  <a:srgbClr val="2B2320"/>
                </a:solidFill>
                <a:latin typeface="Meiryo"/>
                <a:ea typeface="Meiryo"/>
                <a:cs typeface="Meiryo"/>
              </a:rPr>
              <a:t>口コミ分析（SNS）</a:t>
            </a:r>
          </a:p>
          <a:p>
            <a:pPr algn="l">
              <a:spcBef>
                <a:spcPts val="200"/>
              </a:spcBef>
            </a:pPr>
            <a:r>
              <a:rPr sz="900" b="0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事業体別｜AI解読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3813048"/>
            <a:ext cx="315468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1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tIns="73152"/>
          <a:lstStyle/>
          <a:p>
            <a:pPr algn="l">
              <a:lnSpc>
                <a:spcPct val="108000"/>
              </a:lnSpc>
            </a:pPr>
            <a:r>
              <a:rPr sz="100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X/Twitter等の自社サービス言及を事業体別にAIが解読し、感情・話題・潜在リスク／チャンスを抽出。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3813048"/>
            <a:ext cx="288036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1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tIns="73152"/>
          <a:lstStyle/>
          <a:p>
            <a:pPr algn="l">
              <a:lnSpc>
                <a:spcPct val="108000"/>
              </a:lnSpc>
            </a:pPr>
            <a:r>
              <a:rPr sz="100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不満の</a:t>
            </a:r>
            <a:r>
              <a:rPr sz="1000" b="1" i="0" lang="ja-JP">
                <a:solidFill>
                  <a:srgbClr val="2E7D5B"/>
                </a:solidFill>
                <a:latin typeface="Meiryo"/>
                <a:ea typeface="Meiryo"/>
                <a:cs typeface="Meiryo"/>
              </a:rPr>
              <a:t>早期是正</a:t>
            </a:r>
            <a:r>
              <a:rPr sz="100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（遅延・運賃・UX）、好評の販促転用、レピュテーションリスク低減。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3813048"/>
            <a:ext cx="2999232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1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tIns="73152"/>
          <a:lstStyle/>
          <a:p>
            <a:pPr algn="l">
              <a:lnSpc>
                <a:spcPct val="108000"/>
              </a:lnSpc>
            </a:pPr>
            <a:r>
              <a:rPr sz="1000" b="1" i="0" lang="ja-JP">
                <a:solidFill>
                  <a:srgbClr val="6F1D32"/>
                </a:solidFill>
                <a:latin typeface="Meiryo"/>
                <a:ea typeface="Meiryo"/>
                <a:cs typeface="Meiryo"/>
              </a:rPr>
              <a:t>SNS API（X等）の言及データ</a:t>
            </a:r>
            <a:r>
              <a:rPr sz="100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、ブランド／サービス辞書、日本語感情分析モデル。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72000"/>
            <a:ext cx="2240280" cy="758952"/>
          </a:xfrm>
          <a:prstGeom prst="rect">
            <a:avLst/>
          </a:prstGeom>
          <a:solidFill>
            <a:srgbClr val="FAF6F2"/>
          </a:solidFill>
          <a:ln w="6350">
            <a:solidFill>
              <a:srgbClr val="E1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tIns="73152"/>
          <a:lstStyle/>
          <a:p>
            <a:pPr algn="l">
              <a:lnSpc>
                <a:spcPct val="100000"/>
              </a:lnSpc>
            </a:pPr>
            <a:r>
              <a:rPr sz="1200" b="1" i="0" lang="ja-JP">
                <a:solidFill>
                  <a:srgbClr val="6F1D32"/>
                </a:solidFill>
                <a:latin typeface="Meiryo"/>
                <a:ea typeface="Meiryo"/>
                <a:cs typeface="Meiryo"/>
              </a:rPr>
              <a:t>03  </a:t>
            </a:r>
            <a:r>
              <a:rPr sz="1200" b="1" i="0" lang="ja-JP">
                <a:solidFill>
                  <a:srgbClr val="2B2320"/>
                </a:solidFill>
                <a:latin typeface="Meiryo"/>
                <a:ea typeface="Meiryo"/>
                <a:cs typeface="Meiryo"/>
              </a:rPr>
              <a:t>トレンド分析（Web検索）</a:t>
            </a:r>
          </a:p>
          <a:p>
            <a:pPr algn="l">
              <a:spcBef>
                <a:spcPts val="200"/>
              </a:spcBef>
            </a:pPr>
            <a:r>
              <a:rPr sz="900" b="0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先読み｜AI解読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7480" y="4572000"/>
            <a:ext cx="315468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1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tIns="73152"/>
          <a:lstStyle/>
          <a:p>
            <a:pPr algn="l">
              <a:lnSpc>
                <a:spcPct val="108000"/>
              </a:lnSpc>
            </a:pPr>
            <a:r>
              <a:rPr sz="100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Googleトレンド等の検索関心の推移をAIが解読し、需要シグナルとリスクを先読み。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4572000"/>
            <a:ext cx="288036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1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tIns="73152"/>
          <a:lstStyle/>
          <a:p>
            <a:pPr algn="l">
              <a:lnSpc>
                <a:spcPct val="108000"/>
              </a:lnSpc>
            </a:pPr>
            <a:r>
              <a:rPr sz="100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需要の</a:t>
            </a:r>
            <a:r>
              <a:rPr sz="1000" b="1" i="0" lang="ja-JP">
                <a:solidFill>
                  <a:srgbClr val="2E7D5B"/>
                </a:solidFill>
                <a:latin typeface="Meiryo"/>
                <a:ea typeface="Meiryo"/>
                <a:cs typeface="Meiryo"/>
              </a:rPr>
              <a:t>先回り</a:t>
            </a:r>
            <a:r>
              <a:rPr sz="100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（宿泊・観戦・不動産）、在庫／企画の前倒し、裁量支出減の早期察知。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4572000"/>
            <a:ext cx="2999232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1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tIns="73152"/>
          <a:lstStyle/>
          <a:p>
            <a:pPr algn="l">
              <a:lnSpc>
                <a:spcPct val="108000"/>
              </a:lnSpc>
            </a:pPr>
            <a:r>
              <a:rPr sz="1000" b="1" i="0" lang="ja-JP">
                <a:solidFill>
                  <a:srgbClr val="6F1D32"/>
                </a:solidFill>
                <a:latin typeface="Meiryo"/>
                <a:ea typeface="Meiryo"/>
                <a:cs typeface="Meiryo"/>
              </a:rPr>
              <a:t>検索トレンドAPI</a:t>
            </a:r>
            <a:r>
              <a:rPr sz="100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、キーワード設計、自社需要（売上・予約）との相関モデル。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30952"/>
            <a:ext cx="2240280" cy="758952"/>
          </a:xfrm>
          <a:prstGeom prst="rect">
            <a:avLst/>
          </a:prstGeom>
          <a:solidFill>
            <a:srgbClr val="FAF6F2"/>
          </a:solidFill>
          <a:ln w="6350">
            <a:solidFill>
              <a:srgbClr val="E1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tIns="73152"/>
          <a:lstStyle/>
          <a:p>
            <a:pPr algn="l">
              <a:lnSpc>
                <a:spcPct val="100000"/>
              </a:lnSpc>
            </a:pPr>
            <a:r>
              <a:rPr sz="1200" b="1" i="0" lang="ja-JP">
                <a:solidFill>
                  <a:srgbClr val="6F1D32"/>
                </a:solidFill>
                <a:latin typeface="Meiryo"/>
                <a:ea typeface="Meiryo"/>
                <a:cs typeface="Meiryo"/>
              </a:rPr>
              <a:t>＋  </a:t>
            </a:r>
            <a:r>
              <a:rPr sz="1200" b="1" i="0" lang="ja-JP">
                <a:solidFill>
                  <a:srgbClr val="2B2320"/>
                </a:solidFill>
                <a:latin typeface="Meiryo"/>
                <a:ea typeface="Meiryo"/>
                <a:cs typeface="Meiryo"/>
              </a:rPr>
              <a:t>追加分析ロードマップ</a:t>
            </a:r>
          </a:p>
          <a:p>
            <a:pPr algn="l">
              <a:spcBef>
                <a:spcPts val="200"/>
              </a:spcBef>
            </a:pPr>
            <a:r>
              <a:rPr sz="900" b="0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構想中｜順次実装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80" y="5330952"/>
            <a:ext cx="315468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1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tIns="73152"/>
          <a:lstStyle/>
          <a:p>
            <a:pPr algn="l">
              <a:lnSpc>
                <a:spcPct val="108000"/>
              </a:lnSpc>
            </a:pPr>
            <a:r>
              <a:rPr sz="100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グループLTVピラミッド／事業間回遊フロー／次善提案（NBA）／ポートフォリオ分散・レジリエンス／沿線経済圏マップ。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5330952"/>
            <a:ext cx="288036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1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tIns="73152"/>
          <a:lstStyle/>
          <a:p>
            <a:pPr algn="l">
              <a:lnSpc>
                <a:spcPct val="108000"/>
              </a:lnSpc>
            </a:pPr>
            <a:r>
              <a:rPr sz="1000" b="1" i="0" lang="ja-JP">
                <a:solidFill>
                  <a:srgbClr val="2E7D5B"/>
                </a:solidFill>
                <a:latin typeface="Meiryo"/>
                <a:ea typeface="Meiryo"/>
                <a:cs typeface="Meiryo"/>
              </a:rPr>
              <a:t>LTV最大化</a:t>
            </a:r>
            <a:r>
              <a:rPr sz="100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・回遊設計・レジリエンス評価・エリア投資判断へ拡張。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32520" y="5330952"/>
            <a:ext cx="2999232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1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tIns="73152"/>
          <a:lstStyle/>
          <a:p>
            <a:pPr algn="l">
              <a:lnSpc>
                <a:spcPct val="108000"/>
              </a:lnSpc>
            </a:pPr>
            <a:r>
              <a:rPr sz="1000" b="1" i="0" lang="ja-JP">
                <a:solidFill>
                  <a:srgbClr val="6F1D32"/>
                </a:solidFill>
                <a:latin typeface="Meiryo"/>
                <a:ea typeface="Meiryo"/>
                <a:cs typeface="Meiryo"/>
              </a:rPr>
              <a:t>全社DWH連携</a:t>
            </a:r>
            <a:r>
              <a:rPr sz="1000" b="0" i="0" lang="ja-JP">
                <a:solidFill>
                  <a:srgbClr val="5C534E"/>
                </a:solidFill>
                <a:latin typeface="Meiryo"/>
                <a:ea typeface="Meiryo"/>
                <a:cs typeface="Meiryo"/>
              </a:rPr>
              <a:t>、事業別収益の時系列、駅別ジオ・人流データ。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72784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本番化の前提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74519" y="6263640"/>
            <a:ext cx="1792224" cy="329184"/>
          </a:xfrm>
          <a:prstGeom prst="roundRect">
            <a:avLst>
              <a:gd name="adj" fmla="val 14000"/>
            </a:avLst>
          </a:prstGeom>
          <a:solidFill>
            <a:srgbClr val="F6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 lang="ja-JP">
                <a:solidFill>
                  <a:srgbClr val="6F1D32"/>
                </a:solidFill>
                <a:latin typeface="Meiryo"/>
                <a:ea typeface="Meiryo"/>
                <a:cs typeface="Meiryo"/>
              </a:rPr>
              <a:t>HHIDによる名寄せ基盤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85616" y="6263640"/>
            <a:ext cx="1175004" cy="329184"/>
          </a:xfrm>
          <a:prstGeom prst="roundRect">
            <a:avLst>
              <a:gd name="adj" fmla="val 14000"/>
            </a:avLst>
          </a:prstGeom>
          <a:solidFill>
            <a:srgbClr val="F6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 lang="ja-JP">
                <a:solidFill>
                  <a:srgbClr val="6F1D32"/>
                </a:solidFill>
                <a:latin typeface="Meiryo"/>
                <a:ea typeface="Meiryo"/>
                <a:cs typeface="Meiryo"/>
              </a:rPr>
              <a:t>全社DWH連携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79492" y="6263640"/>
            <a:ext cx="1421892" cy="329184"/>
          </a:xfrm>
          <a:prstGeom prst="roundRect">
            <a:avLst>
              <a:gd name="adj" fmla="val 14000"/>
            </a:avLst>
          </a:prstGeom>
          <a:solidFill>
            <a:srgbClr val="F6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 lang="ja-JP">
                <a:solidFill>
                  <a:srgbClr val="6F1D32"/>
                </a:solidFill>
                <a:latin typeface="Meiryo"/>
                <a:ea typeface="Meiryo"/>
                <a:cs typeface="Meiryo"/>
              </a:rPr>
              <a:t>SNS／検索API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0256" y="6263640"/>
            <a:ext cx="1792224" cy="329184"/>
          </a:xfrm>
          <a:prstGeom prst="roundRect">
            <a:avLst>
              <a:gd name="adj" fmla="val 14000"/>
            </a:avLst>
          </a:prstGeom>
          <a:solidFill>
            <a:srgbClr val="F6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 lang="ja-JP">
                <a:solidFill>
                  <a:srgbClr val="6F1D32"/>
                </a:solidFill>
                <a:latin typeface="Meiryo"/>
                <a:ea typeface="Meiryo"/>
                <a:cs typeface="Meiryo"/>
              </a:rPr>
              <a:t>同意管理（プライバシー）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31352" y="6263640"/>
            <a:ext cx="1175004" cy="329184"/>
          </a:xfrm>
          <a:prstGeom prst="roundRect">
            <a:avLst>
              <a:gd name="adj" fmla="val 14000"/>
            </a:avLst>
          </a:prstGeom>
          <a:solidFill>
            <a:srgbClr val="F6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 lang="ja-JP">
                <a:solidFill>
                  <a:srgbClr val="6F1D32"/>
                </a:solidFill>
                <a:latin typeface="Meiryo"/>
                <a:ea typeface="Meiryo"/>
                <a:cs typeface="Meiryo"/>
              </a:rPr>
              <a:t>需要相関モデル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44200" y="6547104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ja-JP">
                <a:solidFill>
                  <a:srgbClr val="8C837D"/>
                </a:solidFill>
                <a:latin typeface="Meiryo"/>
                <a:ea typeface="Meiryo"/>
                <a:cs typeface="Meiryo"/>
              </a:rPr>
              <a:t>スライド 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HHグループ AI経営診断アプリ｜機能整理スライド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ja-JP</dc:language>
</cp:coreProperties>
</file>