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構造マップ ｜ パートナー相談用たたき台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元のコア機能構造を維持しつつ、右に「壁打ちモード」を追加</a:t>
            </a:r>
            <a:endParaRPr lang="ja-JP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EF4E2"/>
          </a:solidFill>
          <a:ln w="12700">
            <a:solidFill>
              <a:srgbClr val="CFE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3268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論点① ｜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診断モード（①②）に、壁打ちモード（対話・探索）を並べて追加するか。</a:t>
            </a:r>
            <a:pPr indent="0" marL="0">
              <a:buNone/>
            </a:pPr>
            <a:r>
              <a:rPr lang="ja-JP" altLang="en-US" sz="10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⓪常時センシングは従来どおり診断モードの外（入力・センシング層）。7/8 FBの対話系ニーズを右の新レーンで受け止める。</a:t>
            </a:r>
            <a:endParaRPr lang="ja-JP" sz="1050" dirty="0"/>
          </a:p>
        </p:txBody>
      </p:sp>
      <p:sp>
        <p:nvSpPr>
          <p:cNvPr id="7" name="Shape 5"/>
          <p:cNvSpPr/>
          <p:nvPr/>
        </p:nvSpPr>
        <p:spPr>
          <a:xfrm>
            <a:off x="455586" y="2086513"/>
            <a:ext cx="1491010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586" y="3391147"/>
            <a:ext cx="1491010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586" y="4577177"/>
            <a:ext cx="1491010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9916" y="2086513"/>
            <a:ext cx="4710236" cy="728562"/>
          </a:xfrm>
          <a:prstGeom prst="roundRect">
            <a:avLst>
              <a:gd name="adj" fmla="val 11296"/>
            </a:avLst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1576" y="2222059"/>
            <a:ext cx="796335" cy="474412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8A8D8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302060" y="2205116"/>
            <a:ext cx="2134855" cy="508299"/>
          </a:xfrm>
          <a:prstGeom prst="roundRect">
            <a:avLst>
              <a:gd name="adj" fmla="val 10000"/>
            </a:avLst>
          </a:prstGeom>
          <a:solidFill>
            <a:srgbClr val="EAF2DC"/>
          </a:solidFill>
          <a:ln w="13970">
            <a:solidFill>
              <a:srgbClr val="9FB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24951" y="2222059"/>
            <a:ext cx="1033541" cy="474412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8A8D8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149916" y="3035337"/>
            <a:ext cx="4710236" cy="1270747"/>
          </a:xfrm>
          <a:prstGeom prst="roundRect">
            <a:avLst>
              <a:gd name="adj" fmla="val 6400"/>
            </a:avLst>
          </a:prstGeom>
          <a:solidFill>
            <a:srgbClr val="F1F6F6"/>
          </a:solidFill>
          <a:ln w="20320">
            <a:solidFill>
              <a:srgbClr val="0076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8519" y="3255600"/>
            <a:ext cx="2168742" cy="982711"/>
          </a:xfrm>
          <a:prstGeom prst="roundRect">
            <a:avLst>
              <a:gd name="adj" fmla="val 6207"/>
            </a:avLst>
          </a:prstGeom>
          <a:solidFill>
            <a:srgbClr val="E7E2EF"/>
          </a:solidFill>
          <a:ln w="13970">
            <a:solidFill>
              <a:srgbClr val="8F86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807" y="3255600"/>
            <a:ext cx="2185685" cy="982711"/>
          </a:xfrm>
          <a:prstGeom prst="roundRect">
            <a:avLst>
              <a:gd name="adj" fmla="val 6207"/>
            </a:avLst>
          </a:prstGeom>
          <a:solidFill>
            <a:srgbClr val="F0E6D6"/>
          </a:solidFill>
          <a:ln w="13970">
            <a:solidFill>
              <a:srgbClr val="C0A0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9916" y="4509404"/>
            <a:ext cx="4710236" cy="813278"/>
          </a:xfrm>
          <a:prstGeom prst="roundRect">
            <a:avLst>
              <a:gd name="adj" fmla="val 10119"/>
            </a:avLst>
          </a:prstGeom>
          <a:solidFill>
            <a:srgbClr val="FFFFFF"/>
          </a:solidFill>
          <a:ln w="1524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51576" y="4611064"/>
            <a:ext cx="2219572" cy="609959"/>
          </a:xfrm>
          <a:prstGeom prst="roundRect">
            <a:avLst>
              <a:gd name="adj" fmla="val 8333"/>
            </a:avLst>
          </a:prstGeom>
          <a:solidFill>
            <a:srgbClr val="DCE9EF"/>
          </a:solidFill>
          <a:ln w="13970">
            <a:solidFill>
              <a:srgbClr val="7FA9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8353" y="4611064"/>
            <a:ext cx="2050139" cy="609959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8A8D87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047910" y="5475172"/>
            <a:ext cx="2914247" cy="355809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8A8D8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995698" y="2086513"/>
            <a:ext cx="3880014" cy="3744468"/>
          </a:xfrm>
          <a:prstGeom prst="roundRect">
            <a:avLst>
              <a:gd name="adj" fmla="val 2172"/>
            </a:avLst>
          </a:prstGeom>
          <a:solidFill>
            <a:srgbClr val="FBF4E6"/>
          </a:solidFill>
          <a:ln w="22860">
            <a:solidFill>
              <a:srgbClr val="C986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93347" y="2154286"/>
            <a:ext cx="609959" cy="169433"/>
          </a:xfrm>
          <a:prstGeom prst="roundRect">
            <a:avLst>
              <a:gd name="adj" fmla="val 48571"/>
            </a:avLst>
          </a:prstGeom>
          <a:solidFill>
            <a:srgbClr val="C9860A"/>
          </a:solidFill>
          <a:ln w="12700">
            <a:solidFill>
              <a:srgbClr val="D8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1244" y="2527039"/>
            <a:ext cx="3608922" cy="525242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7780">
            <a:solidFill>
              <a:srgbClr val="C986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1244" y="3136997"/>
            <a:ext cx="3608922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C986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1244" y="3696126"/>
            <a:ext cx="3608922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C986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1244" y="4255255"/>
            <a:ext cx="3608922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C986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1244" y="4814383"/>
            <a:ext cx="3608922" cy="474412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3970">
            <a:solidFill>
              <a:srgbClr val="C986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1534" y="2815075"/>
            <a:ext cx="67773" cy="440526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08699" y="2815075"/>
            <a:ext cx="914" cy="440526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064162" y="2815075"/>
            <a:ext cx="914" cy="440526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5843554" y="2815075"/>
            <a:ext cx="67773" cy="440526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3242758" y="4238311"/>
            <a:ext cx="914" cy="372752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5572461" y="4238311"/>
            <a:ext cx="914" cy="372752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 flipV="1">
            <a:off x="3793415" y="5221022"/>
            <a:ext cx="254149" cy="254149"/>
          </a:xfrm>
          <a:prstGeom prst="line">
            <a:avLst/>
          </a:prstGeom>
          <a:noFill/>
          <a:ln w="1651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6860152" y="3560579"/>
            <a:ext cx="271093" cy="84716"/>
          </a:xfrm>
          <a:prstGeom prst="line">
            <a:avLst/>
          </a:prstGeom>
          <a:noFill/>
          <a:ln w="19050">
            <a:solidFill>
              <a:srgbClr val="C9860A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6860152" y="4848270"/>
            <a:ext cx="271093" cy="67773"/>
          </a:xfrm>
          <a:prstGeom prst="line">
            <a:avLst/>
          </a:prstGeom>
          <a:noFill/>
          <a:ln w="15240">
            <a:solidFill>
              <a:srgbClr val="8A8D87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946596" y="2323719"/>
            <a:ext cx="203320" cy="118603"/>
          </a:xfrm>
          <a:prstGeom prst="line">
            <a:avLst/>
          </a:prstGeom>
          <a:noFill/>
          <a:ln w="15240">
            <a:solidFill>
              <a:srgbClr val="8A8D8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946596" y="4814383"/>
            <a:ext cx="5049102" cy="186376"/>
          </a:xfrm>
          <a:prstGeom prst="line">
            <a:avLst/>
          </a:prstGeom>
          <a:noFill/>
          <a:ln w="13970">
            <a:solidFill>
              <a:srgbClr val="8A8D87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302060" y="2205116"/>
            <a:ext cx="169433" cy="169433"/>
          </a:xfrm>
          <a:prstGeom prst="ellipse">
            <a:avLst/>
          </a:prstGeom>
          <a:solidFill>
            <a:srgbClr val="B33A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268519" y="3272543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807" y="3272543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1244" y="2543982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3" name="Shape 41"/>
          <p:cNvSpPr/>
          <p:nvPr/>
        </p:nvSpPr>
        <p:spPr>
          <a:xfrm>
            <a:off x="7131244" y="3153940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4" name="Shape 42"/>
          <p:cNvSpPr/>
          <p:nvPr/>
        </p:nvSpPr>
        <p:spPr>
          <a:xfrm>
            <a:off x="7131244" y="3713069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1244" y="4272198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6" name="Shape 44"/>
          <p:cNvSpPr/>
          <p:nvPr/>
        </p:nvSpPr>
        <p:spPr>
          <a:xfrm>
            <a:off x="7131244" y="4831327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7" name="Shape 45"/>
          <p:cNvSpPr/>
          <p:nvPr/>
        </p:nvSpPr>
        <p:spPr>
          <a:xfrm>
            <a:off x="3081797" y="5483643"/>
            <a:ext cx="169433" cy="169433"/>
          </a:xfrm>
          <a:prstGeom prst="ellipse">
            <a:avLst/>
          </a:prstGeom>
          <a:solidFill>
            <a:srgbClr val="046A38"/>
          </a:solidFill>
          <a:ln/>
        </p:spPr>
      </p:sp>
      <p:sp>
        <p:nvSpPr>
          <p:cNvPr id="48" name="Text 46"/>
          <p:cNvSpPr/>
          <p:nvPr/>
        </p:nvSpPr>
        <p:spPr>
          <a:xfrm>
            <a:off x="472530" y="1874438"/>
            <a:ext cx="6583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80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経営層の3つの問い</a:t>
            </a:r>
            <a:endParaRPr lang="ja-JP" sz="800" dirty="0"/>
          </a:p>
        </p:txBody>
      </p:sp>
      <p:sp>
        <p:nvSpPr>
          <p:cNvPr id="49" name="Text 47"/>
          <p:cNvSpPr/>
          <p:nvPr/>
        </p:nvSpPr>
        <p:spPr>
          <a:xfrm>
            <a:off x="-261949" y="2196360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気づく</a:t>
            </a:r>
            <a:endParaRPr lang="ja-JP" sz="800" dirty="0"/>
          </a:p>
        </p:txBody>
      </p:sp>
      <p:sp>
        <p:nvSpPr>
          <p:cNvPr id="50" name="Text 48"/>
          <p:cNvSpPr/>
          <p:nvPr/>
        </p:nvSpPr>
        <p:spPr>
          <a:xfrm>
            <a:off x="-261949" y="2366376"/>
            <a:ext cx="29260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何が起きた／起きうる</a:t>
            </a:r>
            <a:endParaRPr lang="ja-JP" sz="650" dirty="0"/>
          </a:p>
        </p:txBody>
      </p:sp>
      <p:sp>
        <p:nvSpPr>
          <p:cNvPr id="51" name="Text 49"/>
          <p:cNvSpPr/>
          <p:nvPr/>
        </p:nvSpPr>
        <p:spPr>
          <a:xfrm>
            <a:off x="-261949" y="3500994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見極める</a:t>
            </a:r>
            <a:endParaRPr lang="ja-JP" sz="800" dirty="0"/>
          </a:p>
        </p:txBody>
      </p:sp>
      <p:sp>
        <p:nvSpPr>
          <p:cNvPr id="52" name="Text 50"/>
          <p:cNvSpPr/>
          <p:nvPr/>
        </p:nvSpPr>
        <p:spPr>
          <a:xfrm>
            <a:off x="-261949" y="3671010"/>
            <a:ext cx="29260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どれくらい効くのか</a:t>
            </a:r>
            <a:endParaRPr lang="ja-JP" sz="650" dirty="0"/>
          </a:p>
        </p:txBody>
      </p:sp>
      <p:sp>
        <p:nvSpPr>
          <p:cNvPr id="53" name="Text 51"/>
          <p:cNvSpPr/>
          <p:nvPr/>
        </p:nvSpPr>
        <p:spPr>
          <a:xfrm>
            <a:off x="-261949" y="4687025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打ち手を選ぶ</a:t>
            </a:r>
            <a:endParaRPr lang="ja-JP" sz="800" dirty="0"/>
          </a:p>
        </p:txBody>
      </p:sp>
      <p:sp>
        <p:nvSpPr>
          <p:cNvPr id="54" name="Text 52"/>
          <p:cNvSpPr/>
          <p:nvPr/>
        </p:nvSpPr>
        <p:spPr>
          <a:xfrm>
            <a:off x="-261949" y="4857040"/>
            <a:ext cx="29260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どうすればいいか</a:t>
            </a:r>
            <a:endParaRPr lang="ja-JP" sz="650" dirty="0"/>
          </a:p>
        </p:txBody>
      </p:sp>
      <p:sp>
        <p:nvSpPr>
          <p:cNvPr id="55" name="Text 53"/>
          <p:cNvSpPr/>
          <p:nvPr/>
        </p:nvSpPr>
        <p:spPr>
          <a:xfrm>
            <a:off x="2149916" y="1874438"/>
            <a:ext cx="6583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800" b="1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アプリのコア機能の構造（既存の枠を維持）</a:t>
            </a:r>
            <a:endParaRPr lang="ja-JP" sz="800" dirty="0"/>
          </a:p>
        </p:txBody>
      </p:sp>
      <p:sp>
        <p:nvSpPr>
          <p:cNvPr id="56" name="Text 54"/>
          <p:cNvSpPr/>
          <p:nvPr/>
        </p:nvSpPr>
        <p:spPr>
          <a:xfrm>
            <a:off x="1186703" y="2407859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ja-JP" sz="730" dirty="0"/>
          </a:p>
        </p:txBody>
      </p:sp>
      <p:sp>
        <p:nvSpPr>
          <p:cNvPr id="57" name="Text 55"/>
          <p:cNvSpPr/>
          <p:nvPr/>
        </p:nvSpPr>
        <p:spPr>
          <a:xfrm>
            <a:off x="1695002" y="2384784"/>
            <a:ext cx="2926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ja-JP" sz="1000" dirty="0"/>
          </a:p>
        </p:txBody>
      </p:sp>
      <p:sp>
        <p:nvSpPr>
          <p:cNvPr id="58" name="Text 56"/>
          <p:cNvSpPr/>
          <p:nvPr/>
        </p:nvSpPr>
        <p:spPr>
          <a:xfrm>
            <a:off x="2906447" y="2281077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⓪ 常時センシング</a:t>
            </a:r>
            <a:endParaRPr lang="ja-JP" sz="800" dirty="0"/>
          </a:p>
        </p:txBody>
      </p:sp>
      <p:sp>
        <p:nvSpPr>
          <p:cNvPr id="59" name="Text 57"/>
          <p:cNvSpPr/>
          <p:nvPr/>
        </p:nvSpPr>
        <p:spPr>
          <a:xfrm>
            <a:off x="2906447" y="2452261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KPI進捗・外部重要指標の定常監視</a:t>
            </a:r>
            <a:endParaRPr lang="ja-JP" sz="640" dirty="0"/>
          </a:p>
        </p:txBody>
      </p:sp>
      <p:sp>
        <p:nvSpPr>
          <p:cNvPr id="60" name="Text 58"/>
          <p:cNvSpPr/>
          <p:nvPr/>
        </p:nvSpPr>
        <p:spPr>
          <a:xfrm>
            <a:off x="2906447" y="2570864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（スケジュール駆動）</a:t>
            </a:r>
            <a:endParaRPr lang="ja-JP" sz="640" dirty="0"/>
          </a:p>
        </p:txBody>
      </p:sp>
      <p:sp>
        <p:nvSpPr>
          <p:cNvPr id="61" name="Text 59"/>
          <p:cNvSpPr/>
          <p:nvPr/>
        </p:nvSpPr>
        <p:spPr>
          <a:xfrm>
            <a:off x="4126364" y="2384784"/>
            <a:ext cx="2926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ja-JP" sz="1000" dirty="0"/>
          </a:p>
        </p:txBody>
      </p:sp>
      <p:sp>
        <p:nvSpPr>
          <p:cNvPr id="62" name="Text 60"/>
          <p:cNvSpPr/>
          <p:nvPr/>
        </p:nvSpPr>
        <p:spPr>
          <a:xfrm>
            <a:off x="4778681" y="2352062"/>
            <a:ext cx="2926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対象外の</a:t>
            </a:r>
            <a:endParaRPr lang="ja-JP" sz="700" dirty="0"/>
          </a:p>
        </p:txBody>
      </p:sp>
      <p:sp>
        <p:nvSpPr>
          <p:cNvPr id="63" name="Text 61"/>
          <p:cNvSpPr/>
          <p:nvPr/>
        </p:nvSpPr>
        <p:spPr>
          <a:xfrm>
            <a:off x="4778681" y="2487609"/>
            <a:ext cx="2926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突発イベント</a:t>
            </a:r>
            <a:endParaRPr lang="ja-JP" sz="700" dirty="0"/>
          </a:p>
        </p:txBody>
      </p:sp>
      <p:sp>
        <p:nvSpPr>
          <p:cNvPr id="64" name="Text 62"/>
          <p:cNvSpPr/>
          <p:nvPr/>
        </p:nvSpPr>
        <p:spPr>
          <a:xfrm>
            <a:off x="2149916" y="2860068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常時センシングは診断モードの外（入力・センシング層）。点線＝入力・外部ソース。</a:t>
            </a:r>
            <a:endParaRPr lang="ja-JP" sz="630" dirty="0"/>
          </a:p>
        </p:txBody>
      </p:sp>
      <p:sp>
        <p:nvSpPr>
          <p:cNvPr id="65" name="Text 63"/>
          <p:cNvSpPr/>
          <p:nvPr/>
        </p:nvSpPr>
        <p:spPr>
          <a:xfrm>
            <a:off x="2251576" y="3099321"/>
            <a:ext cx="6583680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830" b="1" dirty="0">
                <a:solidFill>
                  <a:srgbClr val="0060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診断モード（既存）</a:t>
            </a:r>
            <a:endParaRPr lang="ja-JP" sz="830" dirty="0"/>
          </a:p>
        </p:txBody>
      </p:sp>
      <p:sp>
        <p:nvSpPr>
          <p:cNvPr id="66" name="Text 64"/>
          <p:cNvSpPr/>
          <p:nvPr/>
        </p:nvSpPr>
        <p:spPr>
          <a:xfrm>
            <a:off x="3369833" y="3120353"/>
            <a:ext cx="65836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自動・イベント駆動 ｜ 出力＝経営ブリーフ（レポート）</a:t>
            </a:r>
            <a:endParaRPr lang="ja-JP" sz="650" dirty="0"/>
          </a:p>
        </p:txBody>
      </p:sp>
      <p:sp>
        <p:nvSpPr>
          <p:cNvPr id="67" name="Text 65"/>
          <p:cNvSpPr/>
          <p:nvPr/>
        </p:nvSpPr>
        <p:spPr>
          <a:xfrm>
            <a:off x="1889850" y="3348504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3F3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定期診断</a:t>
            </a:r>
            <a:endParaRPr lang="ja-JP" sz="800" dirty="0"/>
          </a:p>
        </p:txBody>
      </p:sp>
      <p:sp>
        <p:nvSpPr>
          <p:cNvPr id="68" name="Text 66"/>
          <p:cNvSpPr/>
          <p:nvPr/>
        </p:nvSpPr>
        <p:spPr>
          <a:xfrm>
            <a:off x="1889850" y="3528160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4340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事業計画の整合性・リスク精査</a:t>
            </a:r>
            <a:endParaRPr lang="ja-JP" sz="640" dirty="0"/>
          </a:p>
        </p:txBody>
      </p:sp>
      <p:sp>
        <p:nvSpPr>
          <p:cNvPr id="69" name="Text 67"/>
          <p:cNvSpPr/>
          <p:nvPr/>
        </p:nvSpPr>
        <p:spPr>
          <a:xfrm>
            <a:off x="1889850" y="3646763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4340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（計画提出で駆動）</a:t>
            </a:r>
            <a:endParaRPr lang="ja-JP" sz="640" dirty="0"/>
          </a:p>
        </p:txBody>
      </p:sp>
      <p:sp>
        <p:nvSpPr>
          <p:cNvPr id="70" name="Text 68"/>
          <p:cNvSpPr/>
          <p:nvPr/>
        </p:nvSpPr>
        <p:spPr>
          <a:xfrm>
            <a:off x="1889850" y="3817365"/>
            <a:ext cx="29260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4340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完成中計が実態から破綻して</a:t>
            </a:r>
            <a:endParaRPr lang="ja-JP" sz="630" dirty="0"/>
          </a:p>
        </p:txBody>
      </p:sp>
      <p:sp>
        <p:nvSpPr>
          <p:cNvPr id="71" name="Text 69"/>
          <p:cNvSpPr/>
          <p:nvPr/>
        </p:nvSpPr>
        <p:spPr>
          <a:xfrm>
            <a:off x="1889850" y="3927496"/>
            <a:ext cx="29260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4340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いないかを診断</a:t>
            </a:r>
            <a:endParaRPr lang="ja-JP" sz="630" dirty="0"/>
          </a:p>
        </p:txBody>
      </p:sp>
      <p:sp>
        <p:nvSpPr>
          <p:cNvPr id="72" name="Text 70"/>
          <p:cNvSpPr/>
          <p:nvPr/>
        </p:nvSpPr>
        <p:spPr>
          <a:xfrm>
            <a:off x="1889850" y="4091962"/>
            <a:ext cx="2926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577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◇作成段階の壁打ちは右へ（論点②）</a:t>
            </a:r>
            <a:endParaRPr lang="ja-JP" sz="600" dirty="0"/>
          </a:p>
        </p:txBody>
      </p:sp>
      <p:sp>
        <p:nvSpPr>
          <p:cNvPr id="73" name="Text 71"/>
          <p:cNvSpPr/>
          <p:nvPr/>
        </p:nvSpPr>
        <p:spPr>
          <a:xfrm>
            <a:off x="4202609" y="3348504"/>
            <a:ext cx="2926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800" b="1" dirty="0">
                <a:solidFill>
                  <a:srgbClr val="7A5A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アドホック診断</a:t>
            </a:r>
            <a:endParaRPr lang="ja-JP" sz="800" dirty="0"/>
          </a:p>
        </p:txBody>
      </p:sp>
      <p:sp>
        <p:nvSpPr>
          <p:cNvPr id="74" name="Text 72"/>
          <p:cNvSpPr/>
          <p:nvPr/>
        </p:nvSpPr>
        <p:spPr>
          <a:xfrm>
            <a:off x="4202609" y="3528160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A4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急変・突発事象の影響度シナリオ</a:t>
            </a:r>
            <a:endParaRPr lang="ja-JP" sz="640" dirty="0"/>
          </a:p>
        </p:txBody>
      </p:sp>
      <p:sp>
        <p:nvSpPr>
          <p:cNvPr id="75" name="Text 73"/>
          <p:cNvSpPr/>
          <p:nvPr/>
        </p:nvSpPr>
        <p:spPr>
          <a:xfrm>
            <a:off x="4202609" y="3646763"/>
            <a:ext cx="29260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40" dirty="0">
                <a:solidFill>
                  <a:srgbClr val="5A4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分析（イベント駆動）</a:t>
            </a:r>
            <a:endParaRPr lang="ja-JP" sz="640" dirty="0"/>
          </a:p>
        </p:txBody>
      </p:sp>
      <p:sp>
        <p:nvSpPr>
          <p:cNvPr id="76" name="Text 74"/>
          <p:cNvSpPr/>
          <p:nvPr/>
        </p:nvSpPr>
        <p:spPr>
          <a:xfrm>
            <a:off x="4202609" y="3817365"/>
            <a:ext cx="29260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5A4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外部超過・災害・沿線建築 等を</a:t>
            </a:r>
            <a:endParaRPr lang="ja-JP" sz="630" dirty="0"/>
          </a:p>
        </p:txBody>
      </p:sp>
      <p:sp>
        <p:nvSpPr>
          <p:cNvPr id="77" name="Text 75"/>
          <p:cNvSpPr/>
          <p:nvPr/>
        </p:nvSpPr>
        <p:spPr>
          <a:xfrm>
            <a:off x="4202609" y="3927496"/>
            <a:ext cx="29260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30" dirty="0">
                <a:solidFill>
                  <a:srgbClr val="5A4A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構造マップで因果トレース</a:t>
            </a:r>
            <a:endParaRPr lang="ja-JP" sz="630" dirty="0"/>
          </a:p>
        </p:txBody>
      </p:sp>
      <p:sp>
        <p:nvSpPr>
          <p:cNvPr id="78" name="Text 76"/>
          <p:cNvSpPr/>
          <p:nvPr/>
        </p:nvSpPr>
        <p:spPr>
          <a:xfrm>
            <a:off x="4202609" y="4091962"/>
            <a:ext cx="2926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00" dirty="0">
                <a:solidFill>
                  <a:srgbClr val="A577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◇自由テーマ壁打ちは右へ（論点③）</a:t>
            </a:r>
            <a:endParaRPr lang="ja-JP" sz="600" dirty="0"/>
          </a:p>
        </p:txBody>
      </p:sp>
      <p:sp>
        <p:nvSpPr>
          <p:cNvPr id="79" name="Text 77"/>
          <p:cNvSpPr/>
          <p:nvPr/>
        </p:nvSpPr>
        <p:spPr>
          <a:xfrm>
            <a:off x="1898321" y="4725585"/>
            <a:ext cx="29260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60" b="1" dirty="0">
                <a:solidFill>
                  <a:srgbClr val="175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事例ナレッジ基盤（RAG用）</a:t>
            </a:r>
            <a:endParaRPr lang="ja-JP" sz="760" dirty="0"/>
          </a:p>
        </p:txBody>
      </p:sp>
      <p:sp>
        <p:nvSpPr>
          <p:cNvPr id="80" name="Text 78"/>
          <p:cNvSpPr/>
          <p:nvPr/>
        </p:nvSpPr>
        <p:spPr>
          <a:xfrm>
            <a:off x="1898321" y="4894432"/>
            <a:ext cx="292608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3A5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外部（内部も）の類似イベント事例収集の土台</a:t>
            </a:r>
            <a:endParaRPr lang="ja-JP" sz="620" dirty="0"/>
          </a:p>
        </p:txBody>
      </p:sp>
      <p:sp>
        <p:nvSpPr>
          <p:cNvPr id="81" name="Text 79"/>
          <p:cNvSpPr/>
          <p:nvPr/>
        </p:nvSpPr>
        <p:spPr>
          <a:xfrm>
            <a:off x="1898321" y="5021507"/>
            <a:ext cx="292608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20" dirty="0">
                <a:solidFill>
                  <a:srgbClr val="3A5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（コロナ・五輪・施設移転 等）</a:t>
            </a:r>
            <a:endParaRPr lang="ja-JP" sz="620" dirty="0"/>
          </a:p>
        </p:txBody>
      </p:sp>
      <p:sp>
        <p:nvSpPr>
          <p:cNvPr id="82" name="Text 80"/>
          <p:cNvSpPr/>
          <p:nvPr/>
        </p:nvSpPr>
        <p:spPr>
          <a:xfrm>
            <a:off x="3118238" y="4841561"/>
            <a:ext cx="2926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00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ja-JP" sz="1000" dirty="0"/>
          </a:p>
        </p:txBody>
      </p:sp>
      <p:sp>
        <p:nvSpPr>
          <p:cNvPr id="83" name="Text 81"/>
          <p:cNvSpPr/>
          <p:nvPr/>
        </p:nvSpPr>
        <p:spPr>
          <a:xfrm>
            <a:off x="4270382" y="4747202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2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HHの事業構造マップ</a:t>
            </a:r>
            <a:endParaRPr lang="ja-JP" sz="720" dirty="0"/>
          </a:p>
        </p:txBody>
      </p:sp>
      <p:sp>
        <p:nvSpPr>
          <p:cNvPr id="84" name="Text 82"/>
          <p:cNvSpPr/>
          <p:nvPr/>
        </p:nvSpPr>
        <p:spPr>
          <a:xfrm>
            <a:off x="4270382" y="4912544"/>
            <a:ext cx="2926080" cy="11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1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主要ビジネス構成・影響要因・</a:t>
            </a:r>
            <a:endParaRPr lang="ja-JP" sz="610" dirty="0"/>
          </a:p>
        </p:txBody>
      </p:sp>
      <p:sp>
        <p:nvSpPr>
          <p:cNvPr id="85" name="Text 83"/>
          <p:cNvSpPr/>
          <p:nvPr/>
        </p:nvSpPr>
        <p:spPr>
          <a:xfrm>
            <a:off x="4270382" y="5031147"/>
            <a:ext cx="2926080" cy="11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61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関係性 等</a:t>
            </a:r>
            <a:endParaRPr lang="ja-JP" sz="610" dirty="0"/>
          </a:p>
        </p:txBody>
      </p:sp>
      <p:sp>
        <p:nvSpPr>
          <p:cNvPr id="86" name="Text 84"/>
          <p:cNvSpPr/>
          <p:nvPr/>
        </p:nvSpPr>
        <p:spPr>
          <a:xfrm>
            <a:off x="3041994" y="5613647"/>
            <a:ext cx="2926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ウェブ情報ソース ／ HH内部情報ソース</a:t>
            </a:r>
            <a:endParaRPr lang="ja-JP" sz="700" dirty="0"/>
          </a:p>
        </p:txBody>
      </p:sp>
      <p:sp>
        <p:nvSpPr>
          <p:cNvPr id="87" name="Text 85"/>
          <p:cNvSpPr/>
          <p:nvPr/>
        </p:nvSpPr>
        <p:spPr>
          <a:xfrm>
            <a:off x="7131244" y="2184676"/>
            <a:ext cx="6583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90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壁打ち／助言モード</a:t>
            </a:r>
            <a:endParaRPr lang="ja-JP" sz="900" dirty="0"/>
          </a:p>
        </p:txBody>
      </p:sp>
      <p:sp>
        <p:nvSpPr>
          <p:cNvPr id="88" name="Text 86"/>
          <p:cNvSpPr/>
          <p:nvPr/>
        </p:nvSpPr>
        <p:spPr>
          <a:xfrm>
            <a:off x="7735286" y="2191101"/>
            <a:ext cx="2926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新規追加</a:t>
            </a:r>
            <a:endParaRPr lang="ja-JP" sz="700" dirty="0"/>
          </a:p>
        </p:txBody>
      </p:sp>
      <p:sp>
        <p:nvSpPr>
          <p:cNvPr id="89" name="Text 87"/>
          <p:cNvSpPr/>
          <p:nvPr/>
        </p:nvSpPr>
        <p:spPr>
          <a:xfrm>
            <a:off x="7131244" y="2362871"/>
            <a:ext cx="6583680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8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ユーザー駆動 ｜ 対話・探索（右側に追加した新レーン）</a:t>
            </a:r>
            <a:endParaRPr lang="ja-JP" sz="680" dirty="0"/>
          </a:p>
        </p:txBody>
      </p:sp>
      <p:sp>
        <p:nvSpPr>
          <p:cNvPr id="90" name="Text 88"/>
          <p:cNvSpPr/>
          <p:nvPr/>
        </p:nvSpPr>
        <p:spPr>
          <a:xfrm>
            <a:off x="7283734" y="2616145"/>
            <a:ext cx="6583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6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 対話エンジン</a:t>
            </a:r>
            <a:endParaRPr lang="ja-JP" sz="760" dirty="0"/>
          </a:p>
        </p:txBody>
      </p:sp>
      <p:sp>
        <p:nvSpPr>
          <p:cNvPr id="91" name="Text 89"/>
          <p:cNvSpPr/>
          <p:nvPr/>
        </p:nvSpPr>
        <p:spPr>
          <a:xfrm>
            <a:off x="7283734" y="2774184"/>
            <a:ext cx="65836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ファイル取込 ／ RAG切替（参考資料あり/なし） ／ 限定web検索 ／</a:t>
            </a:r>
            <a:endParaRPr lang="ja-JP" sz="640" dirty="0"/>
          </a:p>
        </p:txBody>
      </p:sp>
      <p:sp>
        <p:nvSpPr>
          <p:cNvPr id="92" name="Text 90"/>
          <p:cNvSpPr/>
          <p:nvPr/>
        </p:nvSpPr>
        <p:spPr>
          <a:xfrm>
            <a:off x="7283734" y="2901258"/>
            <a:ext cx="658368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4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Pure LLM ↔ RAG 切替（"素のLLMでどこまで壁打ちできるか"の差を可視化）</a:t>
            </a:r>
            <a:endParaRPr lang="ja-JP" sz="640" dirty="0"/>
          </a:p>
        </p:txBody>
      </p:sp>
      <p:sp>
        <p:nvSpPr>
          <p:cNvPr id="93" name="Text 91"/>
          <p:cNvSpPr/>
          <p:nvPr/>
        </p:nvSpPr>
        <p:spPr>
          <a:xfrm>
            <a:off x="7283734" y="3217632"/>
            <a:ext cx="6583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6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計画策定の壁打ち</a:t>
            </a:r>
            <a:endParaRPr lang="ja-JP" sz="760" dirty="0"/>
          </a:p>
        </p:txBody>
      </p:sp>
      <p:sp>
        <p:nvSpPr>
          <p:cNvPr id="94" name="Text 92"/>
          <p:cNvSpPr/>
          <p:nvPr/>
        </p:nvSpPr>
        <p:spPr>
          <a:xfrm>
            <a:off x="7283734" y="3385311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中計の策定"初期段階"。論点整理・方向性・数字目標の達成可能性・</a:t>
            </a:r>
            <a:endParaRPr lang="ja-JP" sz="630" dirty="0"/>
          </a:p>
        </p:txBody>
      </p:sp>
      <p:sp>
        <p:nvSpPr>
          <p:cNvPr id="95" name="Text 93"/>
          <p:cNvSpPr/>
          <p:nvPr/>
        </p:nvSpPr>
        <p:spPr>
          <a:xfrm>
            <a:off x="7283734" y="3495442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あるべき姿と実態の整合、修正提案。</a:t>
            </a:r>
            <a:endParaRPr lang="ja-JP" sz="630" dirty="0"/>
          </a:p>
        </p:txBody>
      </p:sp>
      <p:sp>
        <p:nvSpPr>
          <p:cNvPr id="96" name="Text 94"/>
          <p:cNvSpPr/>
          <p:nvPr/>
        </p:nvSpPr>
        <p:spPr>
          <a:xfrm>
            <a:off x="7283734" y="3776760"/>
            <a:ext cx="6583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6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自由テーマ壁打ち</a:t>
            </a:r>
            <a:endParaRPr lang="ja-JP" sz="760" dirty="0"/>
          </a:p>
        </p:txBody>
      </p:sp>
      <p:sp>
        <p:nvSpPr>
          <p:cNvPr id="97" name="Text 95"/>
          <p:cNvSpPr/>
          <p:nvPr/>
        </p:nvSpPr>
        <p:spPr>
          <a:xfrm>
            <a:off x="7283734" y="3944439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自由度の高い事業計画（例：アフリカ進出）。web検索で現状の国際</a:t>
            </a:r>
            <a:endParaRPr lang="ja-JP" sz="630" dirty="0"/>
          </a:p>
        </p:txBody>
      </p:sp>
      <p:sp>
        <p:nvSpPr>
          <p:cNvPr id="98" name="Text 96"/>
          <p:cNvSpPr/>
          <p:nvPr/>
        </p:nvSpPr>
        <p:spPr>
          <a:xfrm>
            <a:off x="7283734" y="4054571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情勢を踏まえ、社内関連情報も交えて対話。</a:t>
            </a:r>
            <a:endParaRPr lang="ja-JP" sz="630" dirty="0"/>
          </a:p>
        </p:txBody>
      </p:sp>
      <p:sp>
        <p:nvSpPr>
          <p:cNvPr id="99" name="Text 97"/>
          <p:cNvSpPr/>
          <p:nvPr/>
        </p:nvSpPr>
        <p:spPr>
          <a:xfrm>
            <a:off x="7283734" y="4335889"/>
            <a:ext cx="6583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6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AIアシスタント</a:t>
            </a:r>
            <a:endParaRPr lang="ja-JP" sz="760" dirty="0"/>
          </a:p>
        </p:txBody>
      </p:sp>
      <p:sp>
        <p:nvSpPr>
          <p:cNvPr id="100" name="Text 98"/>
          <p:cNvSpPr/>
          <p:nvPr/>
        </p:nvSpPr>
        <p:spPr>
          <a:xfrm>
            <a:off x="7283734" y="4503568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論点の深掘り ＋ 各部署の資料作成支援（取込→やり取り→修正点の</a:t>
            </a:r>
            <a:endParaRPr lang="ja-JP" sz="630" dirty="0"/>
          </a:p>
        </p:txBody>
      </p:sp>
      <p:sp>
        <p:nvSpPr>
          <p:cNvPr id="101" name="Text 99"/>
          <p:cNvSpPr/>
          <p:nvPr/>
        </p:nvSpPr>
        <p:spPr>
          <a:xfrm>
            <a:off x="7283734" y="4613699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洗い出し）。</a:t>
            </a:r>
            <a:endParaRPr lang="ja-JP" sz="630" dirty="0"/>
          </a:p>
        </p:txBody>
      </p:sp>
      <p:sp>
        <p:nvSpPr>
          <p:cNvPr id="102" name="Text 100"/>
          <p:cNvSpPr/>
          <p:nvPr/>
        </p:nvSpPr>
        <p:spPr>
          <a:xfrm>
            <a:off x="7283734" y="4895018"/>
            <a:ext cx="6583680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760" b="1" dirty="0">
                <a:solidFill>
                  <a:srgbClr val="B077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株主総会QAアシスタント</a:t>
            </a:r>
            <a:endParaRPr lang="ja-JP" sz="760" dirty="0"/>
          </a:p>
        </p:txBody>
      </p:sp>
      <p:sp>
        <p:nvSpPr>
          <p:cNvPr id="103" name="Text 101"/>
          <p:cNvSpPr/>
          <p:nvPr/>
        </p:nvSpPr>
        <p:spPr>
          <a:xfrm>
            <a:off x="7283734" y="5062697"/>
            <a:ext cx="658368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3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想定問答・潜在リスク・確認ポイント抽出（野村さんのリスク観点）。</a:t>
            </a:r>
            <a:endParaRPr lang="ja-JP" sz="630" dirty="0"/>
          </a:p>
        </p:txBody>
      </p:sp>
      <p:sp>
        <p:nvSpPr>
          <p:cNvPr id="104" name="Text 102"/>
          <p:cNvSpPr/>
          <p:nvPr/>
        </p:nvSpPr>
        <p:spPr>
          <a:xfrm>
            <a:off x="7283734" y="5173996"/>
            <a:ext cx="6583680" cy="11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20" dirty="0">
                <a:solidFill>
                  <a:srgbClr val="A577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位置付け＝壁打ちモードの1ユースケース（専用ナレッジ）</a:t>
            </a:r>
            <a:endParaRPr lang="ja-JP" sz="620" dirty="0"/>
          </a:p>
        </p:txBody>
      </p:sp>
      <p:sp>
        <p:nvSpPr>
          <p:cNvPr id="105" name="Text 103"/>
          <p:cNvSpPr/>
          <p:nvPr/>
        </p:nvSpPr>
        <p:spPr>
          <a:xfrm>
            <a:off x="7131244" y="5433112"/>
            <a:ext cx="65836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6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共通基盤（③事例ナレッジ・構造マップ・情報ソース）は両モードに供給</a:t>
            </a:r>
            <a:endParaRPr lang="ja-JP" sz="650" dirty="0"/>
          </a:p>
        </p:txBody>
      </p:sp>
      <p:sp>
        <p:nvSpPr>
          <p:cNvPr id="106" name="Text 104"/>
          <p:cNvSpPr/>
          <p:nvPr/>
        </p:nvSpPr>
        <p:spPr>
          <a:xfrm>
            <a:off x="1923736" y="2238426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</a:t>
            </a:r>
            <a:endParaRPr lang="ja-JP" sz="730" dirty="0"/>
          </a:p>
        </p:txBody>
      </p:sp>
      <p:sp>
        <p:nvSpPr>
          <p:cNvPr id="107" name="Text 105"/>
          <p:cNvSpPr/>
          <p:nvPr/>
        </p:nvSpPr>
        <p:spPr>
          <a:xfrm>
            <a:off x="890195" y="3305853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ja-JP" sz="730" dirty="0"/>
          </a:p>
        </p:txBody>
      </p:sp>
      <p:sp>
        <p:nvSpPr>
          <p:cNvPr id="108" name="Text 106"/>
          <p:cNvSpPr/>
          <p:nvPr/>
        </p:nvSpPr>
        <p:spPr>
          <a:xfrm>
            <a:off x="3194483" y="3305853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ja-JP" sz="730" dirty="0"/>
          </a:p>
        </p:txBody>
      </p:sp>
      <p:sp>
        <p:nvSpPr>
          <p:cNvPr id="109" name="Text 107"/>
          <p:cNvSpPr/>
          <p:nvPr/>
        </p:nvSpPr>
        <p:spPr>
          <a:xfrm>
            <a:off x="5752921" y="2577292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ja-JP" sz="730" dirty="0"/>
          </a:p>
        </p:txBody>
      </p:sp>
      <p:sp>
        <p:nvSpPr>
          <p:cNvPr id="110" name="Text 108"/>
          <p:cNvSpPr/>
          <p:nvPr/>
        </p:nvSpPr>
        <p:spPr>
          <a:xfrm>
            <a:off x="5752921" y="3187250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ja-JP" sz="730" dirty="0"/>
          </a:p>
        </p:txBody>
      </p:sp>
      <p:sp>
        <p:nvSpPr>
          <p:cNvPr id="111" name="Text 109"/>
          <p:cNvSpPr/>
          <p:nvPr/>
        </p:nvSpPr>
        <p:spPr>
          <a:xfrm>
            <a:off x="5752921" y="3746379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ja-JP" sz="730" dirty="0"/>
          </a:p>
        </p:txBody>
      </p:sp>
      <p:sp>
        <p:nvSpPr>
          <p:cNvPr id="112" name="Text 110"/>
          <p:cNvSpPr/>
          <p:nvPr/>
        </p:nvSpPr>
        <p:spPr>
          <a:xfrm>
            <a:off x="5752921" y="4305508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ja-JP" sz="730" dirty="0"/>
          </a:p>
        </p:txBody>
      </p:sp>
      <p:sp>
        <p:nvSpPr>
          <p:cNvPr id="113" name="Text 111"/>
          <p:cNvSpPr/>
          <p:nvPr/>
        </p:nvSpPr>
        <p:spPr>
          <a:xfrm>
            <a:off x="5752921" y="4864636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</a:t>
            </a:r>
            <a:endParaRPr lang="ja-JP" sz="730" dirty="0"/>
          </a:p>
        </p:txBody>
      </p:sp>
      <p:sp>
        <p:nvSpPr>
          <p:cNvPr id="114" name="Text 112"/>
          <p:cNvSpPr/>
          <p:nvPr/>
        </p:nvSpPr>
        <p:spPr>
          <a:xfrm>
            <a:off x="1703473" y="5516953"/>
            <a:ext cx="292608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73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endParaRPr lang="ja-JP" sz="730" dirty="0"/>
          </a:p>
        </p:txBody>
      </p:sp>
      <p:sp>
        <p:nvSpPr>
          <p:cNvPr id="115" name="Text 113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00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ja-JP" alt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診断モード（①②・既存）　</a:t>
            </a:r>
            <a:pPr indent="0" marL="0">
              <a:buNone/>
            </a:pPr>
            <a:r>
              <a:rPr lang="ja-JP" altLang="en-US" sz="950" dirty="0">
                <a:solidFill>
                  <a:srgbClr val="C986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ja-JP" altLang="en-US" sz="950" dirty="0">
                <a:solidFill>
                  <a:srgbClr val="5356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壁打ちモード（新規）　</a:t>
            </a:r>
            <a:pPr indent="0" marL="0">
              <a:buNone/>
            </a:pPr>
            <a:r>
              <a:rPr lang="ja-JP" altLang="en-US" sz="9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┈ 点線＝入力・外部ソース　／　⓪は診断モードの外　／　橙点線＝①②の壁打ちニーズを右へ　／　丸数字＝検討論点</a:t>
            </a:r>
            <a:endParaRPr lang="ja-JP" sz="950" dirty="0"/>
          </a:p>
        </p:txBody>
      </p:sp>
      <p:sp>
        <p:nvSpPr>
          <p:cNvPr id="116" name="Text 114"/>
          <p:cNvSpPr/>
          <p:nvPr/>
        </p:nvSpPr>
        <p:spPr>
          <a:xfrm>
            <a:off x="457200" y="6583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endParaRPr lang="ja-JP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18872" cy="11887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b="1" spc="200" kern="0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Points</a:t>
            </a:r>
            <a:endParaRPr lang="ja-JP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パートナーに諮る論点（決裁事項）</a:t>
            </a:r>
            <a:endParaRPr lang="ja-JP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486400"/>
                <a:gridCol w="5120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＃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論点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推奨対応</a:t>
                      </a:r>
                      <a:endParaRPr lang="ja-JP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A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壁打ちモードを追加するか（既存①②は維持し、右に対話・探索の新レーンを並置）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追加する。FBの過半が対話側の要求で、既存の診断機能は触らず受け止められる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定期診断の守備範囲（完成中計の成立性は①に残し、作成段階の壁打ちは右へ）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役割分担。①はレポート型診断を維持、策定初期の壁打ちは対話エンジンで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アドホックの守備範囲（イベント影響は②に残し、自由テーマ壁打ちは右へ）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役割分担。②は構造トレースのレポート、自由計画の相談は対話エンジンで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AIアシスタントの中身（論点深掘り＋資料作成支援、Pure LLM/RAG切替）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対話エンジンとして拡張。ファイル取込・RAG切替・限定web検索を標準搭載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株主総会QAの位置付け（独立アプリか、壁打ちモードの1UCか）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壁打ちモードのUCとして畳む（専用ナレッジ＝過去総会QA・想定問答）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⑥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web検索の自由度（自由検索か、信頼ソース限定か）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信頼ソース＋許可ドメインの限定web検索で両立。PoCは公開＋中計テンプレ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ja-JP" sz="1100" b="1" dirty="0">
                          <a:solidFill>
                            <a:srgbClr val="046A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⑦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常時センシングのカット単位（会社単位か、事業体＋役員別か）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ja-JP" sz="1100" dirty="0">
                          <a:solidFill>
                            <a:srgbClr val="5356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事業体カットへ変更。事業構造マップのBIZセグメントと整合し設計が綺麗になる</a:t>
                      </a:r>
                      <a:endParaRPr lang="ja-JP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50" dirty="0">
                <a:solidFill>
                  <a:srgbClr val="8A8D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元図の枠（⓪入力層・①②・③事例ナレッジ／構造マップ・情報ソース・点線要素）を維持し、①②を診断モードで囲み右に壁打ちモードを追加。環境（ITEC）はスケジュール論点としてバックログで管理。</a:t>
            </a:r>
            <a:endParaRPr lang="ja-JP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6583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046A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Deloitte</a:t>
            </a:r>
            <a:endParaRPr lang="ja-JP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HH AI経営診断 構造マップ（診断モード＋壁打ちモード）</dc:title>
  <dc:subject>PptxGenJS Presentation</dc:subject>
  <dc:creator>Deloitte</dc:creator>
  <cp:lastModifiedBy>Deloitte</cp:lastModifiedBy>
  <cp:revision>1</cp:revision>
  <dcterms:created xsi:type="dcterms:W3CDTF">2026-07-10T04:04:17Z</dcterms:created>
  <dcterms:modified xsi:type="dcterms:W3CDTF">2026-07-10T04:04:17Z</dcterms:modified>
</cp:coreProperties>
</file>