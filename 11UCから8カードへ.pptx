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30200" y="285750"/>
            <a:ext cx="254000" cy="0"/>
          </a:xfrm>
          <a:prstGeom prst="line">
            <a:avLst/>
          </a:prstGeom>
          <a:ln w="19050">
            <a:solidFill>
              <a:srgbClr val="6E2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60400" y="215900"/>
            <a:ext cx="43180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1" lang="ja-JP" spc="140">
                <a:solidFill>
                  <a:srgbClr val="6E2B30"/>
                </a:solidFill>
                <a:latin typeface="Yu Gothic"/>
                <a:ea typeface="Yu Gothic"/>
                <a:cs typeface="Yu Gothic"/>
              </a:rPr>
              <a:t>AI経営診断 ／ 経営診断のホーム画面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0200" y="381000"/>
            <a:ext cx="7188200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850" b="1" lang="ja-JP">
                <a:solidFill>
                  <a:srgbClr val="231B1A"/>
                </a:solidFill>
                <a:latin typeface="Yu Mincho"/>
                <a:ea typeface="Yu Mincho"/>
                <a:cs typeface="Yu Mincho"/>
              </a:rPr>
              <a:t>減らしたのは機能ではなく、選ぶ手間。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0200" y="736600"/>
            <a:ext cx="7188200" cy="27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</a:pPr>
            <a:r>
              <a:rPr sz="1450" b="1" lang="ja-JP">
                <a:solidFill>
                  <a:srgbClr val="231B1A"/>
                </a:solidFill>
                <a:latin typeface="Yu Mincho"/>
                <a:ea typeface="Yu Mincho"/>
                <a:cs typeface="Yu Mincho"/>
              </a:rPr>
              <a:t>11のユースケースを、</a:t>
            </a:r>
            <a:r>
              <a:rPr sz="1450" b="1" lang="ja-JP">
                <a:solidFill>
                  <a:srgbClr val="6E2B30"/>
                </a:solidFill>
                <a:latin typeface="Yu Mincho"/>
                <a:ea typeface="Yu Mincho"/>
                <a:cs typeface="Yu Mincho"/>
              </a:rPr>
              <a:t>経営者が一度に判断する単位</a:t>
            </a:r>
            <a:r>
              <a:rPr sz="1450" b="1" lang="ja-JP">
                <a:solidFill>
                  <a:srgbClr val="231B1A"/>
                </a:solidFill>
                <a:latin typeface="Yu Mincho"/>
                <a:ea typeface="Yu Mincho"/>
                <a:cs typeface="Yu Mincho"/>
              </a:rPr>
              <a:t>＝8カードに束ね直した。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96200" y="228600"/>
            <a:ext cx="4165600" cy="889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75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先週ご提示した11ユースケースを、お客様との議論を踏まえて8つに整理しました。判断軸は「経営者が一度に見たいまとまりか」の一点です。重複の合流が1件（3UC→1カード）、単独では使いどころが伝わらない1UCを一旦非搭載とし、新バージョンにはこの8カードを搭載しています。段階の4区分は変えていません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30200" y="1371600"/>
            <a:ext cx="3530600" cy="4673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2600" y="1473200"/>
            <a:ext cx="23876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lang="ja-JP">
                <a:solidFill>
                  <a:srgbClr val="231B1A"/>
                </a:solidFill>
                <a:latin typeface="Yu Mincho"/>
                <a:ea typeface="Yu Mincho"/>
                <a:cs typeface="Yu Mincho"/>
              </a:rPr>
              <a:t>先週時点</a:t>
            </a:r>
            <a:r>
              <a:rPr sz="700" b="0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　（前回ご提示）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0200" y="1485900"/>
            <a:ext cx="838200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1" lang="ja-JP">
                <a:solidFill>
                  <a:srgbClr val="6E2B30"/>
                </a:solidFill>
                <a:latin typeface="Yu Mincho"/>
                <a:ea typeface="Yu Mincho"/>
                <a:cs typeface="Yu Mincho"/>
              </a:rPr>
              <a:t>11 UC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0200" y="1752600"/>
            <a:ext cx="3530600" cy="0"/>
          </a:xfrm>
          <a:prstGeom prst="line">
            <a:avLst/>
          </a:prstGeom>
          <a:ln w="9525">
            <a:solidFill>
              <a:srgbClr val="E3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42900" y="1752600"/>
            <a:ext cx="177800" cy="1951181"/>
          </a:xfrm>
          <a:prstGeom prst="rect">
            <a:avLst/>
          </a:prstGeom>
          <a:solidFill>
            <a:srgbClr val="A53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 vert="eaVert"/>
          <a:lstStyle/>
          <a:p>
            <a:pPr algn="ctr"/>
            <a:r>
              <a:rPr sz="650" b="1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計画の策定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" y="3703781"/>
            <a:ext cx="177800" cy="780472"/>
          </a:xfrm>
          <a:prstGeom prst="rect">
            <a:avLst/>
          </a:prstGeom>
          <a:solidFill>
            <a:srgbClr val="2570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 vert="eaVert"/>
          <a:lstStyle/>
          <a:p>
            <a:pPr algn="ctr"/>
            <a:r>
              <a:rPr sz="650" b="1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実態の検証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" y="4484254"/>
            <a:ext cx="177800" cy="1170709"/>
          </a:xfrm>
          <a:prstGeom prst="rect">
            <a:avLst/>
          </a:prstGeom>
          <a:solidFill>
            <a:srgbClr val="AC7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 vert="eaVert"/>
          <a:lstStyle/>
          <a:p>
            <a:pPr algn="ctr"/>
            <a:r>
              <a:rPr sz="650" b="1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動向・変化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" y="5654963"/>
            <a:ext cx="177800" cy="390236"/>
          </a:xfrm>
          <a:prstGeom prst="rect">
            <a:avLst/>
          </a:prstGeom>
          <a:solidFill>
            <a:srgbClr val="8D7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 vert="eaVert"/>
          <a:lstStyle/>
          <a:p>
            <a:pPr algn="ctr"/>
            <a:r>
              <a:rPr sz="650" b="1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日常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0700" y="2142836"/>
            <a:ext cx="3327400" cy="1170709"/>
          </a:xfrm>
          <a:prstGeom prst="rect">
            <a:avLst/>
          </a:prstGeom>
          <a:solidFill>
            <a:srgbClr val="F6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3400" y="1871518"/>
            <a:ext cx="2540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1858818"/>
            <a:ext cx="2133600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lang="ja-JP">
                <a:solidFill>
                  <a:srgbClr val="231B1A"/>
                </a:solidFill>
                <a:latin typeface="Yu Gothic"/>
                <a:ea typeface="Yu Gothic"/>
                <a:cs typeface="Yu Gothic"/>
              </a:rPr>
              <a:t>戦略・計画の前提を洗い直す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20700" y="2142836"/>
            <a:ext cx="3327400" cy="0"/>
          </a:xfrm>
          <a:prstGeom prst="line">
            <a:avLst/>
          </a:prstGeom>
          <a:ln w="9525">
            <a:solidFill>
              <a:srgbClr val="E3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33400" y="2261754"/>
            <a:ext cx="2540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800" y="2249054"/>
            <a:ext cx="2133600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lang="ja-JP">
                <a:solidFill>
                  <a:srgbClr val="231B1A"/>
                </a:solidFill>
                <a:latin typeface="Yu Gothic"/>
                <a:ea typeface="Yu Gothic"/>
                <a:cs typeface="Yu Gothic"/>
              </a:rPr>
              <a:t>戦略・計画の論理を点検する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20700" y="2533072"/>
            <a:ext cx="3327400" cy="0"/>
          </a:xfrm>
          <a:prstGeom prst="line">
            <a:avLst/>
          </a:prstGeom>
          <a:ln w="9525">
            <a:solidFill>
              <a:srgbClr val="E3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33400" y="2651990"/>
            <a:ext cx="2540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800" y="2639290"/>
            <a:ext cx="2133600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lang="ja-JP">
                <a:solidFill>
                  <a:srgbClr val="231B1A"/>
                </a:solidFill>
                <a:latin typeface="Yu Gothic"/>
                <a:ea typeface="Yu Gothic"/>
                <a:cs typeface="Yu Gothic"/>
              </a:rPr>
              <a:t>戦略・計画のリスク・論点を洗い出す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20700" y="2923309"/>
            <a:ext cx="3327400" cy="0"/>
          </a:xfrm>
          <a:prstGeom prst="line">
            <a:avLst/>
          </a:prstGeom>
          <a:ln w="9525">
            <a:solidFill>
              <a:srgbClr val="E3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3400" y="3042227"/>
            <a:ext cx="2540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800" y="3029527"/>
            <a:ext cx="2133600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lang="ja-JP">
                <a:solidFill>
                  <a:srgbClr val="231B1A"/>
                </a:solidFill>
                <a:latin typeface="Yu Gothic"/>
                <a:ea typeface="Yu Gothic"/>
                <a:cs typeface="Yu Gothic"/>
              </a:rPr>
              <a:t>過去の観点・指摘を見直す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20700" y="3313545"/>
            <a:ext cx="3327400" cy="0"/>
          </a:xfrm>
          <a:prstGeom prst="line">
            <a:avLst/>
          </a:prstGeom>
          <a:ln w="9525">
            <a:solidFill>
              <a:srgbClr val="E3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33400" y="3432463"/>
            <a:ext cx="2540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800" y="3419763"/>
            <a:ext cx="2133600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lang="ja-JP">
                <a:solidFill>
                  <a:srgbClr val="231B1A"/>
                </a:solidFill>
                <a:latin typeface="Yu Gothic"/>
                <a:ea typeface="Yu Gothic"/>
                <a:cs typeface="Yu Gothic"/>
              </a:rPr>
              <a:t>グループ横断で計画を束ねる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20700" y="3703781"/>
            <a:ext cx="3327400" cy="0"/>
          </a:xfrm>
          <a:prstGeom prst="line">
            <a:avLst/>
          </a:prstGeom>
          <a:ln w="9525">
            <a:solidFill>
              <a:srgbClr val="E3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33400" y="3822700"/>
            <a:ext cx="2540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800" y="3810000"/>
            <a:ext cx="2133600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lang="ja-JP">
                <a:solidFill>
                  <a:srgbClr val="231B1A"/>
                </a:solidFill>
                <a:latin typeface="Yu Gothic"/>
                <a:ea typeface="Yu Gothic"/>
                <a:cs typeface="Yu Gothic"/>
              </a:rPr>
              <a:t>戦略・計画と実態の乖離を捉える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20700" y="4094018"/>
            <a:ext cx="3327400" cy="0"/>
          </a:xfrm>
          <a:prstGeom prst="line">
            <a:avLst/>
          </a:prstGeom>
          <a:ln w="9525">
            <a:solidFill>
              <a:srgbClr val="E3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33400" y="4212936"/>
            <a:ext cx="2540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2800" y="4200236"/>
            <a:ext cx="2133600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lang="ja-JP" strike="sngStrike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外部変数と業績の関係を解き明かす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20700" y="4484254"/>
            <a:ext cx="3327400" cy="0"/>
          </a:xfrm>
          <a:prstGeom prst="line">
            <a:avLst/>
          </a:prstGeom>
          <a:ln w="9525">
            <a:solidFill>
              <a:srgbClr val="E3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3400" y="4603172"/>
            <a:ext cx="2540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2800" y="4590472"/>
            <a:ext cx="2133600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lang="ja-JP">
                <a:solidFill>
                  <a:srgbClr val="231B1A"/>
                </a:solidFill>
                <a:latin typeface="Yu Gothic"/>
                <a:ea typeface="Yu Gothic"/>
                <a:cs typeface="Yu Gothic"/>
              </a:rPr>
              <a:t>変化の予兆をいち早く掴む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20700" y="4874490"/>
            <a:ext cx="3327400" cy="0"/>
          </a:xfrm>
          <a:prstGeom prst="line">
            <a:avLst/>
          </a:prstGeom>
          <a:ln w="9525">
            <a:solidFill>
              <a:srgbClr val="E3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33400" y="4993409"/>
            <a:ext cx="2540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2800" y="4980709"/>
            <a:ext cx="2133600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lang="ja-JP">
                <a:solidFill>
                  <a:srgbClr val="231B1A"/>
                </a:solidFill>
                <a:latin typeface="Yu Gothic"/>
                <a:ea typeface="Yu Gothic"/>
                <a:cs typeface="Yu Gothic"/>
              </a:rPr>
              <a:t>発生事象の影響と打ち手を導出する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20700" y="5264727"/>
            <a:ext cx="3327400" cy="0"/>
          </a:xfrm>
          <a:prstGeom prst="line">
            <a:avLst/>
          </a:prstGeom>
          <a:ln w="9525">
            <a:solidFill>
              <a:srgbClr val="E3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33400" y="5383645"/>
            <a:ext cx="2540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2800" y="5370945"/>
            <a:ext cx="2133600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lang="ja-JP">
                <a:solidFill>
                  <a:srgbClr val="231B1A"/>
                </a:solidFill>
                <a:latin typeface="Yu Gothic"/>
                <a:ea typeface="Yu Gothic"/>
                <a:cs typeface="Yu Gothic"/>
              </a:rPr>
              <a:t>起こり得る事象に備える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20700" y="5654963"/>
            <a:ext cx="3327400" cy="0"/>
          </a:xfrm>
          <a:prstGeom prst="line">
            <a:avLst/>
          </a:prstGeom>
          <a:ln w="9525">
            <a:solidFill>
              <a:srgbClr val="E3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33400" y="5773881"/>
            <a:ext cx="2540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2800" y="5761181"/>
            <a:ext cx="2133600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lang="ja-JP">
                <a:solidFill>
                  <a:srgbClr val="231B1A"/>
                </a:solidFill>
                <a:latin typeface="Yu Gothic"/>
                <a:ea typeface="Yu Gothic"/>
                <a:cs typeface="Yu Gothic"/>
              </a:rPr>
              <a:t>資料の要約・論点整理・壁打ちをする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794000" y="2180936"/>
            <a:ext cx="0" cy="1094509"/>
          </a:xfrm>
          <a:prstGeom prst="line">
            <a:avLst/>
          </a:prstGeom>
          <a:ln w="15875">
            <a:solidFill>
              <a:srgbClr val="A533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794000" y="2180936"/>
            <a:ext cx="63500" cy="0"/>
          </a:xfrm>
          <a:prstGeom prst="line">
            <a:avLst/>
          </a:prstGeom>
          <a:ln w="15875">
            <a:solidFill>
              <a:srgbClr val="A533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794000" y="3275445"/>
            <a:ext cx="63500" cy="0"/>
          </a:xfrm>
          <a:prstGeom prst="line">
            <a:avLst/>
          </a:prstGeom>
          <a:ln w="15875">
            <a:solidFill>
              <a:srgbClr val="A533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2895600" y="2639290"/>
            <a:ext cx="838200" cy="177800"/>
          </a:xfrm>
          <a:prstGeom prst="rect">
            <a:avLst/>
          </a:prstGeom>
          <a:solidFill>
            <a:srgbClr val="A53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1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3UC → 1カード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73400" y="4212936"/>
            <a:ext cx="640080" cy="158750"/>
          </a:xfrm>
          <a:prstGeom prst="rect">
            <a:avLst/>
          </a:prstGeom>
          <a:noFill/>
          <a:ln w="7620">
            <a:solidFill>
              <a:srgbClr val="CABBB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一旦、非搭載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38600" y="1384300"/>
            <a:ext cx="25908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lang="ja-JP" spc="120">
                <a:solidFill>
                  <a:srgbClr val="6E2B30"/>
                </a:solidFill>
                <a:latin typeface="Yu Gothic"/>
                <a:ea typeface="Yu Gothic"/>
                <a:cs typeface="Yu Gothic"/>
              </a:rPr>
              <a:t>お客様との議論で決めたこと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38600" y="1574800"/>
            <a:ext cx="2590800" cy="1244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038600" y="1574800"/>
            <a:ext cx="31750" cy="1244600"/>
          </a:xfrm>
          <a:prstGeom prst="rect">
            <a:avLst/>
          </a:prstGeom>
          <a:solidFill>
            <a:srgbClr val="A53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65600" y="1676400"/>
            <a:ext cx="2032000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lang="ja-JP">
                <a:solidFill>
                  <a:srgbClr val="231B1A"/>
                </a:solidFill>
                <a:latin typeface="Yu Gothic"/>
                <a:ea typeface="Yu Gothic"/>
                <a:cs typeface="Yu Gothic"/>
              </a:rPr>
              <a:t>① 重複の高い3UCを合流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97600" y="1651000"/>
            <a:ext cx="304800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1" lang="ja-JP">
                <a:solidFill>
                  <a:srgbClr val="6E2B30"/>
                </a:solidFill>
                <a:latin typeface="Yu Mincho"/>
                <a:ea typeface="Yu Mincho"/>
                <a:cs typeface="Yu Mincho"/>
              </a:rPr>
              <a:t>−2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65600" y="1866900"/>
            <a:ext cx="23368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旧2・3・4 → 新2「戦略・計画を点検する」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65600" y="2044700"/>
            <a:ext cx="2336800" cy="6985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700" b="0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理由：点検する対象は同じ一つの計画・草案。入口を3回選ばせるより、論理・リスク・過去の指摘を1回で並べて出す方が使い勝手が良い。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038600" y="2921000"/>
            <a:ext cx="2590800" cy="1168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038600" y="2921000"/>
            <a:ext cx="31750" cy="1168400"/>
          </a:xfrm>
          <a:prstGeom prst="rect">
            <a:avLst/>
          </a:prstGeom>
          <a:solidFill>
            <a:srgbClr val="CAB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65600" y="3022600"/>
            <a:ext cx="2032000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lang="ja-JP">
                <a:solidFill>
                  <a:srgbClr val="231B1A"/>
                </a:solidFill>
                <a:latin typeface="Yu Gothic"/>
                <a:ea typeface="Yu Gothic"/>
                <a:cs typeface="Yu Gothic"/>
              </a:rPr>
              <a:t>② 1UCは一旦、非搭載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97600" y="2997200"/>
            <a:ext cx="304800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1" lang="ja-JP">
                <a:solidFill>
                  <a:srgbClr val="6E2B30"/>
                </a:solidFill>
                <a:latin typeface="Yu Mincho"/>
                <a:ea typeface="Yu Mincho"/>
                <a:cs typeface="Yu Mincho"/>
              </a:rPr>
              <a:t>−1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65600" y="3213100"/>
            <a:ext cx="23368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75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旧7「外部変数と業績の関係を解き明かす」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65600" y="3390900"/>
            <a:ext cx="2336800" cy="622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700" b="0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理由：単独のカードでは使う場面が伝わりにくい。まずは乖離検証の中で「なぜ離れたか」を追う機能として、今後の拡張で組み込む。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038600" y="4191000"/>
            <a:ext cx="2590800" cy="1041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038600" y="4191000"/>
            <a:ext cx="31750" cy="1041400"/>
          </a:xfrm>
          <a:prstGeom prst="rect">
            <a:avLst/>
          </a:prstGeom>
          <a:solidFill>
            <a:srgbClr val="8D7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65600" y="4292600"/>
            <a:ext cx="2032000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50" b="1" lang="ja-JP">
                <a:solidFill>
                  <a:srgbClr val="231B1A"/>
                </a:solidFill>
                <a:latin typeface="Yu Gothic"/>
                <a:ea typeface="Yu Gothic"/>
                <a:cs typeface="Yu Gothic"/>
              </a:rPr>
              <a:t>③ 段階の4区分は維持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97600" y="4267200"/>
            <a:ext cx="304800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1" lang="ja-JP">
                <a:solidFill>
                  <a:srgbClr val="6E2B30"/>
                </a:solidFill>
                <a:latin typeface="Yu Mincho"/>
                <a:ea typeface="Yu Mincho"/>
                <a:cs typeface="Yu Mincho"/>
              </a:rPr>
              <a:t>±0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65600" y="4483100"/>
            <a:ext cx="2336800" cy="673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</a:pPr>
            <a:r>
              <a:rPr sz="700" b="0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策定 → 検証 → 動向、そして日常業務。これは経営計画のサイクルそのもので、経営者が機能を探す順番でもあるため、区分と並びは変えない。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038600" y="5511800"/>
            <a:ext cx="2590800" cy="533400"/>
          </a:xfrm>
          <a:prstGeom prst="rect">
            <a:avLst/>
          </a:prstGeom>
          <a:solidFill>
            <a:srgbClr val="6E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91000" y="5600700"/>
            <a:ext cx="2286000" cy="254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lang="ja-JP">
                <a:solidFill>
                  <a:srgbClr val="FAF6F3"/>
                </a:solidFill>
                <a:latin typeface="Yu Mincho"/>
                <a:ea typeface="Yu Mincho"/>
                <a:cs typeface="Yu Mincho"/>
              </a:rPr>
              <a:t>11</a:t>
            </a:r>
            <a:r>
              <a:rPr sz="700" b="0" lang="ja-JP">
                <a:solidFill>
                  <a:srgbClr val="FAF6F3"/>
                </a:solidFill>
                <a:latin typeface="Yu Gothic"/>
                <a:ea typeface="Yu Gothic"/>
                <a:cs typeface="Yu Gothic"/>
              </a:rPr>
              <a:t>UC</a:t>
            </a:r>
            <a:r>
              <a:rPr sz="1300" b="1" lang="ja-JP">
                <a:solidFill>
                  <a:srgbClr val="FAF6F3"/>
                </a:solidFill>
                <a:latin typeface="Yu Mincho"/>
                <a:ea typeface="Yu Mincho"/>
                <a:cs typeface="Yu Mincho"/>
              </a:rPr>
              <a:t> − 2 − 1 ＝ 8</a:t>
            </a:r>
            <a:r>
              <a:rPr sz="700" b="0" lang="ja-JP">
                <a:solidFill>
                  <a:srgbClr val="FAF6F3"/>
                </a:solidFill>
                <a:latin typeface="Yu Gothic"/>
                <a:ea typeface="Yu Gothic"/>
                <a:cs typeface="Yu Gothic"/>
              </a:rPr>
              <a:t>カード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91000" y="5854700"/>
            <a:ext cx="2286000" cy="1524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650" b="0" lang="ja-JP">
                <a:solidFill>
                  <a:srgbClr val="FAF6F3"/>
                </a:solidFill>
                <a:latin typeface="Yu Gothic"/>
                <a:ea typeface="Yu Gothic"/>
                <a:cs typeface="Yu Gothic"/>
              </a:rPr>
              <a:t>数を削る作業ではなく、判断の単位に揃える作業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807200" y="1371600"/>
            <a:ext cx="5054600" cy="4673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959600" y="1473200"/>
            <a:ext cx="3911600" cy="20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lang="ja-JP">
                <a:solidFill>
                  <a:srgbClr val="231B1A"/>
                </a:solidFill>
                <a:latin typeface="Yu Mincho"/>
                <a:ea typeface="Yu Mincho"/>
                <a:cs typeface="Yu Mincho"/>
              </a:rPr>
              <a:t>新バージョン搭載</a:t>
            </a:r>
            <a:r>
              <a:rPr sz="700" b="0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　（今回のアプリ）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871200" y="1485900"/>
            <a:ext cx="838200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050" b="1" lang="ja-JP">
                <a:solidFill>
                  <a:srgbClr val="6E2B30"/>
                </a:solidFill>
                <a:latin typeface="Yu Mincho"/>
                <a:ea typeface="Yu Mincho"/>
                <a:cs typeface="Yu Mincho"/>
              </a:rPr>
              <a:t>8 カード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6807200" y="1752600"/>
            <a:ext cx="5054600" cy="0"/>
          </a:xfrm>
          <a:prstGeom prst="line">
            <a:avLst/>
          </a:prstGeom>
          <a:ln w="9525">
            <a:solidFill>
              <a:srgbClr val="E3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6819900" y="1752600"/>
            <a:ext cx="177800" cy="1689100"/>
          </a:xfrm>
          <a:prstGeom prst="rect">
            <a:avLst/>
          </a:prstGeom>
          <a:solidFill>
            <a:srgbClr val="A53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 vert="eaVert"/>
          <a:lstStyle/>
          <a:p>
            <a:pPr algn="ctr"/>
            <a:r>
              <a:rPr sz="650" b="1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計画の策定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819900" y="3441700"/>
            <a:ext cx="177800" cy="520700"/>
          </a:xfrm>
          <a:prstGeom prst="rect">
            <a:avLst/>
          </a:prstGeom>
          <a:solidFill>
            <a:srgbClr val="2570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 vert="eaVert"/>
          <a:lstStyle/>
          <a:p>
            <a:pPr algn="ctr"/>
            <a:r>
              <a:rPr sz="650" b="1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検証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819900" y="3962400"/>
            <a:ext cx="177800" cy="1562100"/>
          </a:xfrm>
          <a:prstGeom prst="rect">
            <a:avLst/>
          </a:prstGeom>
          <a:solidFill>
            <a:srgbClr val="AC7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 vert="eaVert"/>
          <a:lstStyle/>
          <a:p>
            <a:pPr algn="ctr"/>
            <a:r>
              <a:rPr sz="650" b="1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動向・変化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819900" y="5524500"/>
            <a:ext cx="177800" cy="520700"/>
          </a:xfrm>
          <a:prstGeom prst="rect">
            <a:avLst/>
          </a:prstGeom>
          <a:solidFill>
            <a:srgbClr val="8D7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 vert="eaVert"/>
          <a:lstStyle/>
          <a:p>
            <a:pPr algn="ctr"/>
            <a:r>
              <a:rPr sz="650" b="1" lang="ja-JP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日常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010400" y="1892300"/>
            <a:ext cx="2286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264400" y="1854200"/>
            <a:ext cx="3378200" cy="165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lang="ja-JP">
                <a:solidFill>
                  <a:srgbClr val="231B1A"/>
                </a:solidFill>
                <a:latin typeface="Yu Gothic"/>
                <a:ea typeface="Yu Gothic"/>
                <a:cs typeface="Yu Gothic"/>
              </a:rPr>
              <a:t>戦略・計画の前提を洗い直す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64400" y="2019300"/>
            <a:ext cx="3378200" cy="27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70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旧1をそのまま。新計画の起点として位置づけを明確化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693400" y="1879600"/>
            <a:ext cx="1041400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650" b="0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計画の策定・</a:t>
            </a:r>
          </a:p>
          <a:p>
            <a:pPr algn="r">
              <a:lnSpc>
                <a:spcPct val="130000"/>
              </a:lnSpc>
            </a:pPr>
            <a:r>
              <a:rPr sz="650" b="0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確認を支援する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6997700" y="2273300"/>
            <a:ext cx="4851400" cy="0"/>
          </a:xfrm>
          <a:prstGeom prst="line">
            <a:avLst/>
          </a:prstGeom>
          <a:ln w="9525">
            <a:solidFill>
              <a:srgbClr val="E3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7010400" y="2413000"/>
            <a:ext cx="2286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264400" y="2374900"/>
            <a:ext cx="3378200" cy="165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lang="ja-JP">
                <a:solidFill>
                  <a:srgbClr val="231B1A"/>
                </a:solidFill>
                <a:latin typeface="Yu Gothic"/>
                <a:ea typeface="Yu Gothic"/>
                <a:cs typeface="Yu Gothic"/>
              </a:rPr>
              <a:t>戦略・計画を点検する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264400" y="2540000"/>
            <a:ext cx="3378200" cy="27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70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旧2＋3＋4 を合流。1つの計画を3観点で同時に点検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264400" y="2705100"/>
            <a:ext cx="464820" cy="158750"/>
          </a:xfrm>
          <a:prstGeom prst="rect">
            <a:avLst/>
          </a:prstGeom>
          <a:solidFill>
            <a:srgbClr val="F6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論理点検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780020" y="2705100"/>
            <a:ext cx="640080" cy="158750"/>
          </a:xfrm>
          <a:prstGeom prst="rect">
            <a:avLst/>
          </a:prstGeom>
          <a:solidFill>
            <a:srgbClr val="F6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リスク・論点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470900" y="2705100"/>
            <a:ext cx="552450" cy="158750"/>
          </a:xfrm>
          <a:prstGeom prst="rect">
            <a:avLst/>
          </a:prstGeom>
          <a:solidFill>
            <a:srgbClr val="F6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65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過去の指摘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693400" y="2400300"/>
            <a:ext cx="1041400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650" b="0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計画の策定・</a:t>
            </a:r>
          </a:p>
          <a:p>
            <a:pPr algn="r">
              <a:lnSpc>
                <a:spcPct val="130000"/>
              </a:lnSpc>
            </a:pPr>
            <a:r>
              <a:rPr sz="650" b="0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確認を支援する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6997700" y="2921000"/>
            <a:ext cx="4851400" cy="0"/>
          </a:xfrm>
          <a:prstGeom prst="line">
            <a:avLst/>
          </a:prstGeom>
          <a:ln w="9525">
            <a:solidFill>
              <a:srgbClr val="E3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7010400" y="3060700"/>
            <a:ext cx="2286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264400" y="3022600"/>
            <a:ext cx="3378200" cy="165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lang="ja-JP">
                <a:solidFill>
                  <a:srgbClr val="231B1A"/>
                </a:solidFill>
                <a:latin typeface="Yu Gothic"/>
                <a:ea typeface="Yu Gothic"/>
                <a:cs typeface="Yu Gothic"/>
              </a:rPr>
              <a:t>グループ横断で計画を束ねる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264400" y="3187700"/>
            <a:ext cx="3378200" cy="27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70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旧5をそのまま。グループ経営層専用の横串点検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693400" y="3048000"/>
            <a:ext cx="1041400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650" b="0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計画の策定・</a:t>
            </a:r>
          </a:p>
          <a:p>
            <a:pPr algn="r">
              <a:lnSpc>
                <a:spcPct val="130000"/>
              </a:lnSpc>
            </a:pPr>
            <a:r>
              <a:rPr sz="650" b="0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確認を支援する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6997700" y="3441700"/>
            <a:ext cx="4851400" cy="0"/>
          </a:xfrm>
          <a:prstGeom prst="line">
            <a:avLst/>
          </a:prstGeom>
          <a:ln w="9525">
            <a:solidFill>
              <a:srgbClr val="E3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7010400" y="3581400"/>
            <a:ext cx="2286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264400" y="3543300"/>
            <a:ext cx="3378200" cy="165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lang="ja-JP">
                <a:solidFill>
                  <a:srgbClr val="231B1A"/>
                </a:solidFill>
                <a:latin typeface="Yu Gothic"/>
                <a:ea typeface="Yu Gothic"/>
                <a:cs typeface="Yu Gothic"/>
              </a:rPr>
              <a:t>戦略・計画と実態の乖離を捉える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264400" y="3708400"/>
            <a:ext cx="3378200" cy="27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70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旧6をそのまま。旧7は将来ここに「理由の分析」として合流予定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693400" y="3568700"/>
            <a:ext cx="1041400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650" b="0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計画と実態の</a:t>
            </a:r>
          </a:p>
          <a:p>
            <a:pPr algn="r">
              <a:lnSpc>
                <a:spcPct val="130000"/>
              </a:lnSpc>
            </a:pPr>
            <a:r>
              <a:rPr sz="650" b="0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乖離を検証する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6997700" y="3962400"/>
            <a:ext cx="4851400" cy="0"/>
          </a:xfrm>
          <a:prstGeom prst="line">
            <a:avLst/>
          </a:prstGeom>
          <a:ln w="9525">
            <a:solidFill>
              <a:srgbClr val="E3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7010400" y="4102100"/>
            <a:ext cx="2286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264400" y="4064000"/>
            <a:ext cx="3378200" cy="165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lang="ja-JP">
                <a:solidFill>
                  <a:srgbClr val="231B1A"/>
                </a:solidFill>
                <a:latin typeface="Yu Gothic"/>
                <a:ea typeface="Yu Gothic"/>
                <a:cs typeface="Yu Gothic"/>
              </a:rPr>
              <a:t>変化の予兆をいち早く掴む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264400" y="4229100"/>
            <a:ext cx="3378200" cy="27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70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旧8をそのまま。6事業の重要指標を継続監視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693400" y="4089400"/>
            <a:ext cx="1041400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650" b="0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世の中の動向・</a:t>
            </a:r>
          </a:p>
          <a:p>
            <a:pPr algn="r">
              <a:lnSpc>
                <a:spcPct val="130000"/>
              </a:lnSpc>
            </a:pPr>
            <a:r>
              <a:rPr sz="650" b="0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変化を知る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6997700" y="4483100"/>
            <a:ext cx="4851400" cy="0"/>
          </a:xfrm>
          <a:prstGeom prst="line">
            <a:avLst/>
          </a:prstGeom>
          <a:ln w="9525">
            <a:solidFill>
              <a:srgbClr val="E3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7010400" y="4622800"/>
            <a:ext cx="2286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264400" y="4584700"/>
            <a:ext cx="3378200" cy="165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lang="ja-JP">
                <a:solidFill>
                  <a:srgbClr val="231B1A"/>
                </a:solidFill>
                <a:latin typeface="Yu Gothic"/>
                <a:ea typeface="Yu Gothic"/>
                <a:cs typeface="Yu Gothic"/>
              </a:rPr>
              <a:t>発生事象の影響と打ち手を導出する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264400" y="4749800"/>
            <a:ext cx="3378200" cy="27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70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旧9をそのまま。掴んだシグナルからの相談口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693400" y="4610100"/>
            <a:ext cx="1041400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650" b="0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世の中の動向・</a:t>
            </a:r>
          </a:p>
          <a:p>
            <a:pPr algn="r">
              <a:lnSpc>
                <a:spcPct val="130000"/>
              </a:lnSpc>
            </a:pPr>
            <a:r>
              <a:rPr sz="650" b="0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変化を知る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6997700" y="5003800"/>
            <a:ext cx="4851400" cy="0"/>
          </a:xfrm>
          <a:prstGeom prst="line">
            <a:avLst/>
          </a:prstGeom>
          <a:ln w="9525">
            <a:solidFill>
              <a:srgbClr val="E3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7010400" y="5143500"/>
            <a:ext cx="2286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264400" y="5105400"/>
            <a:ext cx="3378200" cy="165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lang="ja-JP">
                <a:solidFill>
                  <a:srgbClr val="231B1A"/>
                </a:solidFill>
                <a:latin typeface="Yu Gothic"/>
                <a:ea typeface="Yu Gothic"/>
                <a:cs typeface="Yu Gothic"/>
              </a:rPr>
              <a:t>起こり得る事象に備える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264400" y="5270500"/>
            <a:ext cx="3378200" cy="27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70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旧10をそのまま。波及シミュレーションの入口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693400" y="5130800"/>
            <a:ext cx="1041400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650" b="0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世の中の動向・</a:t>
            </a:r>
          </a:p>
          <a:p>
            <a:pPr algn="r">
              <a:lnSpc>
                <a:spcPct val="130000"/>
              </a:lnSpc>
            </a:pPr>
            <a:r>
              <a:rPr sz="650" b="0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変化を知る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6997700" y="5524500"/>
            <a:ext cx="4851400" cy="0"/>
          </a:xfrm>
          <a:prstGeom prst="line">
            <a:avLst/>
          </a:prstGeom>
          <a:ln w="9525">
            <a:solidFill>
              <a:srgbClr val="E3D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7010400" y="5664200"/>
            <a:ext cx="228600" cy="152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1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264400" y="5626100"/>
            <a:ext cx="3378200" cy="165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lang="ja-JP">
                <a:solidFill>
                  <a:srgbClr val="231B1A"/>
                </a:solidFill>
                <a:latin typeface="Yu Gothic"/>
                <a:ea typeface="Yu Gothic"/>
                <a:cs typeface="Yu Gothic"/>
              </a:rPr>
              <a:t>資料の要約・論点整理・壁打ちをする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264400" y="5791200"/>
            <a:ext cx="3378200" cy="279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70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旧11をそのまま。段階に属さない共通の道具として常時表示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693400" y="5651500"/>
            <a:ext cx="1041400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</a:pPr>
            <a:r>
              <a:rPr sz="650" b="0" lang="ja-JP">
                <a:solidFill>
                  <a:srgbClr val="8D7D78"/>
                </a:solidFill>
                <a:latin typeface="Yu Gothic"/>
                <a:ea typeface="Yu Gothic"/>
                <a:cs typeface="Yu Gothic"/>
              </a:rPr>
              <a:t>経営AI相談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30200" y="6172200"/>
            <a:ext cx="11531600" cy="406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82600" y="6286500"/>
            <a:ext cx="431800" cy="177800"/>
          </a:xfrm>
          <a:prstGeom prst="rect">
            <a:avLst/>
          </a:prstGeom>
          <a:solidFill>
            <a:srgbClr val="6E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700" b="1" lang="ja-JP" spc="10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結果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41400" y="6299200"/>
            <a:ext cx="4191000" cy="17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ホーム画面は</a:t>
            </a:r>
            <a:r>
              <a:rPr sz="800" b="1" lang="ja-JP">
                <a:solidFill>
                  <a:srgbClr val="231B1A"/>
                </a:solidFill>
                <a:latin typeface="Yu Gothic"/>
                <a:ea typeface="Yu Gothic"/>
                <a:cs typeface="Yu Gothic"/>
              </a:rPr>
              <a:t>3つの入口＋常時1本の帯</a:t>
            </a:r>
            <a:r>
              <a:rPr sz="800" b="0" lang="ja-JP">
                <a:solidFill>
                  <a:srgbClr val="5B4D4A"/>
                </a:solidFill>
                <a:latin typeface="Yu Gothic"/>
                <a:ea typeface="Yu Gothic"/>
                <a:cs typeface="Yu Gothic"/>
              </a:rPr>
              <a:t>に収まり、8カードはその中に格納される。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0490200" y="6261100"/>
            <a:ext cx="1219200" cy="228600"/>
          </a:xfrm>
          <a:prstGeom prst="rect">
            <a:avLst/>
          </a:prstGeom>
          <a:solidFill>
            <a:srgbClr val="F5EFEB"/>
          </a:solidFill>
          <a:ln w="9525">
            <a:solidFill>
              <a:srgbClr val="E3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lang="ja-JP">
                <a:solidFill>
                  <a:srgbClr val="8D7D78"/>
                </a:solidFill>
                <a:latin typeface="Yu Mincho"/>
                <a:ea typeface="Yu Mincho"/>
                <a:cs typeface="Yu Mincho"/>
              </a:rPr>
              <a:t>1 </a:t>
            </a:r>
            <a:r>
              <a:rPr sz="700" b="0" lang="ja-JP">
                <a:solidFill>
                  <a:srgbClr val="231B1A"/>
                </a:solidFill>
                <a:latin typeface="Yu Gothic"/>
                <a:ea typeface="Yu Gothic"/>
                <a:cs typeface="Yu Gothic"/>
              </a:rPr>
              <a:t>経営AI相談（常時）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490200" y="6261100"/>
            <a:ext cx="1219200" cy="31750"/>
          </a:xfrm>
          <a:prstGeom prst="rect">
            <a:avLst/>
          </a:prstGeom>
          <a:solidFill>
            <a:srgbClr val="8D7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027160" y="6261100"/>
            <a:ext cx="1386839" cy="228600"/>
          </a:xfrm>
          <a:prstGeom prst="rect">
            <a:avLst/>
          </a:prstGeom>
          <a:solidFill>
            <a:srgbClr val="F5EFEB"/>
          </a:solidFill>
          <a:ln w="9525">
            <a:solidFill>
              <a:srgbClr val="E3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lang="ja-JP">
                <a:solidFill>
                  <a:srgbClr val="AC7A12"/>
                </a:solidFill>
                <a:latin typeface="Yu Mincho"/>
                <a:ea typeface="Yu Mincho"/>
                <a:cs typeface="Yu Mincho"/>
              </a:rPr>
              <a:t>3 </a:t>
            </a:r>
            <a:r>
              <a:rPr sz="700" b="0" lang="ja-JP">
                <a:solidFill>
                  <a:srgbClr val="231B1A"/>
                </a:solidFill>
                <a:latin typeface="Yu Gothic"/>
                <a:ea typeface="Yu Gothic"/>
                <a:cs typeface="Yu Gothic"/>
              </a:rPr>
              <a:t>世の中の動向・変化を知る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027160" y="6261100"/>
            <a:ext cx="1386839" cy="31750"/>
          </a:xfrm>
          <a:prstGeom prst="rect">
            <a:avLst/>
          </a:prstGeom>
          <a:solidFill>
            <a:srgbClr val="AC7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7480300" y="6261100"/>
            <a:ext cx="1470660" cy="228600"/>
          </a:xfrm>
          <a:prstGeom prst="rect">
            <a:avLst/>
          </a:prstGeom>
          <a:solidFill>
            <a:srgbClr val="F5EFEB"/>
          </a:solidFill>
          <a:ln w="9525">
            <a:solidFill>
              <a:srgbClr val="E3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lang="ja-JP">
                <a:solidFill>
                  <a:srgbClr val="25709F"/>
                </a:solidFill>
                <a:latin typeface="Yu Mincho"/>
                <a:ea typeface="Yu Mincho"/>
                <a:cs typeface="Yu Mincho"/>
              </a:rPr>
              <a:t>1 </a:t>
            </a:r>
            <a:r>
              <a:rPr sz="700" b="0" lang="ja-JP">
                <a:solidFill>
                  <a:srgbClr val="231B1A"/>
                </a:solidFill>
                <a:latin typeface="Yu Gothic"/>
                <a:ea typeface="Yu Gothic"/>
                <a:cs typeface="Yu Gothic"/>
              </a:rPr>
              <a:t>計画と実態の乖離を検証する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480300" y="6261100"/>
            <a:ext cx="1470660" cy="31750"/>
          </a:xfrm>
          <a:prstGeom prst="rect">
            <a:avLst/>
          </a:prstGeom>
          <a:solidFill>
            <a:srgbClr val="2570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5933440" y="6261100"/>
            <a:ext cx="1470660" cy="228600"/>
          </a:xfrm>
          <a:prstGeom prst="rect">
            <a:avLst/>
          </a:prstGeom>
          <a:solidFill>
            <a:srgbClr val="F5EFEB"/>
          </a:solidFill>
          <a:ln w="9525">
            <a:solidFill>
              <a:srgbClr val="E3D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lang="ja-JP">
                <a:solidFill>
                  <a:srgbClr val="A5333E"/>
                </a:solidFill>
                <a:latin typeface="Yu Mincho"/>
                <a:ea typeface="Yu Mincho"/>
                <a:cs typeface="Yu Mincho"/>
              </a:rPr>
              <a:t>3 </a:t>
            </a:r>
            <a:r>
              <a:rPr sz="700" b="0" lang="ja-JP">
                <a:solidFill>
                  <a:srgbClr val="231B1A"/>
                </a:solidFill>
                <a:latin typeface="Yu Gothic"/>
                <a:ea typeface="Yu Gothic"/>
                <a:cs typeface="Yu Gothic"/>
              </a:rPr>
              <a:t>計画の策定・確認を支援する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933440" y="6261100"/>
            <a:ext cx="1470660" cy="31750"/>
          </a:xfrm>
          <a:prstGeom prst="rect">
            <a:avLst/>
          </a:prstGeom>
          <a:solidFill>
            <a:srgbClr val="A533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11UCから8カードへ</dc:title>
  <dc:subject>AI経営診断：ホーム画面のユースケース整理（11UC → 8カード）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ja-JP</dc:language>
</cp:coreProperties>
</file>