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ja-JP"/>
              <a:t>7/23/19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Click to edit Master text styles</a:t>
            </a:r>
          </a:p>
          <a:p>
            <a:pPr lvl="1"/>
            <a:r>
              <a:rPr lang="ja-JP"/>
              <a:t>Second level</a:t>
            </a:r>
          </a:p>
          <a:p>
            <a:pPr lvl="2"/>
            <a:r>
              <a:rPr lang="ja-JP"/>
              <a:t>Third level</a:t>
            </a:r>
          </a:p>
          <a:p>
            <a:pPr lvl="3"/>
            <a:r>
              <a:rPr lang="ja-JP"/>
              <a:t>Fourth level</a:t>
            </a:r>
          </a:p>
          <a:p>
            <a:pPr lvl="4"/>
            <a:r>
              <a:rPr lang="ja-JP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ja-JP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/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/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/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3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/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4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7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PoCから本番への2段階リリース計画</a:t>
            </a:r>
            <a:endParaRPr lang="ja-JP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5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HHグループ AI経営診断アプリ ｜ IT部署引き継ぎ用 ｜ 現状PoCを起点に「流用・追加・置換」で差分を整理（2026年8月・PoC実装コードの確認に基づく）</a:t>
            </a:r>
            <a:endParaRPr lang="ja-JP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7F4F3"/>
          </a:solidFill>
          <a:ln w="12700">
            <a:solidFill>
              <a:srgbClr val="BDB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spc="200" kern="0" dirty="0">
                <a:solidFill>
                  <a:srgbClr val="6A6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7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PoC（現状）</a:t>
            </a:r>
            <a:endParaRPr lang="ja-JP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50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〜2026年9月</a:t>
            </a:r>
            <a:endParaRPr lang="ja-JP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sz="115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単一EC2上のGradioアプリ。機能価値の検証が目的。少数の関係者がBasic認証で利用。</a:t>
            </a:r>
            <a:endParaRPr lang="ja-JP" sz="1150" dirty="0"/>
          </a:p>
        </p:txBody>
      </p:sp>
      <p:sp>
        <p:nvSpPr>
          <p:cNvPr id="9" name="Text 7"/>
          <p:cNvSpPr/>
          <p:nvPr/>
        </p:nvSpPr>
        <p:spPr>
          <a:xfrm>
            <a:off x="4050792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800" b="1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ja-JP" sz="1800" dirty="0"/>
          </a:p>
        </p:txBody>
      </p:sp>
      <p:sp>
        <p:nvSpPr>
          <p:cNvPr id="10" name="Shape 8"/>
          <p:cNvSpPr/>
          <p:nvPr/>
        </p:nvSpPr>
        <p:spPr>
          <a:xfrm>
            <a:off x="4389120" y="1481328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BDB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824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spc="200" kern="0" dirty="0">
                <a:solidFill>
                  <a:srgbClr val="6A6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ja-JP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9385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7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セキュア公開リリース</a:t>
            </a:r>
            <a:endParaRPr lang="ja-JP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50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2026年10月〜</a:t>
            </a:r>
            <a:endParaRPr lang="ja-JP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sz="115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現行フレーム・構造をそのまま流用し、認証とガードレールを追加開発。限定部署で実運用を開始し、利用実績と改善要望を蓄積。</a:t>
            </a:r>
            <a:endParaRPr lang="ja-JP" sz="1150" dirty="0"/>
          </a:p>
        </p:txBody>
      </p:sp>
      <p:sp>
        <p:nvSpPr>
          <p:cNvPr id="15" name="Text 13"/>
          <p:cNvSpPr/>
          <p:nvPr/>
        </p:nvSpPr>
        <p:spPr>
          <a:xfrm>
            <a:off x="7891272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sz="1800" b="1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ja-JP" sz="1800" dirty="0"/>
          </a:p>
        </p:txBody>
      </p:sp>
      <p:sp>
        <p:nvSpPr>
          <p:cNvPr id="16" name="Shape 14"/>
          <p:cNvSpPr/>
          <p:nvPr/>
        </p:nvSpPr>
        <p:spPr>
          <a:xfrm>
            <a:off x="8229600" y="1481328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BDB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6824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spc="200" kern="0" dirty="0">
                <a:solidFill>
                  <a:srgbClr val="6A6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ja-JP" sz="1100" dirty="0"/>
          </a:p>
        </p:txBody>
      </p:sp>
      <p:sp>
        <p:nvSpPr>
          <p:cNvPr id="18" name="Text 16"/>
          <p:cNvSpPr/>
          <p:nvPr/>
        </p:nvSpPr>
        <p:spPr>
          <a:xfrm>
            <a:off x="8458200" y="19385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7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全社基盤リリース</a:t>
            </a:r>
            <a:endParaRPr lang="ja-JP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22860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050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時期はSTAGE 1の実績を見て確定</a:t>
            </a:r>
            <a:endParaRPr lang="ja-JP" sz="1050" dirty="0"/>
          </a:p>
        </p:txBody>
      </p:sp>
      <p:sp>
        <p:nvSpPr>
          <p:cNvPr id="20" name="Text 18"/>
          <p:cNvSpPr/>
          <p:nvPr/>
        </p:nvSpPr>
        <p:spPr>
          <a:xfrm>
            <a:off x="845820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sz="115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データ格納をAWSマネージドサービスへ移行し、アプリフレームを刷新。大規模データ・多部署ユーザー・部署別権限に対応。</a:t>
            </a:r>
            <a:endParaRPr lang="ja-JP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凡例：</a:t>
            </a:r>
            <a:pPr indent="0" marL="0">
              <a:buNone/>
            </a:pPr>
            <a:r>
              <a:rPr lang="ja-JP" sz="1100" b="1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【流用】</a:t>
            </a:r>
            <a:pPr indent="0" marL="0"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PoCのまま使う（作業なし〜設定変更のみ）　</a:t>
            </a:r>
            <a:pPr indent="0" marL="0">
              <a:buNone/>
            </a:pPr>
            <a:r>
              <a:rPr lang="ja-JP" sz="1100" b="1" dirty="0">
                <a:solidFill>
                  <a:srgbClr val="6B4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【追加】</a:t>
            </a:r>
            <a:pPr indent="0" marL="0"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その段階での追加開発・構築　</a:t>
            </a:r>
            <a:pPr indent="0" marL="0">
              <a:buNone/>
            </a:pPr>
            <a:r>
              <a:rPr lang="ja-JP" sz="1100" b="1" dirty="0">
                <a:solidFill>
                  <a:srgbClr val="8C1D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【置換】</a:t>
            </a:r>
            <a:pPr indent="0" marL="0"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PoC構成を廃止して移行</a:t>
            </a:r>
            <a:endParaRPr lang="ja-JP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91672" cy="1371600"/>
          </a:xfrm>
          <a:prstGeom prst="rect">
            <a:avLst/>
          </a:prstGeom>
          <a:solidFill>
            <a:srgbClr val="F5E9E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68172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300" b="1" dirty="0">
                <a:solidFill>
                  <a:srgbClr val="5A17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段階分けの原則
</a:t>
            </a:r>
            <a:endParaRPr lang="ja-JP" sz="1300" dirty="0"/>
          </a:p>
          <a:p>
            <a:pPr indent="0" marL="0">
              <a:lnSpc>
                <a:spcPct val="135000"/>
              </a:lnSpc>
              <a:buNone/>
            </a:pPr>
            <a:r>
              <a:rPr lang="ja-JP" sz="1150" dirty="0">
                <a:solidFill>
                  <a:srgbClr val="5A17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STAGE 1は「コードを変えず、周りを固める」＝追加のみで置換なし。STAGE 2は「器を入れ替え、中身のロジックは持ち越す」＝置換はインフラ層に限定し、診断ロジック・プロンプト・データ取得の資産は流用。この原則により、STAGE 1の追加投資（SSO・ガードレール・監査ログ・ナビ画面）はSTAGE 2にそのまま持ち越され、無駄にならない。</a:t>
            </a:r>
            <a:endParaRPr lang="ja-JP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950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前提・未確定事項：IdPの選定（Entra ID等）／AWSアカウント・ネットワーク方針／内部KPI連携のデータオーナーと接続方式／STAGE 2の実施時期はSTAGE 1の利用実績で判断</a:t>
            </a:r>
            <a:endParaRPr lang="ja-JP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軸別の差分マトリクス（1/2）</a:t>
            </a:r>
            <a:endParaRPr lang="ja-JP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127248"/>
                <a:gridCol w="3273552"/>
                <a:gridCol w="3273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軸</a:t>
                      </a:r>
                      <a:endParaRPr lang="ja-JP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PoC（現状・起点）</a:t>
                      </a:r>
                      <a:endParaRPr lang="ja-JP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STAGE 1：セキュア公開</a:t>
                      </a:r>
                      <a:endParaRPr lang="ja-JP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STAGE 2：全社基盤</a:t>
                      </a:r>
                      <a:endParaRPr lang="ja-JP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ゴール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機能価値の検証。経営層に「使える」実感を作る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現行機能を安全に本番公開し、限定部署で実運用開始。セキュリティ審査を通す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グループ全社で使える共通基盤。大規模データ・多部署・高可用に耐える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フレームワーク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Gradio 6（Python単一プロセス）。画面遷移はクライアントJS。ナビページ含め画面資産あり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Gradio・画面構成・全機能コードをそのまま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ユースケース・ナビ（ホーム画面）の組み込み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8C1D1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【置換】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Web標準構成へ刷新（React/Next.js＋FastAPI、ECS等でオートスケール）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診断・プロンプト等のPythonロジックはAPI化して継続利用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RAG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フレームワーク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自前実装（knowledge_rag.py）：SQLite FTS5で候補600件→Embedding再評価。モデルはstatic-embedding-japanese（CPU）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検索方式・索引・Embeddingモデルをそのまま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索引再構築の運用手順書化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8C1D1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【置換】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マネージドベクトル検索へ移行（OpenSearch Serverless／Aurora pgvector／Bedrock Knowledge Bases）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索引化の非同期ジョブ化・部署別コレクション分離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データベース・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格納場所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EC2ローカルのruntime_data/（CSV・JSON・SQLite）。回答履歴や問答マスターもJSONファイル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ファイル構成をそのまま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定期バックアップ、永続ボリューム分離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8C1D1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【置換】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S3（原票・文書レイク）＋RDB（履歴・問答・設定）へ移行。スキーマ設計と移行ツール開発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パイプライン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cronでrefresh_data.pyを日次実行。周期判定・差分更新。失敗時は前回値を継続表示（通知なし）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取得ロジック・周期設計をそのまま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取得失敗の通知、実行ログの保全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8C1D1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【置換】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EventBridge＋ECS/Lambdaへジョブ基盤化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内部KPI連携パイプライン（基幹・DWH→S3）の新設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軸別の差分マトリクス（2/2）</a:t>
            </a:r>
            <a:endParaRPr lang="ja-JP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127248"/>
                <a:gridCol w="3273552"/>
                <a:gridCol w="3273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軸</a:t>
                      </a:r>
                      <a:endParaRPr lang="ja-JP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PoC（現状・起点）</a:t>
                      </a:r>
                      <a:endParaRPr lang="ja-JP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STAGE 1：セキュア公開</a:t>
                      </a:r>
                      <a:endParaRPr lang="ja-JP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STAGE 2：全社基盤</a:t>
                      </a:r>
                      <a:endParaRPr lang="ja-JP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LLM接続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Bedrock経由Claude（anthropic.claude-opus-4-8）。ai_client.pyに一元化、envで切替可。Token集計実装済み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接続構成をそのまま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APIキーのSecrets Manager移行、コスト上限アラート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Bedrock接続を継続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用途別モデル使い分け・部署別コスト配賦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認証・認可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Basic認証のみ（.envに平文。共有アカウント運用。未設定なら起動拒否）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SSO/社内IdP連携（ALB＋OIDC等）で個人アカウント化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管理者/利用者のロール分離、セッション管理、HTTPS常時化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部署別RBAC（データ・機能の可視範囲制御）、グループ各社アカウント統合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ガードレール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プロンプト内の共通ルールのみ（根拠のない数値の禁止、出所区分）。株主QAには断定表現の再スキャンあり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入出力ガードレール：インジェクション対策、機密・個人情報マスキング、Bedrock Guardrails検証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操作・AI利用の監査ログ、レート制限、利用ポリシー表示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STAGE 1のガードレールを継続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部署間データ分離境界（テナント制御）、DLP連携、定期レッドチーミング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投入データ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公開12ソース＋HHHD公式IR・有報・登録内部資料・事例・過去問答。内部KPIは全件未連携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現行データセットのまま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利用部署の内部資料の登録運用（手順とデータ責任の取り決め）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内部KPIの実データ連携（6事業・基幹/DWH）、経営会議議事録（UC4解禁）、部署別大規模文書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想定ユーザー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PoC関係者数名（経営企画・一部役員。共有アカウント）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限定部署 〜数十名（個人アカウント）。同時利用は現行の単一プロセス性能の範囲内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多部署・グループ各社 数百名。オートスケールで同時利用・ピーク対応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インフラ・運用</a:t>
                      </a:r>
                      <a:endParaRPr lang="ja-JP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単一EC2、手動デプロイ、監視なし</a:t>
                      </a:r>
                      <a:endParaRPr lang="ja-JP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単一EC2構成を維持
</a:t>
                      </a:r>
                      <a:endParaRPr lang="ja-JP" sz="950" dirty="0"/>
                    </a:p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ALB＋HTTPS、死活監視、バックアップ、運用手引き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950" b="1" dirty="0">
                          <a:solidFill>
                            <a:srgbClr val="8C1D1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【置換】</a:t>
                      </a:r>
                      <a:pPr indent="0" marL="0">
                        <a:buNone/>
                      </a:pPr>
                      <a:r>
                        <a:rPr lang="ja-JP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コンテナ化＋IaC、CI/CD、複数AZ、ステージング環境</a:t>
                      </a:r>
                      <a:endParaRPr lang="ja-JP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2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追加作業一覧（差分のみ）</a:t>
            </a:r>
            <a:endParaRPr lang="ja-JP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BDB3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STAGE 1：セキュア公開リリース（2026年10月〜）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SSO/IdP連携：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ALB＋OIDC（またはリバースプロキシ）で個人認証化、ロール分離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入出力ガードレール：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インジェクション対策・マスキング・Bedrock Guardrails検証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監査ログ：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ログイン・操作・AI利用（既存Token集計を活用）の記録と保管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秘匿情報管理：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APIキー・資格情報のSecrets Manager移行（.env平文の廃止）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ネットワーク：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HTTPS常時化、社内アクセス制限（VPN/IP）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運用整備：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バックアップ、死活監視、データ取得失敗の通知、運用手引き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ナビページ組み込み：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確定済みホーム画面（3段階構成）の実装</a:t>
            </a:r>
            <a:endParaRPr lang="ja-JP" sz="1100" dirty="0"/>
          </a:p>
        </p:txBody>
      </p:sp>
      <p:sp>
        <p:nvSpPr>
          <p:cNvPr id="6" name="Shape 4"/>
          <p:cNvSpPr/>
          <p:nvPr/>
        </p:nvSpPr>
        <p:spPr>
          <a:xfrm>
            <a:off x="6199632" y="91440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BDB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11155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4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STAGE 2：全社基盤リリース</a:t>
            </a:r>
            <a:endParaRPr lang="ja-JP" sz="1400" dirty="0"/>
          </a:p>
        </p:txBody>
      </p:sp>
      <p:sp>
        <p:nvSpPr>
          <p:cNvPr id="8" name="Text 6"/>
          <p:cNvSpPr/>
          <p:nvPr/>
        </p:nvSpPr>
        <p:spPr>
          <a:xfrm>
            <a:off x="6473952" y="1517904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アプリ刷新：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フロント/API分離（React等＋FastAPI）、ECS等でオートスケール。診断ロジックはAPI化して流用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データ移行：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runtime_data→S3＋RDB。スキーマ設計・移行ツール・並行稼働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RAG移行：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SQLite→マネージドベクトル検索、索引ジョブの非同期化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パイプライン基盤化：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cron→EventBridge/Lambda、内部KPI連携の新設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権限拡張：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部署別RBAC・テナント分離・DLP連携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UC4解禁：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経営会議議事録の取込と「過去指摘への先回り」カード追加</a:t>
            </a:r>
            <a:endParaRPr lang="ja-JP" sz="1100" dirty="0"/>
          </a:p>
          <a:p>
            <a:pPr indent="0" marL="0">
              <a:lnSpc>
                <a:spcPct val="142000"/>
              </a:lnSpc>
              <a:buNone/>
            </a:pPr>
            <a:r>
              <a:rPr lang="ja-JP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基盤整備：</a:t>
            </a:r>
            <a:pPr indent="0" marL="0">
              <a:lnSpc>
                <a:spcPct val="142000"/>
              </a:lnSpc>
              <a:buNone/>
            </a:pPr>
            <a:r>
              <a:rPr lang="ja-JP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IaC・CI/CD・複数AZ・ステージング・負荷試験</a:t>
            </a:r>
            <a:endParaRPr lang="ja-JP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sz="950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PoC現状の記載は実装コードの確認に基づく（app.py／ai_client.py／knowledge_rag.py／settings.py／refresh_policy.py ほか）。STAGE 2の実施時期はSTAGE 1の利用実績（アクティブ利用者数・同時接続・データ量）で判断。</a:t>
            </a:r>
            <a:endParaRPr lang="ja-JP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2026-08-18T12:50:50Z</dcterms:created>
  <dcterms:modified xsi:type="dcterms:W3CDTF">2026-08-18T12:50:50Z</dcterms:modified>
</cp:coreProperties>
</file>