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81000" y="285750"/>
            <a:ext cx="228600" cy="0"/>
          </a:xfrm>
          <a:prstGeom prst="line">
            <a:avLst/>
          </a:prstGeom>
          <a:ln w="19050">
            <a:solidFill>
              <a:srgbClr val="0746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215900"/>
            <a:ext cx="5334000" cy="152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lang="ja-JP" spc="160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HHグループ AI経営診断アプリ ／ PoCから本番運用へ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381000"/>
            <a:ext cx="8890000" cy="30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85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PoCで終わらせない。</a:t>
            </a:r>
            <a:r>
              <a:rPr sz="1850" b="1" lang="ja-JP">
                <a:solidFill>
                  <a:srgbClr val="07467E"/>
                </a:solidFill>
                <a:latin typeface="Yu Mincho"/>
                <a:ea typeface="Yu Mincho"/>
                <a:cs typeface="Yu Mincho"/>
              </a:rPr>
              <a:t>3段階</a:t>
            </a:r>
            <a:r>
              <a:rPr sz="185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で、IT部門への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21677"/>
            <a:ext cx="8890000" cy="30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85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引き継ぎと全社展開まで設計済み。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9000" y="27940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1 / 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896600" y="254000"/>
            <a:ext cx="0" cy="177800"/>
          </a:xfrm>
          <a:prstGeom prst="line">
            <a:avLst/>
          </a:prstGeom>
          <a:ln w="9525">
            <a:solidFill>
              <a:srgbClr val="C8D1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81000" y="1092200"/>
            <a:ext cx="8382000" cy="330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現在はPoCの最終段階です。10月からのセキュア公開（STAGE 1）に向けて、デロイト・ITEC双方の作業を洗い出し、引き継ぎ資料の整備まで完了しています。全社基盤（STAGE 2）は、STAGE 1の利用実績を見て時期を判断します。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000" y="1498600"/>
            <a:ext cx="3691466" cy="2946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1000" y="1498600"/>
            <a:ext cx="3691466" cy="50800"/>
          </a:xfrm>
          <a:prstGeom prst="rect">
            <a:avLst/>
          </a:prstGeom>
          <a:solidFill>
            <a:srgbClr val="6B7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800" y="1651000"/>
            <a:ext cx="1143000" cy="1397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lang="ja-JP" spc="140">
                <a:solidFill>
                  <a:srgbClr val="6B7684"/>
                </a:solidFill>
                <a:latin typeface="Yu Gothic"/>
                <a:ea typeface="Yu Gothic"/>
                <a:cs typeface="Yu Gothic"/>
              </a:rPr>
              <a:t>STAGE 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8826" y="1625600"/>
            <a:ext cx="1051560" cy="13970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550" b="1" lang="ja-JP">
                <a:solidFill>
                  <a:srgbClr val="6B7684"/>
                </a:solidFill>
                <a:latin typeface="Yu Gothic"/>
                <a:ea typeface="Yu Gothic"/>
                <a:cs typeface="Yu Gothic"/>
              </a:rPr>
              <a:t>実装完了・引き継ぎ準備中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800" y="1828800"/>
            <a:ext cx="3335866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PoC（現状）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8800" y="2070100"/>
            <a:ext cx="3335866" cy="1397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〜 2026年9月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700" y="2260600"/>
            <a:ext cx="3666066" cy="50800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8800" y="2324100"/>
            <a:ext cx="3335866" cy="127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1" lang="ja-JP" spc="140">
                <a:solidFill>
                  <a:srgbClr val="6B7684"/>
                </a:solidFill>
                <a:latin typeface="Yu Gothic"/>
                <a:ea typeface="Yu Gothic"/>
                <a:cs typeface="Yu Gothic"/>
              </a:rPr>
              <a:t>ゴール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800" y="2451100"/>
            <a:ext cx="3335866" cy="30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800" b="0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機能価値の検証。経営層に</a:t>
            </a:r>
            <a:r>
              <a:rPr sz="800" b="1" lang="ja-JP">
                <a:solidFill>
                  <a:srgbClr val="6B7684"/>
                </a:solidFill>
                <a:latin typeface="Yu Gothic"/>
                <a:ea typeface="Yu Gothic"/>
                <a:cs typeface="Yu Gothic"/>
              </a:rPr>
              <a:t>「使える」実感</a:t>
            </a:r>
            <a:r>
              <a:rPr sz="800" b="0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をつくる。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8800" y="2936240"/>
            <a:ext cx="43180" cy="43180"/>
          </a:xfrm>
          <a:prstGeom prst="rect">
            <a:avLst/>
          </a:prstGeom>
          <a:solidFill>
            <a:srgbClr val="6B7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400" y="2882900"/>
            <a:ext cx="3234266" cy="3524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単一EC2上のGradioアプリ。</a:t>
            </a:r>
            <a:r>
              <a:rPr sz="7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全機能が実装済み</a:t>
            </a: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（計画支援・乖離検証・動向／SNS・株主総会Q&amp;A）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8800" y="3301365"/>
            <a:ext cx="43180" cy="43180"/>
          </a:xfrm>
          <a:prstGeom prst="rect">
            <a:avLst/>
          </a:prstGeom>
          <a:solidFill>
            <a:srgbClr val="6B7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400" y="3248025"/>
            <a:ext cx="3234266" cy="214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公開12ソース＋IR・有報・内部資料をRAGで横断検索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8800" y="3528377"/>
            <a:ext cx="43180" cy="43180"/>
          </a:xfrm>
          <a:prstGeom prst="rect">
            <a:avLst/>
          </a:prstGeom>
          <a:solidFill>
            <a:srgbClr val="6B7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0400" y="3475037"/>
            <a:ext cx="3234266" cy="214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少数の関係者がBasic認証で利用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8800" y="3755390"/>
            <a:ext cx="43180" cy="43180"/>
          </a:xfrm>
          <a:prstGeom prst="rect">
            <a:avLst/>
          </a:prstGeom>
          <a:solidFill>
            <a:srgbClr val="6B7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400" y="3702050"/>
            <a:ext cx="3234266" cy="3524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7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引き継ぎ資料は整備済み</a:t>
            </a: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（仕様・アーキテクチャ／開発者／アクセス制御／利用者マニュアル）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0266" y="1498600"/>
            <a:ext cx="3691466" cy="2946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50266" y="1498600"/>
            <a:ext cx="3691466" cy="50800"/>
          </a:xfrm>
          <a:prstGeom prst="rect">
            <a:avLst/>
          </a:prstGeom>
          <a:solidFill>
            <a:srgbClr val="07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28066" y="1651000"/>
            <a:ext cx="1143000" cy="1397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lang="ja-JP" spc="140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STAGE 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00333" y="1625600"/>
            <a:ext cx="901700" cy="139700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55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タスク確定・着手準備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8066" y="1828800"/>
            <a:ext cx="3335866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セキュア公開リリース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28066" y="2070100"/>
            <a:ext cx="3335866" cy="1397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2026年10月 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62966" y="2260600"/>
            <a:ext cx="3666066" cy="508000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28066" y="2324100"/>
            <a:ext cx="3335866" cy="127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1" lang="ja-JP" spc="140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ゴール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8066" y="2451100"/>
            <a:ext cx="3335866" cy="30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800" b="0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現行機能を</a:t>
            </a:r>
            <a:r>
              <a:rPr sz="80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安全に本番公開</a:t>
            </a:r>
            <a:r>
              <a:rPr sz="800" b="0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し、限定部署で実運用を開始。</a:t>
            </a:r>
            <a:r>
              <a:rPr sz="80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セキュリティ審査を通す</a:t>
            </a:r>
            <a:r>
              <a:rPr sz="800" b="0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28066" y="2936240"/>
            <a:ext cx="43180" cy="43180"/>
          </a:xfrm>
          <a:prstGeom prst="rect">
            <a:avLst/>
          </a:prstGeom>
          <a:solidFill>
            <a:srgbClr val="07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29666" y="2882900"/>
            <a:ext cx="3234266" cy="214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現行フレーム・構造を</a:t>
            </a:r>
            <a:r>
              <a:rPr sz="7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そのまま流用</a:t>
            </a: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し、認証とガードレールを追加開発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28066" y="3163252"/>
            <a:ext cx="43180" cy="43180"/>
          </a:xfrm>
          <a:prstGeom prst="rect">
            <a:avLst/>
          </a:prstGeom>
          <a:solidFill>
            <a:srgbClr val="07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9666" y="3109912"/>
            <a:ext cx="3234266" cy="214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個人アカウント（SSO）で限定部署 〜数十名が利用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28066" y="3390265"/>
            <a:ext cx="43180" cy="43180"/>
          </a:xfrm>
          <a:prstGeom prst="rect">
            <a:avLst/>
          </a:prstGeom>
          <a:solidFill>
            <a:srgbClr val="07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9666" y="3336925"/>
            <a:ext cx="3234266" cy="214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機密性A情報を扱える運用（入出力ガードレール・監査ログ）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28066" y="3617277"/>
            <a:ext cx="43180" cy="43180"/>
          </a:xfrm>
          <a:prstGeom prst="rect">
            <a:avLst/>
          </a:prstGeom>
          <a:solidFill>
            <a:srgbClr val="07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29666" y="3563937"/>
            <a:ext cx="3234266" cy="214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利用実績と改善要望を蓄積し、</a:t>
            </a:r>
            <a:r>
              <a:rPr sz="7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STAGE 2の判断材料</a:t>
            </a: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にする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19533" y="1498600"/>
            <a:ext cx="3691466" cy="2946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19533" y="1498600"/>
            <a:ext cx="3691466" cy="50800"/>
          </a:xfrm>
          <a:prstGeom prst="rect">
            <a:avLst/>
          </a:prstGeom>
          <a:solidFill>
            <a:srgbClr val="7A3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97333" y="1651000"/>
            <a:ext cx="1143000" cy="1397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lang="ja-JP" spc="140">
                <a:solidFill>
                  <a:srgbClr val="7A3E12"/>
                </a:solidFill>
                <a:latin typeface="Yu Gothic"/>
                <a:ea typeface="Yu Gothic"/>
                <a:cs typeface="Yu Gothic"/>
              </a:rPr>
              <a:t>STAGE 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414000" y="1625600"/>
            <a:ext cx="1276350" cy="139700"/>
          </a:xfrm>
          <a:prstGeom prst="rect">
            <a:avLst/>
          </a:prstGeom>
          <a:solidFill>
            <a:srgbClr val="F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550" b="1" lang="ja-JP">
                <a:solidFill>
                  <a:srgbClr val="7A3E12"/>
                </a:solidFill>
                <a:latin typeface="Yu Gothic"/>
                <a:ea typeface="Yu Gothic"/>
                <a:cs typeface="Yu Gothic"/>
              </a:rPr>
              <a:t>STAGE 1の実績で時期判断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97333" y="1828800"/>
            <a:ext cx="3335866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全社基盤リリース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97333" y="2070100"/>
            <a:ext cx="3335866" cy="1397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時期は STAGE 1 の実績を見て確定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32233" y="2260600"/>
            <a:ext cx="3666066" cy="508000"/>
          </a:xfrm>
          <a:prstGeom prst="rect">
            <a:avLst/>
          </a:prstGeom>
          <a:solidFill>
            <a:srgbClr val="F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97333" y="2324100"/>
            <a:ext cx="3335866" cy="127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1" lang="ja-JP" spc="140">
                <a:solidFill>
                  <a:srgbClr val="7A3E12"/>
                </a:solidFill>
                <a:latin typeface="Yu Gothic"/>
                <a:ea typeface="Yu Gothic"/>
                <a:cs typeface="Yu Gothic"/>
              </a:rPr>
              <a:t>ゴール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7333" y="2451100"/>
            <a:ext cx="3335866" cy="30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800" b="0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グループ全社で使う</a:t>
            </a:r>
            <a:r>
              <a:rPr sz="800" b="1" lang="ja-JP">
                <a:solidFill>
                  <a:srgbClr val="7A3E12"/>
                </a:solidFill>
                <a:latin typeface="Yu Gothic"/>
                <a:ea typeface="Yu Gothic"/>
                <a:cs typeface="Yu Gothic"/>
              </a:rPr>
              <a:t>共通基盤</a:t>
            </a:r>
            <a:r>
              <a:rPr sz="800" b="0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。大規模データ・多部署・高可用に耐える。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97333" y="2936240"/>
            <a:ext cx="43180" cy="43180"/>
          </a:xfrm>
          <a:prstGeom prst="rect">
            <a:avLst/>
          </a:prstGeom>
          <a:solidFill>
            <a:srgbClr val="7A3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98933" y="2882900"/>
            <a:ext cx="3234266" cy="214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データ格納をAWSマネージドサービスへ移行、アプリフレームを刷新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97333" y="3163252"/>
            <a:ext cx="43180" cy="43180"/>
          </a:xfrm>
          <a:prstGeom prst="rect">
            <a:avLst/>
          </a:prstGeom>
          <a:solidFill>
            <a:srgbClr val="7A3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98933" y="3109912"/>
            <a:ext cx="3234266" cy="214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多部署・グループ各社 数百名、</a:t>
            </a:r>
            <a:r>
              <a:rPr sz="7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部署別権限</a:t>
            </a: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に対応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97333" y="3390265"/>
            <a:ext cx="43180" cy="43180"/>
          </a:xfrm>
          <a:prstGeom prst="rect">
            <a:avLst/>
          </a:prstGeom>
          <a:solidFill>
            <a:srgbClr val="7A3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98933" y="3336925"/>
            <a:ext cx="3234266" cy="214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内部KPIの実データ連携、経営会議議事録の取込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97333" y="3617277"/>
            <a:ext cx="43180" cy="43180"/>
          </a:xfrm>
          <a:prstGeom prst="rect">
            <a:avLst/>
          </a:prstGeom>
          <a:solidFill>
            <a:srgbClr val="7A3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98933" y="3563937"/>
            <a:ext cx="3234266" cy="214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7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診断ロジック・プロンプト・データ取得の資産は</a:t>
            </a:r>
            <a:r>
              <a:rPr sz="7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そのまま持ち越し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1000" y="4622800"/>
            <a:ext cx="114300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58800" y="4775200"/>
            <a:ext cx="76200" cy="76200"/>
          </a:xfrm>
          <a:prstGeom prst="ellipse">
            <a:avLst/>
          </a:prstGeom>
          <a:solidFill>
            <a:srgbClr val="C8D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6600" y="4724400"/>
            <a:ext cx="3429000" cy="20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STAGE 0　</a:t>
            </a:r>
            <a:r>
              <a:rPr sz="7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機能実装・資料整備 ＝ 完了</a:t>
            </a:r>
          </a:p>
        </p:txBody>
      </p:sp>
      <p:sp>
        <p:nvSpPr>
          <p:cNvPr id="64" name="Oval 63"/>
          <p:cNvSpPr/>
          <p:nvPr/>
        </p:nvSpPr>
        <p:spPr>
          <a:xfrm>
            <a:off x="4356100" y="4762500"/>
            <a:ext cx="101600" cy="101600"/>
          </a:xfrm>
          <a:prstGeom prst="ellipse">
            <a:avLst/>
          </a:prstGeom>
          <a:solidFill>
            <a:srgbClr val="07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46600" y="4724400"/>
            <a:ext cx="3429000" cy="20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いま：STAGE 1 の準備　</a:t>
            </a:r>
            <a:r>
              <a:rPr sz="700" b="0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追加作業7件を特定・要件整理済み</a:t>
            </a:r>
          </a:p>
        </p:txBody>
      </p:sp>
      <p:sp>
        <p:nvSpPr>
          <p:cNvPr id="66" name="Oval 65"/>
          <p:cNvSpPr/>
          <p:nvPr/>
        </p:nvSpPr>
        <p:spPr>
          <a:xfrm>
            <a:off x="8178800" y="4775200"/>
            <a:ext cx="76200" cy="76200"/>
          </a:xfrm>
          <a:prstGeom prst="ellipse">
            <a:avLst/>
          </a:prstGeom>
          <a:solidFill>
            <a:srgbClr val="C8D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56600" y="4724400"/>
            <a:ext cx="3429000" cy="20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STAGE 2　</a:t>
            </a:r>
            <a:r>
              <a:rPr sz="7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実績を見て時期を判断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81000" y="5156200"/>
            <a:ext cx="6743700" cy="1041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81000" y="5156200"/>
            <a:ext cx="44450" cy="1041400"/>
          </a:xfrm>
          <a:prstGeom prst="rect">
            <a:avLst/>
          </a:prstGeom>
          <a:solidFill>
            <a:srgbClr val="07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8800" y="5257800"/>
            <a:ext cx="6388100" cy="1397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lang="ja-JP" spc="120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段階分けの原則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8800" y="5422900"/>
            <a:ext cx="6388100" cy="60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70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STAGE 1は</a:t>
            </a:r>
            <a:r>
              <a:rPr sz="70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「コードを変えず、周りを固める」＝追加のみで置換なし</a:t>
            </a:r>
            <a:r>
              <a:rPr sz="70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。STAGE 2は</a:t>
            </a:r>
            <a:r>
              <a:rPr sz="70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「器を入れ替え、中身のロジックは持ち越す」＝置換はインフラ層に限定</a:t>
            </a:r>
            <a:r>
              <a:rPr sz="70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。この原則により、STAGE 1の追加投資（SSO・ガードレール・監査ログ・ナビ画面）はSTAGE 2にそのまま引き継がれ、</a:t>
            </a:r>
            <a:r>
              <a:rPr sz="70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無駄になりません</a:t>
            </a:r>
            <a:r>
              <a:rPr sz="70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。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53300" y="5156200"/>
            <a:ext cx="4457700" cy="1041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353300" y="5156200"/>
            <a:ext cx="44450" cy="1041400"/>
          </a:xfrm>
          <a:prstGeom prst="rect">
            <a:avLst/>
          </a:prstGeom>
          <a:solidFill>
            <a:srgbClr val="7C8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31100" y="5257800"/>
            <a:ext cx="4102100" cy="1397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lang="ja-JP" spc="120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前提・未確定事項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31100" y="5422900"/>
            <a:ext cx="4102100" cy="60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70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IdPの選定（Entra ID 等）／AWSアカウント・ネットワーク方針／内部KPI連携のデータオーナーと接続方式／STAGE 2の実施時期はSTAGE 1の利用実績で判断。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81000" y="285750"/>
            <a:ext cx="228600" cy="0"/>
          </a:xfrm>
          <a:prstGeom prst="line">
            <a:avLst/>
          </a:prstGeom>
          <a:ln w="19050">
            <a:solidFill>
              <a:srgbClr val="0746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215900"/>
            <a:ext cx="5334000" cy="152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lang="ja-JP" spc="160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要件・タスクの洗い出し状況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381000"/>
            <a:ext cx="8890000" cy="30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85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10の軸すべてで、PoC・STAGE 1・STAGE 2の</a:t>
            </a:r>
            <a:r>
              <a:rPr sz="1850" b="1" lang="ja-JP">
                <a:solidFill>
                  <a:srgbClr val="07467E"/>
                </a:solidFill>
                <a:latin typeface="Yu Mincho"/>
                <a:ea typeface="Yu Mincho"/>
                <a:cs typeface="Yu Mincho"/>
              </a:rPr>
              <a:t>要件とタスクを確定</a:t>
            </a:r>
            <a:r>
              <a:rPr sz="185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している。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9000" y="27940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2 / 3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896600" y="254000"/>
            <a:ext cx="0" cy="177800"/>
          </a:xfrm>
          <a:prstGeom prst="line">
            <a:avLst/>
          </a:prstGeom>
          <a:ln w="9525">
            <a:solidFill>
              <a:srgbClr val="C8D1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939800"/>
            <a:ext cx="11430000" cy="635000"/>
          </a:xfrm>
          <a:prstGeom prst="rect">
            <a:avLst/>
          </a:prstGeom>
          <a:solidFill>
            <a:srgbClr val="07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181100"/>
            <a:ext cx="990600" cy="152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1" lang="ja-JP" spc="160">
                <a:solidFill>
                  <a:srgbClr val="FFFFFF"/>
                </a:solidFill>
                <a:latin typeface="Yu Mincho"/>
                <a:ea typeface="Yu Mincho"/>
                <a:cs typeface="Yu Mincho"/>
              </a:rPr>
              <a:t>KEY MESSAGE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01800" y="1092200"/>
            <a:ext cx="0" cy="330200"/>
          </a:xfrm>
          <a:prstGeom prst="line">
            <a:avLst/>
          </a:prstGeom>
          <a:ln w="9525">
            <a:solidFill>
              <a:srgbClr val="5A87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879600" y="1092200"/>
            <a:ext cx="9652000" cy="177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各軸を「流用・追加・置換」の3区分で1件ずつ棚卸しし、抜け漏れなく一覧化しました。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9600" y="1295400"/>
            <a:ext cx="9652000" cy="177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STAGE 1は</a:t>
            </a:r>
            <a:r>
              <a:rPr sz="800" b="1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追加のみ・置換なし</a:t>
            </a:r>
            <a:r>
              <a:rPr sz="800" b="0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。PoCで作った資産は捨てずに本番へ持ち上がります。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1727200"/>
            <a:ext cx="1071880" cy="1778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アプリ／フレームワーク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29080" y="1727200"/>
            <a:ext cx="828040" cy="1778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RAG／検索基盤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33320" y="1727200"/>
            <a:ext cx="1071880" cy="1778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データベース・格納場所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1400" y="1727200"/>
            <a:ext cx="909319" cy="1778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データパイプライン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66920" y="1727200"/>
            <a:ext cx="584200" cy="1778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LLM接続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27320" y="1727200"/>
            <a:ext cx="584200" cy="1778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認証・認可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7720" y="1727200"/>
            <a:ext cx="665480" cy="1778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ガードレール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1727200"/>
            <a:ext cx="584200" cy="1778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投入データ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9800" y="1727200"/>
            <a:ext cx="665480" cy="1778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想定ユーザー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1480" y="1727200"/>
            <a:ext cx="746760" cy="177800"/>
          </a:xfrm>
          <a:prstGeom prst="rect">
            <a:avLst/>
          </a:prstGeom>
          <a:solidFill>
            <a:srgbClr val="FFFFFF"/>
          </a:solidFill>
          <a:ln w="7620">
            <a:solidFill>
              <a:srgbClr val="C8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インフラ・運用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000" y="2057400"/>
            <a:ext cx="11430000" cy="4114800"/>
          </a:xfrm>
          <a:prstGeom prst="rect">
            <a:avLst/>
          </a:prstGeom>
          <a:noFill/>
          <a:ln w="15875">
            <a:solidFill>
              <a:srgbClr val="C8D1D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1000" y="3886200"/>
            <a:ext cx="11430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7C8894"/>
                </a:solidFill>
                <a:latin typeface="Yu Mincho"/>
                <a:ea typeface="Yu Mincho"/>
                <a:cs typeface="Yu Mincho"/>
              </a:rPr>
              <a:t>軸別 要件・タスク整理（詳細マトリクス）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000" y="4140200"/>
            <a:ext cx="11430000" cy="177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7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Excelのスクリーンショットをここに貼り付け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000" y="6273800"/>
            <a:ext cx="11430000" cy="30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凡例：【流用】PoCのまま使う（作業なし〜設定変更のみ）　【追加】その段階での追加開発・構築　【置換】PoC構成を廃止して移行。PoC現状の記載は実装コードの確認に基づく（app.py／ai_client.py／knowledge_rag.py／settings.py／refresh_policy.py ほか）。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81000" y="285750"/>
            <a:ext cx="228600" cy="0"/>
          </a:xfrm>
          <a:prstGeom prst="line">
            <a:avLst/>
          </a:prstGeom>
          <a:ln w="19050">
            <a:solidFill>
              <a:srgbClr val="0746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215900"/>
            <a:ext cx="5334000" cy="152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lang="ja-JP" spc="160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段階別の到達点・割り切り・次のタスク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381000"/>
            <a:ext cx="8890000" cy="30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85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各段階で</a:t>
            </a:r>
            <a:r>
              <a:rPr sz="1850" b="1" lang="ja-JP">
                <a:solidFill>
                  <a:srgbClr val="07467E"/>
                </a:solidFill>
                <a:latin typeface="Yu Mincho"/>
                <a:ea typeface="Yu Mincho"/>
                <a:cs typeface="Yu Mincho"/>
              </a:rPr>
              <a:t>何ができて、何を割り切り、次に誰が何をやるか</a:t>
            </a:r>
            <a:r>
              <a:rPr sz="185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9000" y="27940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3 / 3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896600" y="254000"/>
            <a:ext cx="0" cy="177800"/>
          </a:xfrm>
          <a:prstGeom prst="line">
            <a:avLst/>
          </a:prstGeom>
          <a:ln w="9525">
            <a:solidFill>
              <a:srgbClr val="C8D1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320800" y="838200"/>
            <a:ext cx="3395133" cy="127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1" lang="ja-JP" spc="140">
                <a:solidFill>
                  <a:srgbClr val="6B7684"/>
                </a:solidFill>
                <a:latin typeface="Yu Gothic"/>
                <a:ea typeface="Yu Gothic"/>
                <a:cs typeface="Yu Gothic"/>
              </a:rPr>
              <a:t>STAGE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0800" y="977900"/>
            <a:ext cx="3395133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PoC（現状）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0800" y="1181100"/>
            <a:ext cx="3395133" cy="127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〜 2026年9月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0800" y="1333500"/>
            <a:ext cx="3395133" cy="38100"/>
          </a:xfrm>
          <a:prstGeom prst="rect">
            <a:avLst/>
          </a:prstGeom>
          <a:solidFill>
            <a:srgbClr val="6B7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8333" y="838200"/>
            <a:ext cx="3395133" cy="127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1" lang="ja-JP" spc="140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STAGE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8333" y="977900"/>
            <a:ext cx="3395133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セキュア公開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8333" y="1181100"/>
            <a:ext cx="3395133" cy="127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2026年10月 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68333" y="1333500"/>
            <a:ext cx="3395133" cy="38100"/>
          </a:xfrm>
          <a:prstGeom prst="rect">
            <a:avLst/>
          </a:prstGeom>
          <a:solidFill>
            <a:srgbClr val="07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5866" y="838200"/>
            <a:ext cx="3395133" cy="127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1" lang="ja-JP" spc="140">
                <a:solidFill>
                  <a:srgbClr val="7A3E12"/>
                </a:solidFill>
                <a:latin typeface="Yu Gothic"/>
                <a:ea typeface="Yu Gothic"/>
                <a:cs typeface="Yu Gothic"/>
              </a:rPr>
              <a:t>STAGE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5866" y="977900"/>
            <a:ext cx="3395133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全社基盤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5866" y="1181100"/>
            <a:ext cx="3395133" cy="127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STAGE 1 の実績で判断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5866" y="1333500"/>
            <a:ext cx="3395133" cy="38100"/>
          </a:xfrm>
          <a:prstGeom prst="rect">
            <a:avLst/>
          </a:prstGeom>
          <a:solidFill>
            <a:srgbClr val="7A3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381000" y="1295400"/>
            <a:ext cx="11430000" cy="0"/>
          </a:xfrm>
          <a:prstGeom prst="line">
            <a:avLst/>
          </a:prstGeom>
          <a:ln w="9525">
            <a:solidFill>
              <a:srgbClr val="E2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81000" y="1660525"/>
            <a:ext cx="6858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30000"/>
              </a:lnSpc>
            </a:pPr>
            <a:r>
              <a:rPr sz="90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できること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000" y="1857375"/>
            <a:ext cx="685800" cy="25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6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その段階で</a:t>
            </a:r>
          </a:p>
          <a:p>
            <a:pPr algn="r">
              <a:lnSpc>
                <a:spcPct val="135000"/>
              </a:lnSpc>
            </a:pPr>
            <a:r>
              <a:rPr sz="6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提供できる価値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68400" y="1320800"/>
            <a:ext cx="0" cy="1041400"/>
          </a:xfrm>
          <a:prstGeom prst="line">
            <a:avLst/>
          </a:prstGeom>
          <a:ln w="9525">
            <a:solidFill>
              <a:srgbClr val="C8D1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320800" y="1412240"/>
            <a:ext cx="43180" cy="43180"/>
          </a:xfrm>
          <a:prstGeom prst="rect">
            <a:avLst/>
          </a:prstGeom>
          <a:solidFill>
            <a:srgbClr val="6B7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22400" y="135890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全機能が動く（計画支援・乖離検証・動向／SNS・株主総会Q&amp;A）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20800" y="1584960"/>
            <a:ext cx="43180" cy="43180"/>
          </a:xfrm>
          <a:prstGeom prst="rect">
            <a:avLst/>
          </a:prstGeom>
          <a:solidFill>
            <a:srgbClr val="6B7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2400" y="153162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公開12ソース＋IR・有報・内部資料の横断検索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0800" y="1757679"/>
            <a:ext cx="43180" cy="43180"/>
          </a:xfrm>
          <a:prstGeom prst="rect">
            <a:avLst/>
          </a:prstGeom>
          <a:solidFill>
            <a:srgbClr val="6B7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22400" y="1704339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経営層への価値検証と、改善要望の吸い上げ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68333" y="1412240"/>
            <a:ext cx="43180" cy="43180"/>
          </a:xfrm>
          <a:prstGeom prst="rect">
            <a:avLst/>
          </a:prstGeom>
          <a:solidFill>
            <a:srgbClr val="07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69933" y="135890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個人アカウント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で限定部署が実運用（〜数十名）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68333" y="1584960"/>
            <a:ext cx="43180" cy="43180"/>
          </a:xfrm>
          <a:prstGeom prst="rect">
            <a:avLst/>
          </a:prstGeom>
          <a:solidFill>
            <a:srgbClr val="07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69933" y="153162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セキュリティ審査を通した状態での本番公開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68333" y="1757679"/>
            <a:ext cx="43180" cy="43180"/>
          </a:xfrm>
          <a:prstGeom prst="rect">
            <a:avLst/>
          </a:prstGeom>
          <a:solidFill>
            <a:srgbClr val="07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69933" y="1704339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機密性A情報を扱える運用（ガードレール・監査ログ）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68333" y="1930399"/>
            <a:ext cx="43180" cy="43180"/>
          </a:xfrm>
          <a:prstGeom prst="rect">
            <a:avLst/>
          </a:prstGeom>
          <a:solidFill>
            <a:srgbClr val="07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69933" y="1877059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利用実績の蓄積＝STAGE 2の投資判断材料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5866" y="1412240"/>
            <a:ext cx="43180" cy="43180"/>
          </a:xfrm>
          <a:prstGeom prst="rect">
            <a:avLst/>
          </a:prstGeom>
          <a:solidFill>
            <a:srgbClr val="7A3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17466" y="135890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グループ全社・数百名、</a:t>
            </a: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部署別権限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で利用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15866" y="1584960"/>
            <a:ext cx="43180" cy="43180"/>
          </a:xfrm>
          <a:prstGeom prst="rect">
            <a:avLst/>
          </a:prstGeom>
          <a:solidFill>
            <a:srgbClr val="7A3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17466" y="153162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大規模データ・高可用（複数AZ／オートスケール）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5866" y="1757679"/>
            <a:ext cx="43180" cy="43180"/>
          </a:xfrm>
          <a:prstGeom prst="rect">
            <a:avLst/>
          </a:prstGeom>
          <a:solidFill>
            <a:srgbClr val="7A3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17466" y="1704339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内部KPIの実データ連携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、経営会議議事録の取込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81000" y="2336800"/>
            <a:ext cx="11430000" cy="0"/>
          </a:xfrm>
          <a:prstGeom prst="line">
            <a:avLst/>
          </a:prstGeom>
          <a:ln w="9525">
            <a:solidFill>
              <a:srgbClr val="E2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1000" y="2676525"/>
            <a:ext cx="6858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30000"/>
              </a:lnSpc>
            </a:pPr>
            <a:r>
              <a:rPr sz="90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割り切り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1000" y="2873375"/>
            <a:ext cx="685800" cy="25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6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意図的に</a:t>
            </a:r>
          </a:p>
          <a:p>
            <a:pPr algn="r">
              <a:lnSpc>
                <a:spcPct val="135000"/>
              </a:lnSpc>
            </a:pPr>
            <a:r>
              <a:rPr sz="6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取らなかったもの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68400" y="2362200"/>
            <a:ext cx="0" cy="990600"/>
          </a:xfrm>
          <a:prstGeom prst="line">
            <a:avLst/>
          </a:prstGeom>
          <a:ln w="9525">
            <a:solidFill>
              <a:srgbClr val="C8D1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1320800" y="2453640"/>
            <a:ext cx="43180" cy="43180"/>
          </a:xfrm>
          <a:prstGeom prst="rect">
            <a:avLst/>
          </a:prstGeom>
          <a:solidFill>
            <a:srgbClr val="A8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22400" y="240030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共有アカウント。個人の特定・権限分離なし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20800" y="2626360"/>
            <a:ext cx="43180" cy="43180"/>
          </a:xfrm>
          <a:prstGeom prst="rect">
            <a:avLst/>
          </a:prstGeom>
          <a:solidFill>
            <a:srgbClr val="A8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22400" y="257302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単一EC2・手動デプロイ・監視なし・バックアップなし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320800" y="2799079"/>
            <a:ext cx="43180" cy="43180"/>
          </a:xfrm>
          <a:prstGeom prst="rect">
            <a:avLst/>
          </a:prstGeom>
          <a:solidFill>
            <a:srgbClr val="A8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22400" y="274574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内部KPIは未連携（数値を作らず「未連携」と表示）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20800" y="2971799"/>
            <a:ext cx="43180" cy="43180"/>
          </a:xfrm>
          <a:prstGeom prst="rect">
            <a:avLst/>
          </a:prstGeom>
          <a:solidFill>
            <a:srgbClr val="A8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22400" y="291846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ガードレールはプロンプト内のルールのみ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68333" y="2453640"/>
            <a:ext cx="43180" cy="43180"/>
          </a:xfrm>
          <a:prstGeom prst="rect">
            <a:avLst/>
          </a:prstGeom>
          <a:solidFill>
            <a:srgbClr val="A8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69933" y="240030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アプリ構造はPoCのまま＝同時利用は数十名規模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68333" y="2626360"/>
            <a:ext cx="43180" cy="43180"/>
          </a:xfrm>
          <a:prstGeom prst="rect">
            <a:avLst/>
          </a:prstGeom>
          <a:solidFill>
            <a:srgbClr val="A8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69933" y="257302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データ格納はEC2ローカルのまま（S3・RDBはSTAGE 2）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68333" y="2799079"/>
            <a:ext cx="43180" cy="43180"/>
          </a:xfrm>
          <a:prstGeom prst="rect">
            <a:avLst/>
          </a:prstGeom>
          <a:solidFill>
            <a:srgbClr val="A8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9933" y="274574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権限はデータ群単位まで（部署別RBACはSTAGE 2）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868333" y="2971799"/>
            <a:ext cx="43180" cy="43180"/>
          </a:xfrm>
          <a:prstGeom prst="rect">
            <a:avLst/>
          </a:prstGeom>
          <a:solidFill>
            <a:srgbClr val="A8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969933" y="291846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内部KPIの本連携は見送り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5866" y="2453640"/>
            <a:ext cx="43180" cy="43180"/>
          </a:xfrm>
          <a:prstGeom prst="rect">
            <a:avLst/>
          </a:prstGeom>
          <a:solidFill>
            <a:srgbClr val="A8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17466" y="240030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アプリ刷新とデータ移行を伴い、並行稼働期間が必要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415866" y="2626360"/>
            <a:ext cx="43180" cy="43180"/>
          </a:xfrm>
          <a:prstGeom prst="rect">
            <a:avLst/>
          </a:prstGeom>
          <a:solidFill>
            <a:srgbClr val="A8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517466" y="257302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置換はインフラ層に限定（ロジック・プロンプトは流用）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415866" y="2799079"/>
            <a:ext cx="43180" cy="43180"/>
          </a:xfrm>
          <a:prstGeom prst="rect">
            <a:avLst/>
          </a:prstGeom>
          <a:solidFill>
            <a:srgbClr val="A8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17466" y="2745740"/>
            <a:ext cx="3293533" cy="191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着手時期はSTAGE 1の実績次第で、先に確約しない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81000" y="3327400"/>
            <a:ext cx="11430000" cy="0"/>
          </a:xfrm>
          <a:prstGeom prst="line">
            <a:avLst/>
          </a:prstGeom>
          <a:ln w="9525">
            <a:solidFill>
              <a:srgbClr val="E2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81000" y="4235450"/>
            <a:ext cx="685800" cy="355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30000"/>
              </a:lnSpc>
            </a:pPr>
            <a:r>
              <a:rPr sz="90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次へ進む</a:t>
            </a:r>
          </a:p>
          <a:p>
            <a:pPr algn="r">
              <a:lnSpc>
                <a:spcPct val="130000"/>
              </a:lnSpc>
            </a:pPr>
            <a:r>
              <a:rPr sz="90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必須タスク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1000" y="4591050"/>
            <a:ext cx="685800" cy="25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6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担当　D＝デロイト</a:t>
            </a:r>
          </a:p>
          <a:p>
            <a:pPr algn="r">
              <a:lnSpc>
                <a:spcPct val="135000"/>
              </a:lnSpc>
            </a:pPr>
            <a:r>
              <a:rPr sz="6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I＝ITEC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168400" y="3352800"/>
            <a:ext cx="0" cy="2286000"/>
          </a:xfrm>
          <a:prstGeom prst="line">
            <a:avLst/>
          </a:prstGeom>
          <a:ln w="9525">
            <a:solidFill>
              <a:srgbClr val="C8D1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1320800" y="3479800"/>
            <a:ext cx="114300" cy="11430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320800" y="34925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6B7684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85900" y="3403600"/>
            <a:ext cx="29887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仕様・運用資料の引き渡し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（仕様／アーキ図・開発者・アクセス制御・利用者マニュアル）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25433" y="3467100"/>
            <a:ext cx="190500" cy="139700"/>
          </a:xfrm>
          <a:prstGeom prst="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320800" y="3746500"/>
            <a:ext cx="114300" cy="11430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320800" y="37592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6B7684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85900" y="3670300"/>
            <a:ext cx="28744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コードと構成の移管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、環境構築手順の共有・実機での再現確認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411133" y="3733800"/>
            <a:ext cx="304800" cy="139700"/>
          </a:xfrm>
          <a:prstGeom prst="rect">
            <a:avLst/>
          </a:prstGeom>
          <a:solidFill>
            <a:srgbClr val="FFFFFF"/>
          </a:solidFill>
          <a:ln w="7620">
            <a:solidFill>
              <a:srgbClr val="7C88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D+I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320800" y="4013200"/>
            <a:ext cx="114300" cy="11430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320800" y="40259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6B7684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85900" y="3937000"/>
            <a:ext cx="29887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IdPの選定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とAWSアカウント・ネットワーク方針の決定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25433" y="4000500"/>
            <a:ext cx="190500" cy="139700"/>
          </a:xfrm>
          <a:prstGeom prst="rect">
            <a:avLst/>
          </a:prstGeom>
          <a:solidFill>
            <a:srgbClr val="E8EEF5"/>
          </a:solidFill>
          <a:ln w="7620">
            <a:solidFill>
              <a:srgbClr val="0746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I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320800" y="4279900"/>
            <a:ext cx="114300" cy="11430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320800" y="42926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6B7684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5900" y="4203700"/>
            <a:ext cx="29887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セキュリティ審査の申請準備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（構成図・データフロー・対策一覧）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525433" y="4267200"/>
            <a:ext cx="190500" cy="139700"/>
          </a:xfrm>
          <a:prstGeom prst="rect">
            <a:avLst/>
          </a:prstGeom>
          <a:solidFill>
            <a:srgbClr val="E8EEF5"/>
          </a:solidFill>
          <a:ln w="7620">
            <a:solidFill>
              <a:srgbClr val="0746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I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320800" y="4546600"/>
            <a:ext cx="114300" cy="11430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320800" y="45593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6B7684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85900" y="4470400"/>
            <a:ext cx="29887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内部KPI連携の</a:t>
            </a: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データオーナー確定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と接続方式の合意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525433" y="4533900"/>
            <a:ext cx="190500" cy="139700"/>
          </a:xfrm>
          <a:prstGeom prst="rect">
            <a:avLst/>
          </a:prstGeom>
          <a:solidFill>
            <a:srgbClr val="E8EEF5"/>
          </a:solidFill>
          <a:ln w="7620">
            <a:solidFill>
              <a:srgbClr val="0746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I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868333" y="3479800"/>
            <a:ext cx="114300" cy="114300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868333" y="34925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33433" y="3403600"/>
            <a:ext cx="28744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SSO／IdP連携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：ALB＋OIDC で個人認証化、ロール分離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958666" y="3467100"/>
            <a:ext cx="304800" cy="139700"/>
          </a:xfrm>
          <a:prstGeom prst="rect">
            <a:avLst/>
          </a:prstGeom>
          <a:solidFill>
            <a:srgbClr val="FFFFFF"/>
          </a:solidFill>
          <a:ln w="7620">
            <a:solidFill>
              <a:srgbClr val="7C88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D+I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868333" y="3746500"/>
            <a:ext cx="114300" cy="114300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68333" y="37592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033433" y="3670300"/>
            <a:ext cx="29887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入出力ガードレール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：インジェクション対策・マスキング・Bedrock Guardrails検証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072966" y="3733800"/>
            <a:ext cx="190500" cy="139700"/>
          </a:xfrm>
          <a:prstGeom prst="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D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868333" y="4013200"/>
            <a:ext cx="114300" cy="114300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868333" y="40259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033433" y="3937000"/>
            <a:ext cx="28744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監査ログ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：ログイン・操作・AI利用の記録と保管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958666" y="4000500"/>
            <a:ext cx="304800" cy="139700"/>
          </a:xfrm>
          <a:prstGeom prst="rect">
            <a:avLst/>
          </a:prstGeom>
          <a:solidFill>
            <a:srgbClr val="FFFFFF"/>
          </a:solidFill>
          <a:ln w="7620">
            <a:solidFill>
              <a:srgbClr val="7C88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D+I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868333" y="4279900"/>
            <a:ext cx="114300" cy="114300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868333" y="42926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033433" y="4203700"/>
            <a:ext cx="29887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秘匿情報管理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：Secrets Manager移行（.env平文の廃止）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072966" y="4267200"/>
            <a:ext cx="190500" cy="139700"/>
          </a:xfrm>
          <a:prstGeom prst="rect">
            <a:avLst/>
          </a:prstGeom>
          <a:solidFill>
            <a:srgbClr val="E8EEF5"/>
          </a:solidFill>
          <a:ln w="7620">
            <a:solidFill>
              <a:srgbClr val="0746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I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868333" y="4546600"/>
            <a:ext cx="114300" cy="114300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868333" y="45593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033433" y="4470400"/>
            <a:ext cx="29887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ネットワーク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：HTTPS常時化、社内アクセス制限（VPN／IP）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072966" y="4533900"/>
            <a:ext cx="190500" cy="139700"/>
          </a:xfrm>
          <a:prstGeom prst="rect">
            <a:avLst/>
          </a:prstGeom>
          <a:solidFill>
            <a:srgbClr val="E8EEF5"/>
          </a:solidFill>
          <a:ln w="7620">
            <a:solidFill>
              <a:srgbClr val="0746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I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868333" y="4813300"/>
            <a:ext cx="114300" cy="114300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868333" y="48260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033433" y="4737100"/>
            <a:ext cx="28744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運用整備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：バックアップ・死活監視・取得失敗通知・運用手引き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958666" y="4800600"/>
            <a:ext cx="304800" cy="139700"/>
          </a:xfrm>
          <a:prstGeom prst="rect">
            <a:avLst/>
          </a:prstGeom>
          <a:solidFill>
            <a:srgbClr val="FFFFFF"/>
          </a:solidFill>
          <a:ln w="7620">
            <a:solidFill>
              <a:srgbClr val="7C88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D+I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868333" y="5080000"/>
            <a:ext cx="114300" cy="114300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868333" y="50927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033433" y="5003800"/>
            <a:ext cx="29887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ナビページ組み込み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：確定済みホーム画面の実装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072966" y="5067300"/>
            <a:ext cx="190500" cy="139700"/>
          </a:xfrm>
          <a:prstGeom prst="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415866" y="3479800"/>
            <a:ext cx="114300" cy="114300"/>
          </a:xfrm>
          <a:prstGeom prst="rect">
            <a:avLst/>
          </a:prstGeom>
          <a:solidFill>
            <a:srgbClr val="F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415866" y="34925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7A3E12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80966" y="3403600"/>
            <a:ext cx="29887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アプリ刷新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：フロント／API分離、オートスケール。診断ロジックはAPI化して流用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620500" y="3467100"/>
            <a:ext cx="190500" cy="139700"/>
          </a:xfrm>
          <a:prstGeom prst="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D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415866" y="3746500"/>
            <a:ext cx="114300" cy="114300"/>
          </a:xfrm>
          <a:prstGeom prst="rect">
            <a:avLst/>
          </a:prstGeom>
          <a:solidFill>
            <a:srgbClr val="F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415866" y="37592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7A3E12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580966" y="3670300"/>
            <a:ext cx="28744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データ移行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：runtime_data → S3＋RDB。スキーマ設計・移行ツール・並行稼働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1506200" y="3733800"/>
            <a:ext cx="304800" cy="139700"/>
          </a:xfrm>
          <a:prstGeom prst="rect">
            <a:avLst/>
          </a:prstGeom>
          <a:solidFill>
            <a:srgbClr val="FFFFFF"/>
          </a:solidFill>
          <a:ln w="7620">
            <a:solidFill>
              <a:srgbClr val="7C88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D+I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15866" y="4013200"/>
            <a:ext cx="114300" cy="114300"/>
          </a:xfrm>
          <a:prstGeom prst="rect">
            <a:avLst/>
          </a:prstGeom>
          <a:solidFill>
            <a:srgbClr val="F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15866" y="40259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7A3E12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580966" y="3937000"/>
            <a:ext cx="29887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RAG移行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：SQLite → マネージドベクトル検索、索引ジョブの非同期化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620500" y="4000500"/>
            <a:ext cx="190500" cy="139700"/>
          </a:xfrm>
          <a:prstGeom prst="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D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415866" y="4279900"/>
            <a:ext cx="114300" cy="114300"/>
          </a:xfrm>
          <a:prstGeom prst="rect">
            <a:avLst/>
          </a:prstGeom>
          <a:solidFill>
            <a:srgbClr val="F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415866" y="42926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7A3E12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80966" y="4203700"/>
            <a:ext cx="28744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パイプライン基盤化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：cron → EventBridge／Lambda、内部KPI連携の新設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1506200" y="4267200"/>
            <a:ext cx="304800" cy="139700"/>
          </a:xfrm>
          <a:prstGeom prst="rect">
            <a:avLst/>
          </a:prstGeom>
          <a:solidFill>
            <a:srgbClr val="FFFFFF"/>
          </a:solidFill>
          <a:ln w="7620">
            <a:solidFill>
              <a:srgbClr val="7C88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D+I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415866" y="4546600"/>
            <a:ext cx="114300" cy="114300"/>
          </a:xfrm>
          <a:prstGeom prst="rect">
            <a:avLst/>
          </a:prstGeom>
          <a:solidFill>
            <a:srgbClr val="F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415866" y="45593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7A3E12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80966" y="4470400"/>
            <a:ext cx="28744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権限拡張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：部署別RBAC・テナント分離・DLP連携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1506200" y="4533900"/>
            <a:ext cx="304800" cy="139700"/>
          </a:xfrm>
          <a:prstGeom prst="rect">
            <a:avLst/>
          </a:prstGeom>
          <a:solidFill>
            <a:srgbClr val="FFFFFF"/>
          </a:solidFill>
          <a:ln w="7620">
            <a:solidFill>
              <a:srgbClr val="7C88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D+I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415866" y="4813300"/>
            <a:ext cx="114300" cy="114300"/>
          </a:xfrm>
          <a:prstGeom prst="rect">
            <a:avLst/>
          </a:prstGeom>
          <a:solidFill>
            <a:srgbClr val="F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415866" y="48260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7A3E12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580966" y="4737100"/>
            <a:ext cx="29887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UC4解禁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：経営会議議事録の取込と「過去指摘への先回り」の追加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1620500" y="4800600"/>
            <a:ext cx="190500" cy="139700"/>
          </a:xfrm>
          <a:prstGeom prst="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D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415866" y="5080000"/>
            <a:ext cx="114300" cy="114300"/>
          </a:xfrm>
          <a:prstGeom prst="rect">
            <a:avLst/>
          </a:prstGeom>
          <a:solidFill>
            <a:srgbClr val="F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415866" y="5092700"/>
            <a:ext cx="114300" cy="10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50" b="1" lang="ja-JP">
                <a:solidFill>
                  <a:srgbClr val="7A3E12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580966" y="5003800"/>
            <a:ext cx="2988733" cy="2667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650" b="1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基盤整備</a:t>
            </a:r>
            <a:r>
              <a:rPr sz="650" b="0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：IaC・CI/CD・複数AZ・ステージング・負荷試験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1620500" y="5067300"/>
            <a:ext cx="190500" cy="139700"/>
          </a:xfrm>
          <a:prstGeom prst="rect">
            <a:avLst/>
          </a:prstGeom>
          <a:solidFill>
            <a:srgbClr val="E8EEF5"/>
          </a:solidFill>
          <a:ln w="7620">
            <a:solidFill>
              <a:srgbClr val="0746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I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381000" y="5613400"/>
            <a:ext cx="11430000" cy="0"/>
          </a:xfrm>
          <a:prstGeom prst="line">
            <a:avLst/>
          </a:prstGeom>
          <a:ln w="9525">
            <a:solidFill>
              <a:srgbClr val="E2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381000" y="5702300"/>
            <a:ext cx="6858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30000"/>
              </a:lnSpc>
            </a:pPr>
            <a:r>
              <a:rPr sz="90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担当の内訳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1000" y="5899150"/>
            <a:ext cx="685800" cy="1397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6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件数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1168400" y="5638800"/>
            <a:ext cx="0" cy="381000"/>
          </a:xfrm>
          <a:prstGeom prst="line">
            <a:avLst/>
          </a:prstGeom>
          <a:ln w="9525">
            <a:solidFill>
              <a:srgbClr val="C8D1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1320800" y="5689600"/>
            <a:ext cx="3395133" cy="20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5</a:t>
            </a:r>
            <a:r>
              <a:rPr sz="7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件　</a:t>
            </a:r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D </a:t>
            </a:r>
            <a:r>
              <a:rPr sz="700" b="0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1　</a:t>
            </a:r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I </a:t>
            </a:r>
            <a:r>
              <a:rPr sz="700" b="0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3　</a:t>
            </a:r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D+I </a:t>
            </a:r>
            <a:r>
              <a:rPr sz="700" b="0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1　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68333" y="5689600"/>
            <a:ext cx="3395133" cy="20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7</a:t>
            </a:r>
            <a:r>
              <a:rPr sz="7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件　</a:t>
            </a:r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D </a:t>
            </a:r>
            <a:r>
              <a:rPr sz="700" b="0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2　</a:t>
            </a:r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I </a:t>
            </a:r>
            <a:r>
              <a:rPr sz="700" b="0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2　</a:t>
            </a:r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D+I </a:t>
            </a:r>
            <a:r>
              <a:rPr sz="700" b="0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3　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415866" y="5689600"/>
            <a:ext cx="3395133" cy="20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lang="ja-JP">
                <a:solidFill>
                  <a:srgbClr val="0F1720"/>
                </a:solidFill>
                <a:latin typeface="Yu Mincho"/>
                <a:ea typeface="Yu Mincho"/>
                <a:cs typeface="Yu Mincho"/>
              </a:rPr>
              <a:t>7</a:t>
            </a:r>
            <a:r>
              <a:rPr sz="70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件　</a:t>
            </a:r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D </a:t>
            </a:r>
            <a:r>
              <a:rPr sz="700" b="0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3　</a:t>
            </a:r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I </a:t>
            </a:r>
            <a:r>
              <a:rPr sz="700" b="0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1　</a:t>
            </a:r>
            <a:r>
              <a:rPr sz="65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D+I </a:t>
            </a:r>
            <a:r>
              <a:rPr sz="700" b="0" lang="ja-JP">
                <a:solidFill>
                  <a:srgbClr val="0F1720"/>
                </a:solidFill>
                <a:latin typeface="Yu Gothic"/>
                <a:ea typeface="Yu Gothic"/>
                <a:cs typeface="Yu Gothic"/>
              </a:rPr>
              <a:t>3　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381000" y="6172200"/>
            <a:ext cx="11430000" cy="0"/>
          </a:xfrm>
          <a:prstGeom prst="line">
            <a:avLst/>
          </a:prstGeom>
          <a:ln w="9525">
            <a:solidFill>
              <a:srgbClr val="E2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/>
          <p:cNvSpPr/>
          <p:nvPr/>
        </p:nvSpPr>
        <p:spPr>
          <a:xfrm>
            <a:off x="381000" y="6273800"/>
            <a:ext cx="190500" cy="139700"/>
          </a:xfrm>
          <a:prstGeom prst="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D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35000" y="6261100"/>
            <a:ext cx="723900" cy="152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デロイト主担当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485900" y="6273800"/>
            <a:ext cx="190500" cy="139700"/>
          </a:xfrm>
          <a:prstGeom prst="rect">
            <a:avLst/>
          </a:prstGeom>
          <a:solidFill>
            <a:srgbClr val="E8EEF5"/>
          </a:solidFill>
          <a:ln w="7620">
            <a:solidFill>
              <a:srgbClr val="0746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07467E"/>
                </a:solidFill>
                <a:latin typeface="Yu Gothic"/>
                <a:ea typeface="Yu Gothic"/>
                <a:cs typeface="Yu Gothic"/>
              </a:rPr>
              <a:t>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39900" y="6261100"/>
            <a:ext cx="723900" cy="152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ITEC主担当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590800" y="6273800"/>
            <a:ext cx="304800" cy="139700"/>
          </a:xfrm>
          <a:prstGeom prst="rect">
            <a:avLst/>
          </a:prstGeom>
          <a:solidFill>
            <a:srgbClr val="FFFFFF"/>
          </a:solidFill>
          <a:ln w="7620">
            <a:solidFill>
              <a:srgbClr val="7C88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 lang="ja-JP">
                <a:solidFill>
                  <a:srgbClr val="4A5661"/>
                </a:solidFill>
                <a:latin typeface="Yu Gothic"/>
                <a:ea typeface="Yu Gothic"/>
                <a:cs typeface="Yu Gothic"/>
              </a:rPr>
              <a:t>D+I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959100" y="6261100"/>
            <a:ext cx="2324100" cy="152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共同（設計・実装はデロイト、基盤・審査はITEC）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890000" y="6261100"/>
            <a:ext cx="2921000" cy="152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650" b="0" lang="ja-JP">
                <a:solidFill>
                  <a:srgbClr val="7C8894"/>
                </a:solidFill>
                <a:latin typeface="Yu Gothic"/>
                <a:ea typeface="Yu Gothic"/>
                <a:cs typeface="Yu Gothic"/>
              </a:rPr>
              <a:t>担当は現時点の想定です。10月着手前に両者で確定します。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PoC本番移行 2段階リリース計画</dc:title>
  <dc:subject>HHグループ AI経営診断アプリ：PoCからセキュア公開・全社基盤への移行計画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ja-JP</dc:language>
</cp:coreProperties>
</file>