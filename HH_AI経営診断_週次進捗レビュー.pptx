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/>
              <a:t/>
            </a:r>
            <a:endParaRPr 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/>
              <a:t>1</a:t>
            </a:fld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/>
              <a:t/>
            </a:r>
            <a:endParaRPr 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/>
              <a:t>2</a:t>
            </a:fld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/>
              <a:t/>
            </a:r>
            <a:endParaRPr 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/>
              <a:t>3</a:t>
            </a:fld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/>
              <a:t/>
            </a:r>
            <a:endParaRPr 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/>
              <a:t>4</a:t>
            </a:fld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/>
              <a:t/>
            </a:r>
            <a:endParaRPr 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/>
              <a:t>5</a:t>
            </a:fld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/>
              <a:t/>
            </a:r>
            <a:endParaRPr 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/>
              <a:t>6</a:t>
            </a:fld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/>
              <a:t/>
            </a:r>
            <a:endParaRPr 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/>
              <a:t>7</a:t>
            </a:fld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/>
              <a:t/>
            </a:r>
            <a:endParaRPr 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/>
              <a:t>8</a:t>
            </a:fld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/>
              <a:t/>
            </a:r>
            <a:endParaRPr 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/>
              <a:t>9</a:t>
            </a:fld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17320"/>
            <a:ext cx="822960" cy="146304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783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b="1" spc="2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阪急阪神ホールディングス様 ｜ AI経営診断 PoC</a:t>
            </a:r>
            <a:endParaRPr lang="ja-JP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4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AI経営診断OS</a:t>
            </a:r>
            <a:endParaRPr lang="ja-JP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0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週次進捗レビュー ＆ アプリレビュー</a:t>
            </a:r>
            <a:endParaRPr lang="ja-JP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ja-JP" sz="14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経営者の「3つの問い」に答えるAI経営診断OSの開発進捗を共有し、モックアプリを体験いただきながら、設計の方向性・データ整備・優先度について論点をすり合わせます。</a:t>
            </a:r>
            <a:endParaRPr lang="ja-JP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892040"/>
            <a:ext cx="11064240" cy="0"/>
          </a:xfrm>
          <a:prstGeom prst="line">
            <a:avLst/>
          </a:prstGeom>
          <a:noFill/>
          <a:ln w="12700">
            <a:solidFill>
              <a:srgbClr val="D8DC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074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本日の目的</a:t>
            </a:r>
            <a:endParaRPr lang="ja-JP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進捗共有 ＋ モック体験によるFB取得</a:t>
            </a:r>
            <a:endParaRPr lang="ja-JP" sz="1100" dirty="0"/>
          </a:p>
        </p:txBody>
      </p:sp>
      <p:sp>
        <p:nvSpPr>
          <p:cNvPr id="10" name="Text 8"/>
          <p:cNvSpPr/>
          <p:nvPr/>
        </p:nvSpPr>
        <p:spPr>
          <a:xfrm>
            <a:off x="4206240" y="5074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</a:t>
            </a:r>
            <a:endParaRPr lang="ja-JP" sz="1200" dirty="0"/>
          </a:p>
        </p:txBody>
      </p:sp>
      <p:sp>
        <p:nvSpPr>
          <p:cNvPr id="11" name="Text 9"/>
          <p:cNvSpPr/>
          <p:nvPr/>
        </p:nvSpPr>
        <p:spPr>
          <a:xfrm>
            <a:off x="420624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PoC（公開／マスキングデータ前提）</a:t>
            </a:r>
            <a:endParaRPr lang="ja-JP" sz="1100" dirty="0"/>
          </a:p>
        </p:txBody>
      </p:sp>
      <p:sp>
        <p:nvSpPr>
          <p:cNvPr id="12" name="Text 10"/>
          <p:cNvSpPr/>
          <p:nvPr/>
        </p:nvSpPr>
        <p:spPr>
          <a:xfrm>
            <a:off x="7863840" y="5074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</a:t>
            </a:r>
            <a:endParaRPr lang="ja-JP" sz="1200" dirty="0"/>
          </a:p>
        </p:txBody>
      </p:sp>
      <p:sp>
        <p:nvSpPr>
          <p:cNvPr id="13" name="Text 11"/>
          <p:cNvSpPr/>
          <p:nvPr/>
        </p:nvSpPr>
        <p:spPr>
          <a:xfrm>
            <a:off x="786384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2026年7月 週次定例</a:t>
            </a:r>
            <a:endParaRPr lang="ja-JP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Deloitte</a:t>
            </a:r>
            <a:endParaRPr lang="ja-JP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8016" cy="128016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spc="2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AGENDA</a:t>
            </a:r>
            <a:endParaRPr lang="ja-JP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本日のアジェンダ と 進捗ハイライト</a:t>
            </a:r>
            <a:endParaRPr lang="ja-JP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3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ja-JP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5087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ja-JP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先方要望の理解と進め方</a:t>
            </a:r>
            <a:endParaRPr lang="ja-JP" sz="1300" dirty="0"/>
          </a:p>
          <a:p>
            <a:pPr indent="0" marL="0">
              <a:lnSpc>
                <a:spcPct val="105000"/>
              </a:lnSpc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経営者の3つの問い ／ PoCの前提</a:t>
            </a:r>
            <a:endParaRPr lang="ja-JP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75688"/>
            <a:ext cx="5806440" cy="0"/>
          </a:xfrm>
          <a:prstGeom prst="line">
            <a:avLst/>
          </a:prstGeom>
          <a:noFill/>
          <a:ln w="6350">
            <a:solidFill>
              <a:srgbClr val="D8DC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3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ja-JP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ja-JP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アプリ全体像</a:t>
            </a:r>
            <a:endParaRPr lang="ja-JP" sz="1300" dirty="0"/>
          </a:p>
          <a:p>
            <a:pPr indent="0" marL="0">
              <a:lnSpc>
                <a:spcPct val="105000"/>
              </a:lnSpc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4機能 × 3つの問い × 想定UC7</a:t>
            </a:r>
            <a:endParaRPr lang="ja-JP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15768"/>
            <a:ext cx="5806440" cy="0"/>
          </a:xfrm>
          <a:prstGeom prst="line">
            <a:avLst/>
          </a:prstGeom>
          <a:noFill/>
          <a:ln w="6350">
            <a:solidFill>
              <a:srgbClr val="D8DC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3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ja-JP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278892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ja-JP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優先度検討と実現の仕組み</a:t>
            </a:r>
            <a:endParaRPr lang="ja-JP" sz="1300" dirty="0"/>
          </a:p>
          <a:p>
            <a:pPr indent="0" marL="0">
              <a:lnSpc>
                <a:spcPct val="105000"/>
              </a:lnSpc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Impact × Feasibility ／ 重要ポイント</a:t>
            </a:r>
            <a:endParaRPr lang="ja-JP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55848"/>
            <a:ext cx="5806440" cy="0"/>
          </a:xfrm>
          <a:prstGeom prst="line">
            <a:avLst/>
          </a:prstGeom>
          <a:noFill/>
          <a:ln w="6350">
            <a:solidFill>
              <a:srgbClr val="D8DC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3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ja-JP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34290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ja-JP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各機能のコア要素</a:t>
            </a:r>
            <a:endParaRPr lang="ja-JP" sz="1300" dirty="0"/>
          </a:p>
          <a:p>
            <a:pPr indent="0" marL="0">
              <a:lnSpc>
                <a:spcPct val="105000"/>
              </a:lnSpc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機能 × リンクUC × 想定データ一覧</a:t>
            </a:r>
            <a:endParaRPr lang="ja-JP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95928"/>
            <a:ext cx="5806440" cy="0"/>
          </a:xfrm>
          <a:prstGeom prst="line">
            <a:avLst/>
          </a:prstGeom>
          <a:noFill/>
          <a:ln w="6350">
            <a:solidFill>
              <a:srgbClr val="D8DC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069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3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ja-JP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406908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ja-JP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データ詳細</a:t>
            </a:r>
            <a:endParaRPr lang="ja-JP" sz="1300" dirty="0"/>
          </a:p>
          <a:p>
            <a:pPr indent="0" marL="0">
              <a:lnSpc>
                <a:spcPct val="105000"/>
              </a:lnSpc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ソース・リンク・取得方法（API／DL）</a:t>
            </a:r>
            <a:endParaRPr lang="ja-JP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636008"/>
            <a:ext cx="5806440" cy="0"/>
          </a:xfrm>
          <a:prstGeom prst="line">
            <a:avLst/>
          </a:prstGeom>
          <a:noFill/>
          <a:ln w="6350">
            <a:solidFill>
              <a:srgbClr val="D8DC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709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3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ja-JP" sz="1300" dirty="0"/>
          </a:p>
        </p:txBody>
      </p:sp>
      <p:sp>
        <p:nvSpPr>
          <p:cNvPr id="21" name="Text 19"/>
          <p:cNvSpPr/>
          <p:nvPr/>
        </p:nvSpPr>
        <p:spPr>
          <a:xfrm>
            <a:off x="1051560" y="47091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ja-JP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進捗の現在地と課題</a:t>
            </a:r>
            <a:endParaRPr lang="ja-JP" sz="1300" dirty="0"/>
          </a:p>
          <a:p>
            <a:pPr indent="0" marL="0">
              <a:lnSpc>
                <a:spcPct val="105000"/>
              </a:lnSpc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モック実装状況 ／ リスク</a:t>
            </a:r>
            <a:endParaRPr lang="ja-JP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276088"/>
            <a:ext cx="5806440" cy="0"/>
          </a:xfrm>
          <a:prstGeom prst="line">
            <a:avLst/>
          </a:prstGeom>
          <a:noFill/>
          <a:ln w="6350">
            <a:solidFill>
              <a:srgbClr val="D8DC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49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3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ja-JP" sz="1300" dirty="0"/>
          </a:p>
        </p:txBody>
      </p:sp>
      <p:sp>
        <p:nvSpPr>
          <p:cNvPr id="24" name="Text 22"/>
          <p:cNvSpPr/>
          <p:nvPr/>
        </p:nvSpPr>
        <p:spPr>
          <a:xfrm>
            <a:off x="1051560" y="534924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ja-JP" sz="13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意思決定・お願い ＆ 次ステップ</a:t>
            </a:r>
            <a:pPr indent="0" marL="0">
              <a:lnSpc>
                <a:spcPct val="105000"/>
              </a:lnSpc>
              <a:buNone/>
            </a:pPr>
            <a:endParaRPr lang="ja-JP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5916168"/>
            <a:ext cx="5806440" cy="0"/>
          </a:xfrm>
          <a:prstGeom prst="line">
            <a:avLst/>
          </a:prstGeom>
          <a:noFill/>
          <a:ln w="6350">
            <a:solidFill>
              <a:srgbClr val="D8DC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今週のハイライト</a:t>
            </a:r>
            <a:endParaRPr lang="ja-JP" sz="1200" dirty="0"/>
          </a:p>
        </p:txBody>
      </p:sp>
      <p:sp>
        <p:nvSpPr>
          <p:cNvPr id="27" name="Shape 25"/>
          <p:cNvSpPr/>
          <p:nvPr/>
        </p:nvSpPr>
        <p:spPr>
          <a:xfrm>
            <a:off x="6766560" y="1828800"/>
            <a:ext cx="2423160" cy="1097280"/>
          </a:xfrm>
          <a:prstGeom prst="roundRect">
            <a:avLst>
              <a:gd name="adj" fmla="val 5000"/>
            </a:avLst>
          </a:prstGeom>
          <a:solidFill>
            <a:srgbClr val="F4F7EE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31152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50" b="1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全体設計</a:t>
            </a:r>
            <a:endParaRPr lang="ja-JP" sz="1050" dirty="0"/>
          </a:p>
        </p:txBody>
      </p:sp>
      <p:sp>
        <p:nvSpPr>
          <p:cNvPr id="29" name="Text 27"/>
          <p:cNvSpPr/>
          <p:nvPr/>
        </p:nvSpPr>
        <p:spPr>
          <a:xfrm>
            <a:off x="6931152" y="2176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9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4機能</a:t>
            </a:r>
            <a:endParaRPr lang="ja-JP" sz="1900" dirty="0"/>
          </a:p>
        </p:txBody>
      </p:sp>
      <p:sp>
        <p:nvSpPr>
          <p:cNvPr id="30" name="Text 28"/>
          <p:cNvSpPr/>
          <p:nvPr/>
        </p:nvSpPr>
        <p:spPr>
          <a:xfrm>
            <a:off x="6931152" y="25786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9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3つの問い×UC7を統合</a:t>
            </a:r>
            <a:endParaRPr lang="ja-JP" sz="950" dirty="0"/>
          </a:p>
        </p:txBody>
      </p:sp>
      <p:sp>
        <p:nvSpPr>
          <p:cNvPr id="31" name="Shape 29"/>
          <p:cNvSpPr/>
          <p:nvPr/>
        </p:nvSpPr>
        <p:spPr>
          <a:xfrm>
            <a:off x="9372600" y="1828800"/>
            <a:ext cx="2423160" cy="1097280"/>
          </a:xfrm>
          <a:prstGeom prst="roundRect">
            <a:avLst>
              <a:gd name="adj" fmla="val 5000"/>
            </a:avLst>
          </a:prstGeom>
          <a:solidFill>
            <a:srgbClr val="F4F7EE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537192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50" b="1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モック実装</a:t>
            </a:r>
            <a:endParaRPr lang="ja-JP" sz="1050" dirty="0"/>
          </a:p>
        </p:txBody>
      </p:sp>
      <p:sp>
        <p:nvSpPr>
          <p:cNvPr id="33" name="Text 31"/>
          <p:cNvSpPr/>
          <p:nvPr/>
        </p:nvSpPr>
        <p:spPr>
          <a:xfrm>
            <a:off x="9537192" y="2176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9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8ビュー</a:t>
            </a:r>
            <a:endParaRPr lang="ja-JP" sz="1900" dirty="0"/>
          </a:p>
        </p:txBody>
      </p:sp>
      <p:sp>
        <p:nvSpPr>
          <p:cNvPr id="34" name="Text 32"/>
          <p:cNvSpPr/>
          <p:nvPr/>
        </p:nvSpPr>
        <p:spPr>
          <a:xfrm>
            <a:off x="9537192" y="25786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9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体験可能な動作モック</a:t>
            </a:r>
            <a:endParaRPr lang="ja-JP" sz="950" dirty="0"/>
          </a:p>
        </p:txBody>
      </p:sp>
      <p:sp>
        <p:nvSpPr>
          <p:cNvPr id="35" name="Shape 33"/>
          <p:cNvSpPr/>
          <p:nvPr/>
        </p:nvSpPr>
        <p:spPr>
          <a:xfrm>
            <a:off x="6766560" y="3063240"/>
            <a:ext cx="2423160" cy="1097280"/>
          </a:xfrm>
          <a:prstGeom prst="roundRect">
            <a:avLst>
              <a:gd name="adj" fmla="val 5000"/>
            </a:avLst>
          </a:prstGeom>
          <a:solidFill>
            <a:srgbClr val="F4F7EE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931152" y="31729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50" b="1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実装済コア</a:t>
            </a:r>
            <a:endParaRPr lang="ja-JP" sz="1050" dirty="0"/>
          </a:p>
        </p:txBody>
      </p:sp>
      <p:sp>
        <p:nvSpPr>
          <p:cNvPr id="37" name="Text 35"/>
          <p:cNvSpPr/>
          <p:nvPr/>
        </p:nvSpPr>
        <p:spPr>
          <a:xfrm>
            <a:off x="6931152" y="34107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9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①定期診断</a:t>
            </a:r>
            <a:endParaRPr lang="ja-JP" sz="1900" dirty="0"/>
          </a:p>
        </p:txBody>
      </p:sp>
      <p:sp>
        <p:nvSpPr>
          <p:cNvPr id="38" name="Text 36"/>
          <p:cNvSpPr/>
          <p:nvPr/>
        </p:nvSpPr>
        <p:spPr>
          <a:xfrm>
            <a:off x="6931152" y="381304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9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5段パイプライン表示</a:t>
            </a:r>
            <a:endParaRPr lang="ja-JP" sz="950" dirty="0"/>
          </a:p>
        </p:txBody>
      </p:sp>
      <p:sp>
        <p:nvSpPr>
          <p:cNvPr id="39" name="Shape 37"/>
          <p:cNvSpPr/>
          <p:nvPr/>
        </p:nvSpPr>
        <p:spPr>
          <a:xfrm>
            <a:off x="9372600" y="3063240"/>
            <a:ext cx="2423160" cy="1097280"/>
          </a:xfrm>
          <a:prstGeom prst="roundRect">
            <a:avLst>
              <a:gd name="adj" fmla="val 5000"/>
            </a:avLst>
          </a:prstGeom>
          <a:solidFill>
            <a:srgbClr val="F4F7EE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537192" y="31729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50" b="1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本日ご相談</a:t>
            </a:r>
            <a:endParaRPr lang="ja-JP" sz="1050" dirty="0"/>
          </a:p>
        </p:txBody>
      </p:sp>
      <p:sp>
        <p:nvSpPr>
          <p:cNvPr id="41" name="Text 39"/>
          <p:cNvSpPr/>
          <p:nvPr/>
        </p:nvSpPr>
        <p:spPr>
          <a:xfrm>
            <a:off x="9537192" y="34107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9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3件</a:t>
            </a:r>
            <a:endParaRPr lang="ja-JP" sz="1900" dirty="0"/>
          </a:p>
        </p:txBody>
      </p:sp>
      <p:sp>
        <p:nvSpPr>
          <p:cNvPr id="42" name="Text 40"/>
          <p:cNvSpPr/>
          <p:nvPr/>
        </p:nvSpPr>
        <p:spPr>
          <a:xfrm>
            <a:off x="9537192" y="381304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9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優先度・データ・許諾</a:t>
            </a:r>
            <a:endParaRPr lang="ja-JP" sz="950" dirty="0"/>
          </a:p>
        </p:txBody>
      </p:sp>
      <p:sp>
        <p:nvSpPr>
          <p:cNvPr id="43" name="Shape 41"/>
          <p:cNvSpPr/>
          <p:nvPr/>
        </p:nvSpPr>
        <p:spPr>
          <a:xfrm>
            <a:off x="6766560" y="4434840"/>
            <a:ext cx="5029200" cy="1051560"/>
          </a:xfrm>
          <a:prstGeom prst="roundRect">
            <a:avLst>
              <a:gd name="adj" fmla="val 5217"/>
            </a:avLst>
          </a:prstGeom>
          <a:solidFill>
            <a:srgbClr val="F5F6F2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995160" y="45720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本日は「体験 → フィードバック → 精緻化」</a:t>
            </a:r>
            <a:pPr indent="0" marL="0">
              <a:lnSpc>
                <a:spcPct val="120000"/>
              </a:lnSpc>
              <a:buNone/>
            </a:pPr>
            <a:r>
              <a:rPr lang="ja-JP" sz="12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の反復サイクルの起点として、実際に触れる形でお見せします。</a:t>
            </a:r>
            <a:endParaRPr lang="ja-JP" sz="1200" dirty="0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9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Deloitte</a:t>
            </a:r>
            <a:pPr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｜    アジェンダ／ハイライト</a:t>
            </a:r>
            <a:endParaRPr lang="ja-JP" sz="900" dirty="0"/>
          </a:p>
        </p:txBody>
      </p:sp>
      <p:sp>
        <p:nvSpPr>
          <p:cNvPr id="46" name="Text 44"/>
          <p:cNvSpPr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ja-JP" sz="900" dirty="0"/>
          </a:p>
        </p:txBody>
      </p:sp>
      <p:sp>
        <p:nvSpPr>
          <p:cNvPr id="47" name="Shape 45"/>
          <p:cNvSpPr/>
          <p:nvPr/>
        </p:nvSpPr>
        <p:spPr>
          <a:xfrm>
            <a:off x="548640" y="6400800"/>
            <a:ext cx="11064240" cy="0"/>
          </a:xfrm>
          <a:prstGeom prst="line">
            <a:avLst/>
          </a:prstGeom>
          <a:noFill/>
          <a:ln w="9525">
            <a:solidFill>
              <a:srgbClr val="D8DCD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8016" cy="128016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spc="2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UNDERSTANDING &amp; APPROACH</a:t>
            </a:r>
            <a:endParaRPr lang="ja-JP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先方要望の理解 と 進め方</a:t>
            </a:r>
            <a:endParaRPr lang="ja-JP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sz="11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すべてのユースケースは、経営者の「3つの問い」に帰着すると理解しました。この問いに答えることを設計の出発点に置いています。</a:t>
            </a:r>
            <a:endParaRPr lang="ja-JP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9019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問い① ／ 気づく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1396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何が起きた／起きうるのか</a:t>
            </a:r>
            <a:endParaRPr lang="ja-JP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45059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計画とのズレ、外部環境の変化、突発事象。見えていなかったものに気づきたい。</a:t>
            </a:r>
            <a:endParaRPr lang="ja-JP" sz="1050" dirty="0"/>
          </a:p>
        </p:txBody>
      </p:sp>
      <p:sp>
        <p:nvSpPr>
          <p:cNvPr id="10" name="Shape 8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53128" y="19019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問い② ／ 見極める</a:t>
            </a:r>
            <a:endParaRPr lang="ja-JP" sz="1100" dirty="0"/>
          </a:p>
        </p:txBody>
      </p:sp>
      <p:sp>
        <p:nvSpPr>
          <p:cNvPr id="12" name="Text 10"/>
          <p:cNvSpPr/>
          <p:nvPr/>
        </p:nvSpPr>
        <p:spPr>
          <a:xfrm>
            <a:off x="4453128" y="21396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うちにどれくらい効くのか</a:t>
            </a:r>
            <a:endParaRPr lang="ja-JP" sz="1400" dirty="0"/>
          </a:p>
        </p:txBody>
      </p:sp>
      <p:sp>
        <p:nvSpPr>
          <p:cNvPr id="13" name="Text 11"/>
          <p:cNvSpPr/>
          <p:nvPr/>
        </p:nvSpPr>
        <p:spPr>
          <a:xfrm>
            <a:off x="4453128" y="245059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どの事業に、どの経路で、どの程度の影響か。判断に足る確からしさで見極めたい。</a:t>
            </a:r>
            <a:endParaRPr lang="ja-JP" sz="1050" dirty="0"/>
          </a:p>
        </p:txBody>
      </p:sp>
      <p:sp>
        <p:nvSpPr>
          <p:cNvPr id="14" name="Shape 12"/>
          <p:cNvSpPr/>
          <p:nvPr/>
        </p:nvSpPr>
        <p:spPr>
          <a:xfrm>
            <a:off x="7991856" y="1783080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74736" y="19019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問い③ ／ 打ち手を選ぶ</a:t>
            </a:r>
            <a:endParaRPr lang="ja-JP" sz="1100" dirty="0"/>
          </a:p>
        </p:txBody>
      </p:sp>
      <p:sp>
        <p:nvSpPr>
          <p:cNvPr id="16" name="Text 14"/>
          <p:cNvSpPr/>
          <p:nvPr/>
        </p:nvSpPr>
        <p:spPr>
          <a:xfrm>
            <a:off x="8174736" y="21396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どうすればいいのか</a:t>
            </a:r>
            <a:endParaRPr lang="ja-JP" sz="1400" dirty="0"/>
          </a:p>
        </p:txBody>
      </p:sp>
      <p:sp>
        <p:nvSpPr>
          <p:cNvPr id="17" name="Text 15"/>
          <p:cNvSpPr/>
          <p:nvPr/>
        </p:nvSpPr>
        <p:spPr>
          <a:xfrm>
            <a:off x="8174736" y="245059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取りうる選択肢は何か。それぞれの得失は。過去はどう対処したのか。</a:t>
            </a:r>
            <a:endParaRPr lang="ja-JP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342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私たちの解釈</a:t>
            </a:r>
            <a:endParaRPr lang="ja-JP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749040"/>
            <a:ext cx="5577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7つの想定UCは3つの問いのいずれかに必ず帰着。個別UCを別々に作らず、問いに答える「機能」の構造へ再編する。</a:t>
            </a:r>
            <a:endParaRPr lang="ja-JP" sz="11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影響度は点推定せず「方向×大きさのオーダー×確度」の幅で示す。生成AIの弱点を仕様で守る。</a:t>
            </a:r>
            <a:endParaRPr lang="ja-JP" sz="11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役員が見るのは「今日の論点」1画面。UIは増やさず、全機能の出力を経営ブリーフ1枚の型に固定する。</a:t>
            </a:r>
            <a:endParaRPr lang="ja-JP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342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進め方（PoCの前提）</a:t>
            </a:r>
            <a:endParaRPr lang="ja-JP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374904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体験 → FB → 精緻化 の反復。まずモックで完成イメージを共有し、方向性を固める。</a:t>
            </a:r>
            <a:endParaRPr lang="ja-JP" sz="11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公開データ ＋ マスキング社内データ 前提。精度保証はしない段階として合意。</a:t>
            </a:r>
            <a:endParaRPr lang="ja-JP" sz="11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事業構造マップ・事例基盤はドラフト（たたき台）。妥当性は先方レビューで確定していく。</a:t>
            </a:r>
            <a:endParaRPr lang="ja-JP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9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Deloitte</a:t>
            </a:r>
            <a:pPr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｜    先方要望の理解と進め方</a:t>
            </a:r>
            <a:endParaRPr lang="ja-JP" sz="900" dirty="0"/>
          </a:p>
        </p:txBody>
      </p:sp>
      <p:sp>
        <p:nvSpPr>
          <p:cNvPr id="23" name="Text 21"/>
          <p:cNvSpPr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ja-JP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6400800"/>
            <a:ext cx="11064240" cy="0"/>
          </a:xfrm>
          <a:prstGeom prst="line">
            <a:avLst/>
          </a:prstGeom>
          <a:noFill/>
          <a:ln w="9525">
            <a:solidFill>
              <a:srgbClr val="D8DCD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8016" cy="128016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spc="2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｜ WHOLE PICTURE</a:t>
            </a:r>
            <a:endParaRPr lang="ja-JP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アプリ全体像 ― 4機能 × 3つの問い × 想定UC7</a:t>
            </a:r>
            <a:endParaRPr lang="ja-JP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sz="11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「気づく → 見極める → 打ち手」を1本のパイプラインでつなぐ。⓪が発火し、①②が診断し、③が相場観を供給する。</a:t>
            </a:r>
            <a:endParaRPr lang="ja-JP" sz="1150" dirty="0"/>
          </a:p>
        </p:txBody>
      </p:sp>
      <p:sp>
        <p:nvSpPr>
          <p:cNvPr id="6" name="Shape 4"/>
          <p:cNvSpPr/>
          <p:nvPr/>
        </p:nvSpPr>
        <p:spPr>
          <a:xfrm>
            <a:off x="3794760" y="1691640"/>
            <a:ext cx="4572000" cy="713232"/>
          </a:xfrm>
          <a:prstGeom prst="roundRect">
            <a:avLst>
              <a:gd name="adj" fmla="val 7692"/>
            </a:avLst>
          </a:prstGeom>
          <a:solidFill>
            <a:srgbClr val="F4F7EE"/>
          </a:solidFill>
          <a:ln w="15875">
            <a:solidFill>
              <a:srgbClr val="86BC2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794760" y="17830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4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⓪ 常時センシング</a:t>
            </a:r>
            <a:endParaRPr lang="ja-JP" sz="1400" dirty="0"/>
          </a:p>
        </p:txBody>
      </p:sp>
      <p:sp>
        <p:nvSpPr>
          <p:cNvPr id="8" name="Text 6"/>
          <p:cNvSpPr/>
          <p:nvPr/>
        </p:nvSpPr>
        <p:spPr>
          <a:xfrm>
            <a:off x="3931920" y="207568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ja-JP" sz="9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KPI進捗・外部指標の定常監視（スケジュール駆動）　▶ UC-1・2 検知</a:t>
            </a:r>
            <a:endParaRPr lang="ja-JP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2926080"/>
            <a:ext cx="4572000" cy="822960"/>
          </a:xfrm>
          <a:prstGeom prst="roundRect">
            <a:avLst>
              <a:gd name="adj" fmla="val 6667"/>
            </a:avLst>
          </a:prstGeom>
          <a:solidFill>
            <a:srgbClr val="F2F7EA"/>
          </a:solidFill>
          <a:ln w="15875">
            <a:solidFill>
              <a:srgbClr val="86BC2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30175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4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定期診断</a:t>
            </a:r>
            <a:endParaRPr lang="ja-JP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33101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ja-JP" sz="9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事業計画の整合性・論理性・リスク精査（計画提出で駆動）　▶ UC-1〜4</a:t>
            </a:r>
            <a:endParaRPr lang="ja-JP" sz="950" dirty="0"/>
          </a:p>
        </p:txBody>
      </p:sp>
      <p:sp>
        <p:nvSpPr>
          <p:cNvPr id="12" name="Shape 10"/>
          <p:cNvSpPr/>
          <p:nvPr/>
        </p:nvSpPr>
        <p:spPr>
          <a:xfrm>
            <a:off x="6858000" y="2926080"/>
            <a:ext cx="4572000" cy="822960"/>
          </a:xfrm>
          <a:prstGeom prst="roundRect">
            <a:avLst>
              <a:gd name="adj" fmla="val 6667"/>
            </a:avLst>
          </a:prstGeom>
          <a:solidFill>
            <a:srgbClr val="F8ECE9"/>
          </a:solidFill>
          <a:ln w="15875">
            <a:solidFill>
              <a:srgbClr val="B33A2B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0" y="30175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400" b="1" dirty="0">
                <a:solidFill>
                  <a:srgbClr val="B33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臨時診断</a:t>
            </a:r>
            <a:endParaRPr lang="ja-JP" sz="1400" dirty="0"/>
          </a:p>
        </p:txBody>
      </p:sp>
      <p:sp>
        <p:nvSpPr>
          <p:cNvPr id="14" name="Text 12"/>
          <p:cNvSpPr/>
          <p:nvPr/>
        </p:nvSpPr>
        <p:spPr>
          <a:xfrm>
            <a:off x="6995160" y="33101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ja-JP" sz="9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急変・突発事象の影響度シナリオ分析（イベント駆動）　▶ UC-5〜7</a:t>
            </a:r>
            <a:endParaRPr lang="ja-JP" sz="950" dirty="0"/>
          </a:p>
        </p:txBody>
      </p:sp>
      <p:sp>
        <p:nvSpPr>
          <p:cNvPr id="15" name="Shape 13"/>
          <p:cNvSpPr/>
          <p:nvPr/>
        </p:nvSpPr>
        <p:spPr>
          <a:xfrm>
            <a:off x="2194560" y="4160520"/>
            <a:ext cx="7772400" cy="658368"/>
          </a:xfrm>
          <a:prstGeom prst="roundRect">
            <a:avLst>
              <a:gd name="adj" fmla="val 8333"/>
            </a:avLst>
          </a:prstGeom>
          <a:solidFill>
            <a:srgbClr val="F0F1ED"/>
          </a:solidFill>
          <a:ln w="15875">
            <a:solidFill>
              <a:srgbClr val="B8BCAE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194560" y="42519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4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事例ナレッジ基盤（RAG）</a:t>
            </a:r>
            <a:endParaRPr lang="ja-JP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54456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ja-JP" sz="9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外部の類似イベント事例が主役　▶ ①②の出力に「過去の類似局面」を自動添付</a:t>
            </a:r>
            <a:endParaRPr lang="ja-JP" sz="950" dirty="0"/>
          </a:p>
        </p:txBody>
      </p:sp>
      <p:sp>
        <p:nvSpPr>
          <p:cNvPr id="18" name="Shape 16"/>
          <p:cNvSpPr/>
          <p:nvPr/>
        </p:nvSpPr>
        <p:spPr>
          <a:xfrm flipH="1">
            <a:off x="3931920" y="2404872"/>
            <a:ext cx="1371600" cy="521208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858000" y="2404872"/>
            <a:ext cx="1371600" cy="521208"/>
          </a:xfrm>
          <a:prstGeom prst="line">
            <a:avLst/>
          </a:prstGeom>
          <a:noFill/>
          <a:ln w="22225">
            <a:solidFill>
              <a:srgbClr val="B33A2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3017520" y="3749040"/>
            <a:ext cx="914" cy="41148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9144000" y="3749040"/>
            <a:ext cx="914" cy="41148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8001000" y="2514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B33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急変検知で自動発火</a:t>
            </a:r>
            <a:endParaRPr lang="ja-JP" sz="10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sz="85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同一パイプライン／トリガー違い</a:t>
            </a:r>
            <a:endParaRPr lang="ja-JP" sz="850" dirty="0"/>
          </a:p>
        </p:txBody>
      </p:sp>
      <p:sp>
        <p:nvSpPr>
          <p:cNvPr id="24" name="Text 22"/>
          <p:cNvSpPr/>
          <p:nvPr/>
        </p:nvSpPr>
        <p:spPr>
          <a:xfrm>
            <a:off x="4572000" y="37947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95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類似事例・相場観を供給</a:t>
            </a:r>
            <a:endParaRPr lang="ja-JP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0292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212080"/>
                <a:gridCol w="1828800"/>
                <a:gridCol w="182880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機能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役割（トリガー × レイヤー）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対応UC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答える問い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b="1" dirty="0">
                          <a:solidFill>
                            <a:srgbClr val="046A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⓪ 常時センシング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KPI・外部指標を定常監視。急変検知で②を自動発火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UC-1・2 検知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問い①（気づく）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b="1" dirty="0">
                          <a:solidFill>
                            <a:srgbClr val="046A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定期診断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各社事業計画の整合性・論理性・リスクをHD横断で精査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UC-1〜4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問い①②③ すべて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b="1" dirty="0">
                          <a:solidFill>
                            <a:srgbClr val="B33A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 臨時診断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急変・突発事象の影響度をシナリオ分析（①と同一）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UC-5〜7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問い②③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b="1" dirty="0">
                          <a:solidFill>
                            <a:srgbClr val="046A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 事例ナレッジ基盤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外部の類似事例が主役。①②の出力に類似局面を自動添付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全UCに供給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5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②③の確からしさ</a:t>
                      </a:r>
                      <a:endParaRPr lang="ja-JP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9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Deloitte</a:t>
            </a:r>
            <a:pPr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｜    アプリ全体像</a:t>
            </a:r>
            <a:endParaRPr lang="ja-JP" sz="900" dirty="0"/>
          </a:p>
        </p:txBody>
      </p:sp>
      <p:sp>
        <p:nvSpPr>
          <p:cNvPr id="27" name="Text 24"/>
          <p:cNvSpPr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ja-JP" sz="900" dirty="0"/>
          </a:p>
        </p:txBody>
      </p:sp>
      <p:sp>
        <p:nvSpPr>
          <p:cNvPr id="28" name="Shape 25"/>
          <p:cNvSpPr/>
          <p:nvPr/>
        </p:nvSpPr>
        <p:spPr>
          <a:xfrm>
            <a:off x="548640" y="6400800"/>
            <a:ext cx="11064240" cy="0"/>
          </a:xfrm>
          <a:prstGeom prst="line">
            <a:avLst/>
          </a:prstGeom>
          <a:noFill/>
          <a:ln w="9525">
            <a:solidFill>
              <a:srgbClr val="D8DCD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8016" cy="128016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spc="2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｜ PRIORITIZATION &amp; MECHANISM</a:t>
            </a:r>
            <a:endParaRPr lang="ja-JP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優先度検討 と 実現の仕組み</a:t>
            </a:r>
            <a:endParaRPr lang="ja-JP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sz="11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4機能はいずれも実現前提。Impact × Feasibility で立ち上げ順序を仕分け、難点は計画的に潰す。（▲データ取得／◆技術難易度／●運用・体制／■ライセンス）</a:t>
            </a:r>
            <a:endParaRPr lang="ja-JP" sz="115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Impact × Feasibility（初期仮説）</a:t>
            </a:r>
            <a:endParaRPr lang="ja-JP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743200" cy="1463040"/>
          </a:xfrm>
          <a:prstGeom prst="roundRect">
            <a:avLst>
              <a:gd name="adj" fmla="val 3750"/>
            </a:avLst>
          </a:prstGeom>
          <a:solidFill>
            <a:srgbClr val="FDFAF3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402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C9860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【次の重点】高 × 中</a:t>
            </a:r>
            <a:endParaRPr lang="ja-JP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49631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sz="1050" b="1" dirty="0">
                <a:solidFill>
                  <a:srgbClr val="B33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臨時診断</a:t>
            </a:r>
            <a:pPr indent="0" marL="0">
              <a:lnSpc>
                <a:spcPct val="110000"/>
              </a:lnSpc>
              <a:buNone/>
            </a:pPr>
            <a:r>
              <a:rPr lang="ja-JP" sz="9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（UC5-7）▲◆</a:t>
            </a:r>
            <a:endParaRPr lang="ja-JP" sz="1050" dirty="0"/>
          </a:p>
          <a:p>
            <a:pPr indent="0" marL="0">
              <a:lnSpc>
                <a:spcPct val="110000"/>
              </a:lnSpc>
              <a:buNone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事例基盤</a:t>
            </a:r>
            <a:pPr indent="0" marL="0">
              <a:lnSpc>
                <a:spcPct val="110000"/>
              </a:lnSpc>
              <a:buNone/>
            </a:pPr>
            <a:r>
              <a:rPr lang="ja-JP" sz="9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（▲■）</a:t>
            </a:r>
            <a:endParaRPr lang="ja-JP" sz="1050" dirty="0"/>
          </a:p>
        </p:txBody>
      </p:sp>
      <p:sp>
        <p:nvSpPr>
          <p:cNvPr id="10" name="Text 8"/>
          <p:cNvSpPr/>
          <p:nvPr/>
        </p:nvSpPr>
        <p:spPr>
          <a:xfrm>
            <a:off x="685800" y="32278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③が充実するほど②の実現性が上がる（③→②依存）</a:t>
            </a:r>
            <a:endParaRPr lang="ja-JP" sz="900" dirty="0"/>
          </a:p>
        </p:txBody>
      </p:sp>
      <p:sp>
        <p:nvSpPr>
          <p:cNvPr id="11" name="Shape 9"/>
          <p:cNvSpPr/>
          <p:nvPr/>
        </p:nvSpPr>
        <p:spPr>
          <a:xfrm>
            <a:off x="3429000" y="2148840"/>
            <a:ext cx="2743200" cy="1463040"/>
          </a:xfrm>
          <a:prstGeom prst="roundRect">
            <a:avLst>
              <a:gd name="adj" fmla="val 3750"/>
            </a:avLst>
          </a:prstGeom>
          <a:solidFill>
            <a:srgbClr val="F5FAEE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2402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【継続深化】高 × 高</a:t>
            </a:r>
            <a:endParaRPr lang="ja-JP" sz="1000" dirty="0"/>
          </a:p>
        </p:txBody>
      </p:sp>
      <p:sp>
        <p:nvSpPr>
          <p:cNvPr id="13" name="Text 11"/>
          <p:cNvSpPr/>
          <p:nvPr/>
        </p:nvSpPr>
        <p:spPr>
          <a:xfrm>
            <a:off x="3566160" y="249631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sz="105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定期診断</a:t>
            </a:r>
            <a:pPr indent="0" marL="0">
              <a:lnSpc>
                <a:spcPct val="110000"/>
              </a:lnSpc>
              <a:buNone/>
            </a:pPr>
            <a:r>
              <a:rPr lang="ja-JP" sz="9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（UC1-4）◆一部</a:t>
            </a:r>
            <a:endParaRPr lang="ja-JP" sz="1050" dirty="0"/>
          </a:p>
        </p:txBody>
      </p:sp>
      <p:sp>
        <p:nvSpPr>
          <p:cNvPr id="14" name="Text 12"/>
          <p:cNvSpPr/>
          <p:nvPr/>
        </p:nvSpPr>
        <p:spPr>
          <a:xfrm>
            <a:off x="3566160" y="32278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実装済。UC-3の変化検知精度を磨き込む</a:t>
            </a:r>
            <a:endParaRPr lang="ja-JP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2743200" cy="1371600"/>
          </a:xfrm>
          <a:prstGeom prst="roundRect">
            <a:avLst>
              <a:gd name="adj" fmla="val 4000"/>
            </a:avLst>
          </a:prstGeom>
          <a:solidFill>
            <a:srgbClr val="FBFBF9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37947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 × 中</a:t>
            </a:r>
            <a:endParaRPr lang="ja-JP" sz="1000" dirty="0"/>
          </a:p>
        </p:txBody>
      </p:sp>
      <p:sp>
        <p:nvSpPr>
          <p:cNvPr id="17" name="Text 15"/>
          <p:cNvSpPr/>
          <p:nvPr/>
        </p:nvSpPr>
        <p:spPr>
          <a:xfrm>
            <a:off x="685800" y="405079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sz="10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―（該当なし）</a:t>
            </a:r>
            <a:endParaRPr lang="ja-JP" sz="1050" dirty="0"/>
          </a:p>
        </p:txBody>
      </p:sp>
      <p:sp>
        <p:nvSpPr>
          <p:cNvPr id="18" name="Shape 16"/>
          <p:cNvSpPr/>
          <p:nvPr/>
        </p:nvSpPr>
        <p:spPr>
          <a:xfrm>
            <a:off x="3429000" y="3703320"/>
            <a:ext cx="2743200" cy="1371600"/>
          </a:xfrm>
          <a:prstGeom prst="roundRect">
            <a:avLst>
              <a:gd name="adj" fmla="val 4000"/>
            </a:avLst>
          </a:prstGeom>
          <a:solidFill>
            <a:srgbClr val="F5FAEE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566160" y="37947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【土台維持】中 × 高</a:t>
            </a:r>
            <a:endParaRPr lang="ja-JP" sz="1000" dirty="0"/>
          </a:p>
        </p:txBody>
      </p:sp>
      <p:sp>
        <p:nvSpPr>
          <p:cNvPr id="20" name="Text 18"/>
          <p:cNvSpPr/>
          <p:nvPr/>
        </p:nvSpPr>
        <p:spPr>
          <a:xfrm>
            <a:off x="3566160" y="405079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sz="105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⓪ 常時センシング</a:t>
            </a:r>
            <a:pPr indent="0" marL="0">
              <a:lnSpc>
                <a:spcPct val="110000"/>
              </a:lnSpc>
              <a:buNone/>
            </a:pPr>
            <a:r>
              <a:rPr lang="ja-JP" sz="9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（▲）</a:t>
            </a:r>
            <a:endParaRPr lang="ja-JP" sz="1050" dirty="0"/>
          </a:p>
        </p:txBody>
      </p:sp>
      <p:sp>
        <p:nvSpPr>
          <p:cNvPr id="21" name="Text 19"/>
          <p:cNvSpPr/>
          <p:nvPr/>
        </p:nvSpPr>
        <p:spPr>
          <a:xfrm>
            <a:off x="3566160" y="469087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単体価値より②の発火装置として効く</a:t>
            </a:r>
            <a:endParaRPr lang="ja-JP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5166360"/>
            <a:ext cx="5623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← Feasibility 中 → 高 →</a:t>
            </a:r>
            <a:endParaRPr lang="ja-JP" sz="900" dirty="0"/>
          </a:p>
        </p:txBody>
      </p:sp>
      <p:sp>
        <p:nvSpPr>
          <p:cNvPr id="23" name="Text 21"/>
          <p:cNvSpPr/>
          <p:nvPr/>
        </p:nvSpPr>
        <p:spPr>
          <a:xfrm>
            <a:off x="644652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実現の仕組み ― 重要ポイント</a:t>
            </a:r>
            <a:endParaRPr lang="ja-JP" sz="1200" dirty="0"/>
          </a:p>
        </p:txBody>
      </p:sp>
      <p:sp>
        <p:nvSpPr>
          <p:cNvPr id="24" name="Text 22"/>
          <p:cNvSpPr/>
          <p:nvPr/>
        </p:nvSpPr>
        <p:spPr>
          <a:xfrm>
            <a:off x="6446520" y="210312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パイプライン共通化：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①定期と②臨時は診断の中身がほぼ同一。開発量を大きく圧縮。</a:t>
            </a:r>
            <a:endParaRPr lang="ja-JP" sz="1050" dirty="0"/>
          </a:p>
          <a:p>
            <a:pPr indent="0" marL="0">
              <a:lnSpc>
                <a:spcPct val="110000"/>
              </a:lnSpc>
              <a:buNone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③→②の依存：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事例基盤の網羅性が②の確からしさを左右。③の整備が全体の鍵。</a:t>
            </a:r>
            <a:endParaRPr lang="ja-JP" sz="1050" dirty="0"/>
          </a:p>
          <a:p>
            <a:pPr indent="0" marL="0">
              <a:lnSpc>
                <a:spcPct val="110000"/>
              </a:lnSpc>
              <a:buNone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影響度は幅で：</a:t>
            </a:r>
            <a:pPr indent="0" marL="0">
              <a:lnSpc>
                <a:spcPct val="110000"/>
              </a:lnSpc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点推定せず「方向×オーダー×確度」＋根拠（パスID）を必ず添える。</a:t>
            </a:r>
            <a:endParaRPr lang="ja-JP" sz="1050" dirty="0"/>
          </a:p>
        </p:txBody>
      </p:sp>
      <p:sp>
        <p:nvSpPr>
          <p:cNvPr id="25" name="Text 23"/>
          <p:cNvSpPr/>
          <p:nvPr/>
        </p:nvSpPr>
        <p:spPr>
          <a:xfrm>
            <a:off x="6446520" y="3611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想定の実現手法</a:t>
            </a:r>
            <a:endParaRPr lang="ja-JP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393192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⓪：</a:t>
            </a:r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自動取得→閾値・変化率ルールで異常検知→LLMが差分を言語化。</a:t>
            </a:r>
            <a:endParaRPr lang="ja-JP" sz="1050" dirty="0"/>
          </a:p>
          <a:p>
            <a:pPr indent="0" marL="0">
              <a:lnSpc>
                <a:spcPct val="110000"/>
              </a:lnSpc>
              <a:buNone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①：</a:t>
            </a:r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観点別プロンプトチェーン（外部整合→内部論理→リスク→事例→ブリーフ）。</a:t>
            </a:r>
            <a:endParaRPr lang="ja-JP" sz="1050" dirty="0"/>
          </a:p>
          <a:p>
            <a:pPr indent="0" marL="0">
              <a:lnSpc>
                <a:spcPct val="110000"/>
              </a:lnSpc>
              <a:buNone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②：</a:t>
            </a:r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イベント構造化→事業構造マップで因果トレース→相場観取得→打ち手網羅。</a:t>
            </a:r>
            <a:endParaRPr lang="ja-JP" sz="1050" dirty="0"/>
          </a:p>
          <a:p>
            <a:pPr indent="0" marL="0">
              <a:lnSpc>
                <a:spcPct val="110000"/>
              </a:lnSpc>
              <a:buNone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③：</a:t>
            </a:r>
            <a:pPr indent="0" marL="0">
              <a:lnSpc>
                <a:spcPct val="110000"/>
              </a:lnSpc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カタログ定義→収集→LLM構造化→人がレビュー登録→構造的類似で検索。</a:t>
            </a:r>
            <a:endParaRPr lang="ja-JP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9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Deloitte</a:t>
            </a:r>
            <a:pPr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｜    優先度検討と実現の仕組み</a:t>
            </a:r>
            <a:endParaRPr lang="ja-JP" sz="900" dirty="0"/>
          </a:p>
        </p:txBody>
      </p:sp>
      <p:sp>
        <p:nvSpPr>
          <p:cNvPr id="28" name="Text 26"/>
          <p:cNvSpPr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ja-JP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6400800"/>
            <a:ext cx="11064240" cy="0"/>
          </a:xfrm>
          <a:prstGeom prst="line">
            <a:avLst/>
          </a:prstGeom>
          <a:noFill/>
          <a:ln w="9525">
            <a:solidFill>
              <a:srgbClr val="D8DCD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8016" cy="128016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spc="2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｜ FUNCTION CORE ELEMENTS</a:t>
            </a:r>
            <a:endParaRPr lang="ja-JP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各機能のコア要素 ― 機能 × リンクUC × 想定データ一覧</a:t>
            </a:r>
            <a:endParaRPr lang="ja-JP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sz="11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各機能が「食べる情報」を、データ種類・概要・取得可否で整理。取得可否は現段階の見立て（次頁で詳細）。</a:t>
            </a:r>
            <a:endParaRPr lang="ja-JP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4480560"/>
                <a:gridCol w="1188720"/>
                <a:gridCol w="12801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機能 / リンクUC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データ種類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概要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取得可否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区分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</a:tr>
              <a:tr h="274320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046A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⓪ 常時センシング
</a:t>
                      </a:r>
                      <a:pPr indent="0" marL="0">
                        <a:buNone/>
                      </a:pPr>
                      <a:r>
                        <a:rPr lang="ja-JP" sz="80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UC-1・2</a:t>
                      </a:r>
                      <a:endParaRPr lang="ja-JP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公開外部指標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為替・金利・訪日客数・地価等。Web／公開APIから自動取得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1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公開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社内KPI実績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運輸収入・稼働率・興行収入等（マスキング前提）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100" b="1" dirty="0">
                          <a:solidFill>
                            <a:srgbClr val="C9860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ja-JP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要提供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監視ルール定義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閾値・変化率ルール（自社で定義）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1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046A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定期診断
</a:t>
                      </a:r>
                      <a:pPr indent="0" marL="0">
                        <a:buNone/>
                      </a:pPr>
                      <a:r>
                        <a:rPr lang="ja-JP" sz="80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UC-1〜4</a:t>
                      </a:r>
                      <a:endParaRPr lang="ja-JP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提出事業計画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各社の事業計画（提出タイミングで投入）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100" b="1" dirty="0">
                          <a:solidFill>
                            <a:srgbClr val="C9860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ja-JP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要提供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前回計画・前回診断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差分・トーン変化の比較基準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100" b="1" dirty="0">
                          <a:solidFill>
                            <a:srgbClr val="C9860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ja-JP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要提供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最新外部環境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計画前提と突合する外部データ（Web取得）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1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公開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事業構造マップ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因果パス（EXT→BIZ→KPI）。自社ナレッジ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1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自社ドラフト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B33A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 臨時診断
</a:t>
                      </a:r>
                      <a:pPr indent="0" marL="0">
                        <a:buNone/>
                      </a:pPr>
                      <a:r>
                        <a:rPr lang="ja-JP" sz="80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UC-5〜7</a:t>
                      </a:r>
                      <a:endParaRPr lang="ja-JP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トリガーイベント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⓪の急変検知 or 人の手動起動（内容記述）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1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自動／手動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直近KPI・計画値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影響試算の起点（マスキング前提）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100" b="1" dirty="0">
                          <a:solidFill>
                            <a:srgbClr val="C9860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ja-JP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要提供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最新報道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イベント詳細のWeb検索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1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公開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046A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 事例ナレッジ基盤
</a:t>
                      </a:r>
                      <a:pPr indent="0" marL="0">
                        <a:buNone/>
                      </a:pPr>
                      <a:r>
                        <a:rPr lang="ja-JP" sz="80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全UCに供給</a:t>
                      </a:r>
                      <a:endParaRPr lang="ja-JP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外部事例（主 8〜9割）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有報・決算資料／官公庁統計／他社リリース／シンクタンク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1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公開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外部事例（新聞DB）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新聞・業界紙データベース（相場観の中核）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100" b="1" dirty="0">
                          <a:solidFill>
                            <a:srgbClr val="C9860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ja-JP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B33A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■ライセンス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自社意思決定ログ（従）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過去の対応・結果の蓄積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100" b="1" dirty="0">
                          <a:solidFill>
                            <a:srgbClr val="C9860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ja-JP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8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要提供</a:t>
                      </a:r>
                      <a:endParaRPr lang="ja-JP" sz="88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236208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5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取得可否　○ 公開／API等で取得可　　△ 一部・要調整（マスキング提供・契約・整備が必要）　　× 未整備・新規開拓が必要</a:t>
            </a:r>
            <a:endParaRPr lang="ja-JP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9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Deloitte</a:t>
            </a:r>
            <a:pPr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｜    各機能のコア要素</a:t>
            </a:r>
            <a:endParaRPr lang="ja-JP" sz="900" dirty="0"/>
          </a:p>
        </p:txBody>
      </p:sp>
      <p:sp>
        <p:nvSpPr>
          <p:cNvPr id="9" name="Text 6"/>
          <p:cNvSpPr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ja-JP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6400800"/>
            <a:ext cx="11064240" cy="0"/>
          </a:xfrm>
          <a:prstGeom prst="line">
            <a:avLst/>
          </a:prstGeom>
          <a:noFill/>
          <a:ln w="9525">
            <a:solidFill>
              <a:srgbClr val="D8DCD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8016" cy="128016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spc="2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｜ DATA DETAIL</a:t>
            </a:r>
            <a:endParaRPr lang="ja-JP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データ詳細 ― ソース・取得方法・取得可否</a:t>
            </a:r>
            <a:endParaRPr lang="ja-JP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sz="11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各データの想定ソースと取得方法（API／DL／提供／手動）を整理。ソースは現段階のたたき台で、確定は先方レビューによる。</a:t>
            </a:r>
            <a:endParaRPr lang="ja-JP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2377440"/>
                <a:gridCol w="1737360"/>
                <a:gridCol w="685800"/>
                <a:gridCol w="150876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想定ソース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リンク / 参照先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取得方法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可否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為替（USD/JPY・CNY/JPY）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日本銀行 時系列統計データ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stat-search.boj.or.jp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API／CSV DL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0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日次更新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長期金利・政策金利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財務省 国債金利情報／日銀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mof.go.jp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CSV DL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0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日次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訪日外客数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日本政府観光局（JNTO）／観光庁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jnto.go.jp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Excel／CSV DL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0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月次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関西空港入国者数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出入国在留管理庁 統計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e-stat.go.jp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API／DL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0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月次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沿線人口・転入超過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総務省 住民基本台帳人口移動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e-Stat API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API／DL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0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月次／年次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地価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国交省 地価公示・地価調査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土地総合情報システム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API／DL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0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年次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建設物価・労務単価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国交省／建設物価調査会 等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mlit.go.jp 他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DL（一部有償）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000" b="1" dirty="0">
                          <a:solidFill>
                            <a:srgbClr val="C9860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ja-JP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一部契約要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気象・災害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気象庁 防災情報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jma.go.jp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API（XML）／DL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0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随時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個人消費・景気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総務省 家計調査／内閣府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e-Stat／cao.go.jp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API／DL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0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月次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大型イベント・施設変更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主催者・自治体・各社リリース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各公式サイト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Web／手動収集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000" b="1" dirty="0">
                          <a:solidFill>
                            <a:srgbClr val="C9860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ja-JP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構造化要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決算・有報・IR資料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EDINET／各社IR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disclosure.edinet-fsa.go.jp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API（XBRL）／DL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00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ja-JP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四半期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事例（新聞・業界紙）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日経テレコン 等 新聞DB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要契約サービス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契約／API（有償）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000" b="1" dirty="0">
                          <a:solidFill>
                            <a:srgbClr val="C9860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ja-JP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B33A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■許諾判断要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社内KPI・事業計画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HH各社 基幹／管理会計（マスク）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先方提供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提供（方式未定）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1000" b="1" dirty="0">
                          <a:solidFill>
                            <a:srgbClr val="C9860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ja-JP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83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粒度を要合意</a:t>
                      </a:r>
                      <a:endParaRPr lang="ja-JP" sz="83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26364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3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URLは代表的な参照先の例示。API接続・提供方式・更新頻度は本番設計フェーズで確定。現PoCのモックは全てダミーデータでオフライン動作。</a:t>
            </a:r>
            <a:endParaRPr lang="ja-JP" sz="83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9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Deloitte</a:t>
            </a:r>
            <a:pPr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｜    データ詳細</a:t>
            </a:r>
            <a:endParaRPr lang="ja-JP" sz="900" dirty="0"/>
          </a:p>
        </p:txBody>
      </p:sp>
      <p:sp>
        <p:nvSpPr>
          <p:cNvPr id="9" name="Text 6"/>
          <p:cNvSpPr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ja-JP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6400800"/>
            <a:ext cx="11064240" cy="0"/>
          </a:xfrm>
          <a:prstGeom prst="line">
            <a:avLst/>
          </a:prstGeom>
          <a:noFill/>
          <a:ln w="9525">
            <a:solidFill>
              <a:srgbClr val="D8DCD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8016" cy="128016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spc="2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STATUS &amp; ISSUES</a:t>
            </a:r>
            <a:endParaRPr lang="ja-JP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進捗の現在地 と 課題</a:t>
            </a:r>
            <a:endParaRPr lang="ja-JP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sz="11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動作するモックで8ビューを体験可能。バックエンドは現段階すべてダミー（オフライン動作）。実装状況と主要課題を整理。</a:t>
            </a:r>
            <a:endParaRPr lang="ja-JP" sz="115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モック実装状況（8ビュー）</a:t>
            </a:r>
            <a:endParaRPr lang="ja-JP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5577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22860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ビュー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状態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6A3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センシング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85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実装済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5事業シグナル＋指標詳細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定期診断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85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実装済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5段パイプラインの段階表示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シナリオ（臨時）診断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850" b="1" dirty="0">
                          <a:solidFill>
                            <a:srgbClr val="C9860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一部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画面・遷移は動作／内容は限定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経営ブリーフ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85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実装済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共通1枚型レポート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事例ナレッジ基盤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85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実装済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類似検索（ダミースコア）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AIアシスタント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850" b="1" dirty="0">
                          <a:solidFill>
                            <a:srgbClr val="C9860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一部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深掘り／質問（ダミー応答）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株主総会QAサポート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850" b="1" dirty="0">
                          <a:solidFill>
                            <a:srgbClr val="B33A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近日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プレースホルダー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アプリの構造／FBボード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sz="850" b="1" dirty="0">
                          <a:solidFill>
                            <a:srgbClr val="3F8F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実装済</a:t>
                      </a:r>
                      <a:endParaRPr lang="ja-JP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sz="900" dirty="0">
                          <a:solidFill>
                            <a:srgbClr val="53565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ドキュメント／改善提案集計</a:t>
                      </a:r>
                      <a:endParaRPr lang="ja-JP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主要課題</a:t>
            </a:r>
            <a:endParaRPr lang="ja-JP" sz="1200" dirty="0"/>
          </a:p>
        </p:txBody>
      </p:sp>
      <p:sp>
        <p:nvSpPr>
          <p:cNvPr id="9" name="Text 6"/>
          <p:cNvSpPr/>
          <p:nvPr/>
        </p:nvSpPr>
        <p:spPr>
          <a:xfrm>
            <a:off x="6400800" y="210312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buSzPct val="100000"/>
              <a:buChar char="•"/>
            </a:pPr>
            <a:r>
              <a:rPr lang="ja-JP" sz="11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UC-3 変化検知の精度 ◆：</a:t>
            </a:r>
            <a:pPr indent="0" marL="0">
              <a:lnSpc>
                <a:spcPct val="115000"/>
              </a:lnSpc>
              <a:spcAft>
                <a:spcPts val="900"/>
              </a:spcAft>
              <a:buNone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文書横断で同一テーマのトーン・論点変化を捉える精度に課題。磨き込み対象。</a:t>
            </a:r>
            <a:endParaRPr lang="ja-JP" sz="1100" dirty="0"/>
          </a:p>
          <a:p>
            <a:pPr indent="0" marL="0">
              <a:lnSpc>
                <a:spcPct val="115000"/>
              </a:lnSpc>
              <a:buNone/>
            </a:pPr>
            <a:r>
              <a:rPr lang="ja-JP" sz="11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②③のデータ整備 ▲：</a:t>
            </a:r>
            <a:pPr indent="0" marL="0">
              <a:lnSpc>
                <a:spcPct val="115000"/>
              </a:lnSpc>
              <a:spcAft>
                <a:spcPts val="900"/>
              </a:spcAft>
              <a:buNone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事例の網羅性が②の成否を左右。イベントカタログ定義と収集サイクルが未着手。</a:t>
            </a:r>
            <a:endParaRPr lang="ja-JP" sz="1100" dirty="0"/>
          </a:p>
          <a:p>
            <a:pPr indent="0" marL="0">
              <a:lnSpc>
                <a:spcPct val="115000"/>
              </a:lnSpc>
              <a:buNone/>
            </a:pPr>
            <a:r>
              <a:rPr lang="ja-JP" sz="11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新聞DBのライセンス ■：</a:t>
            </a:r>
            <a:pPr indent="0" marL="0">
              <a:lnSpc>
                <a:spcPct val="115000"/>
              </a:lnSpc>
              <a:spcAft>
                <a:spcPts val="900"/>
              </a:spcAft>
              <a:buNone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相場観の中核となる新聞・業界紙DBの契約可否・費用の判断が必要。</a:t>
            </a:r>
            <a:endParaRPr lang="ja-JP" sz="1100" dirty="0"/>
          </a:p>
          <a:p>
            <a:pPr indent="0" marL="0">
              <a:lnSpc>
                <a:spcPct val="115000"/>
              </a:lnSpc>
              <a:buNone/>
            </a:pPr>
            <a:r>
              <a:rPr lang="ja-JP" sz="11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事業構造マップの妥当性 ●：</a:t>
            </a:r>
            <a:pPr indent="0" marL="0">
              <a:lnSpc>
                <a:spcPct val="115000"/>
              </a:lnSpc>
              <a:spcAft>
                <a:spcPts val="900"/>
              </a:spcAft>
              <a:buNone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因果パス約20本はドラフト。向き・強さ・欠落の先方レビューが前提。</a:t>
            </a:r>
            <a:endParaRPr lang="ja-JP" sz="1100" dirty="0"/>
          </a:p>
          <a:p>
            <a:pPr indent="0" marL="0">
              <a:lnSpc>
                <a:spcPct val="115000"/>
              </a:lnSpc>
              <a:buNone/>
            </a:pPr>
            <a:r>
              <a:rPr lang="ja-JP" sz="11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実データ接続：</a:t>
            </a:r>
            <a:pPr indent="0" marL="0">
              <a:lnSpc>
                <a:spcPct val="115000"/>
              </a:lnSpc>
              <a:buNone/>
            </a:pPr>
            <a:r>
              <a:rPr lang="ja-JP" sz="11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現状は全ダミー。社内KPIのマスキング提供方式・粒度が未定。</a:t>
            </a:r>
            <a:endParaRPr lang="ja-JP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9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Deloitte</a:t>
            </a:r>
            <a:pPr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｜    進捗の現在地と課題</a:t>
            </a:r>
            <a:endParaRPr lang="ja-JP" sz="900" dirty="0"/>
          </a:p>
        </p:txBody>
      </p:sp>
      <p:sp>
        <p:nvSpPr>
          <p:cNvPr id="11" name="Text 8"/>
          <p:cNvSpPr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ja-JP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6400800"/>
            <a:ext cx="11064240" cy="0"/>
          </a:xfrm>
          <a:prstGeom prst="line">
            <a:avLst/>
          </a:prstGeom>
          <a:noFill/>
          <a:ln w="9525">
            <a:solidFill>
              <a:srgbClr val="D8DCD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8016" cy="128016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spc="2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DECISIONS, ASKS &amp; NEXT STEPS</a:t>
            </a:r>
            <a:endParaRPr lang="ja-JP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ご相談したいこと と 次のステップ</a:t>
            </a:r>
            <a:endParaRPr lang="ja-JP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sz="11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前進のために、本日ご意思決定・ご協力いただきたい事項です。</a:t>
            </a:r>
            <a:endParaRPr lang="ja-JP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864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385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意思決定いただきたいこと</a:t>
            </a:r>
            <a:endParaRPr lang="ja-JP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優先UCの合意：</a:t>
            </a:r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「①継続深化」＋「②③を次の重点」で進める方針でよいか。</a:t>
            </a:r>
            <a:endParaRPr lang="ja-JP" sz="1050" dirty="0"/>
          </a:p>
          <a:p>
            <a:pPr indent="0" marL="0">
              <a:lnSpc>
                <a:spcPct val="112000"/>
              </a:lnSpc>
              <a:buNone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データ提供範囲：</a:t>
            </a:r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社内KPI・事業計画のマスキング粒度と提供可能な範囲。</a:t>
            </a:r>
            <a:endParaRPr lang="ja-JP" sz="1050" dirty="0"/>
          </a:p>
          <a:p>
            <a:pPr indent="0" marL="0">
              <a:lnSpc>
                <a:spcPct val="112000"/>
              </a:lnSpc>
              <a:buNone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事例DBライセンス：</a:t>
            </a:r>
            <a:pPr indent="0" marL="0">
              <a:lnSpc>
                <a:spcPct val="112000"/>
              </a:lnSpc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新聞DB等の有償ソースを採用するか（費用対効果の判断）。</a:t>
            </a:r>
            <a:endParaRPr lang="ja-JP" sz="105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3035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37960" y="19385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b="1" dirty="0">
                <a:solidFill>
                  <a:srgbClr val="0076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ご協力お願いしたいこと</a:t>
            </a:r>
            <a:endParaRPr lang="ja-JP" sz="1300" dirty="0"/>
          </a:p>
        </p:txBody>
      </p:sp>
      <p:sp>
        <p:nvSpPr>
          <p:cNvPr id="11" name="Text 9"/>
          <p:cNvSpPr/>
          <p:nvPr/>
        </p:nvSpPr>
        <p:spPr>
          <a:xfrm>
            <a:off x="6537960" y="228600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事業構造マップのレビュー：</a:t>
            </a:r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因果パスの向き・強さ・欠落を有識者にご確認いただきたい。</a:t>
            </a:r>
            <a:endParaRPr lang="ja-JP" sz="1050" dirty="0"/>
          </a:p>
          <a:p>
            <a:pPr indent="0" marL="0">
              <a:lnSpc>
                <a:spcPct val="112000"/>
              </a:lnSpc>
              <a:buNone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サンプル事業計画の提供：</a:t>
            </a:r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①定期診断の検証用に1社分（マスキング可）。</a:t>
            </a:r>
            <a:endParaRPr lang="ja-JP" sz="1050" dirty="0"/>
          </a:p>
          <a:p>
            <a:pPr indent="0" marL="0">
              <a:lnSpc>
                <a:spcPct val="112000"/>
              </a:lnSpc>
              <a:buNone/>
            </a:pPr>
            <a:r>
              <a:rPr lang="ja-JP" sz="10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事例カタログ対象の合意：</a:t>
            </a:r>
            <a:pPr indent="0" marL="0">
              <a:lnSpc>
                <a:spcPct val="112000"/>
              </a:lnSpc>
              <a:buNone/>
            </a:pPr>
            <a:r>
              <a:rPr lang="ja-JP" sz="105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収集すべき事象タイプ（コロナ・万博・災害・施設移転 等）の優先順位。</a:t>
            </a:r>
            <a:endParaRPr lang="ja-JP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00" kern="0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次のステップ</a:t>
            </a:r>
            <a:endParaRPr lang="ja-JP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434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4F7EE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3232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</a:t>
            </a:r>
            <a:endParaRPr lang="ja-JP" sz="1000" dirty="0"/>
          </a:p>
        </p:txBody>
      </p:sp>
      <p:sp>
        <p:nvSpPr>
          <p:cNvPr id="15" name="Text 13"/>
          <p:cNvSpPr/>
          <p:nvPr/>
        </p:nvSpPr>
        <p:spPr>
          <a:xfrm>
            <a:off x="713232" y="477316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モック体験</a:t>
            </a:r>
            <a:endParaRPr lang="ja-JP" sz="1500" dirty="0"/>
          </a:p>
        </p:txBody>
      </p:sp>
      <p:sp>
        <p:nvSpPr>
          <p:cNvPr id="16" name="Text 14"/>
          <p:cNvSpPr/>
          <p:nvPr/>
        </p:nvSpPr>
        <p:spPr>
          <a:xfrm>
            <a:off x="713232" y="51389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9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完成イメージ共有・FB取得</a:t>
            </a:r>
            <a:endParaRPr lang="ja-JP" sz="900" dirty="0"/>
          </a:p>
        </p:txBody>
      </p:sp>
      <p:sp>
        <p:nvSpPr>
          <p:cNvPr id="17" name="Shape 15"/>
          <p:cNvSpPr/>
          <p:nvPr/>
        </p:nvSpPr>
        <p:spPr>
          <a:xfrm>
            <a:off x="3346704" y="4434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4F7EE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511296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〜次回</a:t>
            </a:r>
            <a:endParaRPr lang="ja-JP" sz="1000" dirty="0"/>
          </a:p>
        </p:txBody>
      </p:sp>
      <p:sp>
        <p:nvSpPr>
          <p:cNvPr id="19" name="Text 17"/>
          <p:cNvSpPr/>
          <p:nvPr/>
        </p:nvSpPr>
        <p:spPr>
          <a:xfrm>
            <a:off x="3511296" y="477316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FB反映</a:t>
            </a:r>
            <a:endParaRPr lang="ja-JP" sz="1500" dirty="0"/>
          </a:p>
        </p:txBody>
      </p:sp>
      <p:sp>
        <p:nvSpPr>
          <p:cNvPr id="20" name="Text 18"/>
          <p:cNvSpPr/>
          <p:nvPr/>
        </p:nvSpPr>
        <p:spPr>
          <a:xfrm>
            <a:off x="3511296" y="51389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9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優先UC確定・データ調整</a:t>
            </a:r>
            <a:endParaRPr lang="ja-JP" sz="900" dirty="0"/>
          </a:p>
        </p:txBody>
      </p:sp>
      <p:sp>
        <p:nvSpPr>
          <p:cNvPr id="21" name="Shape 19"/>
          <p:cNvSpPr/>
          <p:nvPr/>
        </p:nvSpPr>
        <p:spPr>
          <a:xfrm>
            <a:off x="6144768" y="4434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4F7EE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9360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</a:t>
            </a:r>
            <a:endParaRPr lang="ja-JP" sz="1000" dirty="0"/>
          </a:p>
        </p:txBody>
      </p:sp>
      <p:sp>
        <p:nvSpPr>
          <p:cNvPr id="23" name="Text 21"/>
          <p:cNvSpPr/>
          <p:nvPr/>
        </p:nvSpPr>
        <p:spPr>
          <a:xfrm>
            <a:off x="6309360" y="477316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②③着手</a:t>
            </a:r>
            <a:endParaRPr lang="ja-JP" sz="1500" dirty="0"/>
          </a:p>
        </p:txBody>
      </p:sp>
      <p:sp>
        <p:nvSpPr>
          <p:cNvPr id="24" name="Text 22"/>
          <p:cNvSpPr/>
          <p:nvPr/>
        </p:nvSpPr>
        <p:spPr>
          <a:xfrm>
            <a:off x="6309360" y="51389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9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事例カタログ・臨時診断精緻化</a:t>
            </a:r>
            <a:endParaRPr lang="ja-JP" sz="900" dirty="0"/>
          </a:p>
        </p:txBody>
      </p:sp>
      <p:sp>
        <p:nvSpPr>
          <p:cNvPr id="25" name="Shape 23"/>
          <p:cNvSpPr/>
          <p:nvPr/>
        </p:nvSpPr>
        <p:spPr>
          <a:xfrm>
            <a:off x="8942832" y="4434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4F7EE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07424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本番へ</a:t>
            </a:r>
            <a:endParaRPr lang="ja-JP" sz="1000" dirty="0"/>
          </a:p>
        </p:txBody>
      </p:sp>
      <p:sp>
        <p:nvSpPr>
          <p:cNvPr id="27" name="Text 25"/>
          <p:cNvSpPr/>
          <p:nvPr/>
        </p:nvSpPr>
        <p:spPr>
          <a:xfrm>
            <a:off x="9107424" y="477316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実データ接続</a:t>
            </a:r>
            <a:endParaRPr lang="ja-JP" sz="1500" dirty="0"/>
          </a:p>
        </p:txBody>
      </p:sp>
      <p:sp>
        <p:nvSpPr>
          <p:cNvPr id="28" name="Text 26"/>
          <p:cNvSpPr/>
          <p:nvPr/>
        </p:nvSpPr>
        <p:spPr>
          <a:xfrm>
            <a:off x="9107424" y="51389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9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API接続・精度検証・体制設計</a:t>
            </a:r>
            <a:endParaRPr lang="ja-JP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56692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5F6F2"/>
          </a:solidFill>
          <a:ln w="12700">
            <a:solidFill>
              <a:srgbClr val="D8DCD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77240" y="5760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本日はまずアプリを実際に触っていただき、方向性への率直なフィードバック</a:t>
            </a:r>
            <a:pPr indent="0" marL="0">
              <a:buNone/>
            </a:pPr>
            <a:r>
              <a:rPr lang="ja-JP" sz="1200" dirty="0">
                <a:solidFill>
                  <a:srgbClr val="535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をいただくことがゴールです。</a:t>
            </a:r>
            <a:endParaRPr lang="ja-JP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900" b="1" dirty="0">
                <a:solidFill>
                  <a:srgbClr val="046A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Deloitte</a:t>
            </a:r>
            <a:pPr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｜    ご相談したいこと・次のステップ</a:t>
            </a:r>
            <a:endParaRPr lang="ja-JP" sz="900" dirty="0"/>
          </a:p>
        </p:txBody>
      </p:sp>
      <p:sp>
        <p:nvSpPr>
          <p:cNvPr id="32" name="Text 30"/>
          <p:cNvSpPr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sz="900" dirty="0">
                <a:solidFill>
                  <a:srgbClr val="8A8D8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ja-JP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6400800"/>
            <a:ext cx="11064240" cy="0"/>
          </a:xfrm>
          <a:prstGeom prst="line">
            <a:avLst/>
          </a:prstGeom>
          <a:noFill/>
          <a:ln w="9525">
            <a:solidFill>
              <a:srgbClr val="D8DCD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HHグループ AI経営診断OS 週次進捗レビュー</dc:title>
  <dc:subject>PptxGenJS Presentation</dc:subject>
  <dc:creator>Deloitte</dc:creator>
  <cp:lastModifiedBy>Deloitte</cp:lastModifiedBy>
  <cp:revision>1</cp:revision>
  <dcterms:created xsi:type="dcterms:W3CDTF">2026-07-05T06:32:14Z</dcterms:created>
  <dcterms:modified xsi:type="dcterms:W3CDTF">2026-07-05T06:32:14Z</dcterms:modified>
</cp:coreProperties>
</file>