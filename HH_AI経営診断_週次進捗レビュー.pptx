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822960" cy="14630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783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阪急阪神ホールディングス様 ｜ AI経営診断 PoC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AI経営診断OS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週次進捗レビュー ＆ アプリレビュー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経営者の「3つの問い」に答えるAI経営診断OSの開発進捗を共有し、モックアプリを体験いただきながら、設計の方向性・データ整備・優先度について論点をすり合わせます。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12700">
            <a:solidFill>
              <a:srgbClr val="D8DC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074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本日の目的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進捗共有 ＋ モック体験によるFB取得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5074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0" y="5349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PoC（公開／マスキングデータ前提）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63840" y="5074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0" y="5349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2026年7月 週次定例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Deloitte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本日のアジェンダ と 進捗ハイライト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5087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先方要望の理解と進め方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経営者の3つの問い ／ PoCの前提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5806440" cy="0"/>
          </a:xfrm>
          <a:prstGeom prst="line">
            <a:avLst/>
          </a:prstGeom>
          <a:noFill/>
          <a:ln w="6350">
            <a:solidFill>
              <a:srgbClr val="D8DC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1488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アプリ全体像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4機能 × 3つの問い × 想定UC7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15768"/>
            <a:ext cx="5806440" cy="0"/>
          </a:xfrm>
          <a:prstGeom prst="line">
            <a:avLst/>
          </a:prstGeom>
          <a:noFill/>
          <a:ln w="6350">
            <a:solidFill>
              <a:srgbClr val="D8DC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7889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優先度検討と実現の仕組み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Impact × Feasibility ／ 重要ポイント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55848"/>
            <a:ext cx="5806440" cy="0"/>
          </a:xfrm>
          <a:prstGeom prst="line">
            <a:avLst/>
          </a:prstGeom>
          <a:noFill/>
          <a:ln w="6350">
            <a:solidFill>
              <a:srgbClr val="D8DC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4290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各機能のコア要素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 × リンクUC × 想定データ一覧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5806440" cy="0"/>
          </a:xfrm>
          <a:prstGeom prst="line">
            <a:avLst/>
          </a:prstGeom>
          <a:noFill/>
          <a:ln w="6350">
            <a:solidFill>
              <a:srgbClr val="D8DC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69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40690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データ詳細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ソース・リンク・取得方法（API／DL）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636008"/>
            <a:ext cx="5806440" cy="0"/>
          </a:xfrm>
          <a:prstGeom prst="line">
            <a:avLst/>
          </a:prstGeom>
          <a:noFill/>
          <a:ln w="6350">
            <a:solidFill>
              <a:srgbClr val="D8DC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47091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進捗の現在地と課題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モック実装状況 ／ リスク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276088"/>
            <a:ext cx="5806440" cy="0"/>
          </a:xfrm>
          <a:prstGeom prst="line">
            <a:avLst/>
          </a:prstGeom>
          <a:noFill/>
          <a:ln w="6350">
            <a:solidFill>
              <a:srgbClr val="D8DC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349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53492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意思決定・お願い ＆ 次ステップ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916168"/>
            <a:ext cx="5806440" cy="0"/>
          </a:xfrm>
          <a:prstGeom prst="line">
            <a:avLst/>
          </a:prstGeom>
          <a:noFill/>
          <a:ln w="6350">
            <a:solidFill>
              <a:srgbClr val="D8DC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今週のハイライト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66560" y="1828800"/>
            <a:ext cx="2423160" cy="1097280"/>
          </a:xfrm>
          <a:prstGeom prst="roundRect">
            <a:avLst>
              <a:gd name="adj" fmla="val 5000"/>
            </a:avLst>
          </a:prstGeom>
          <a:solidFill>
            <a:srgbClr val="F4F7EE"/>
          </a:solidFill>
          <a:ln w="12700">
            <a:solidFill>
              <a:srgbClr val="D8DC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31152" y="19385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全体設計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31152" y="21762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4機能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931152" y="25786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3つの問い×UC7を統合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372600" y="1828800"/>
            <a:ext cx="2423160" cy="1097280"/>
          </a:xfrm>
          <a:prstGeom prst="roundRect">
            <a:avLst>
              <a:gd name="adj" fmla="val 5000"/>
            </a:avLst>
          </a:prstGeom>
          <a:solidFill>
            <a:srgbClr val="F4F7EE"/>
          </a:solidFill>
          <a:ln w="12700">
            <a:solidFill>
              <a:srgbClr val="D8DC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537192" y="19385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モック実装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537192" y="21762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8ビュー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9537192" y="25786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体験可能な動作モック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66560" y="3063240"/>
            <a:ext cx="2423160" cy="1097280"/>
          </a:xfrm>
          <a:prstGeom prst="roundRect">
            <a:avLst>
              <a:gd name="adj" fmla="val 5000"/>
            </a:avLst>
          </a:prstGeom>
          <a:solidFill>
            <a:srgbClr val="F4F7EE"/>
          </a:solidFill>
          <a:ln w="12700">
            <a:solidFill>
              <a:srgbClr val="D8DC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31152" y="31729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実装済コア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31152" y="34107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①定期診断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6931152" y="38130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5段パイプライン表示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372600" y="3063240"/>
            <a:ext cx="2423160" cy="1097280"/>
          </a:xfrm>
          <a:prstGeom prst="roundRect">
            <a:avLst>
              <a:gd name="adj" fmla="val 5000"/>
            </a:avLst>
          </a:prstGeom>
          <a:solidFill>
            <a:srgbClr val="F4F7EE"/>
          </a:solidFill>
          <a:ln w="12700">
            <a:solidFill>
              <a:srgbClr val="D8DC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537192" y="31729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本日ご相談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537192" y="34107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3件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9537192" y="38130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優先度・データ・許諾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766560" y="4434840"/>
            <a:ext cx="5029200" cy="1051560"/>
          </a:xfrm>
          <a:prstGeom prst="roundRect">
            <a:avLst>
              <a:gd name="adj" fmla="val 5217"/>
            </a:avLst>
          </a:prstGeom>
          <a:solidFill>
            <a:srgbClr val="F5F6F2"/>
          </a:solidFill>
          <a:ln w="12700">
            <a:solidFill>
              <a:srgbClr val="D8DC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995160" y="45720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本日は「体験 → フィードバック → 精緻化」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の反復サイクルの起点として、実際に触れる形でお見せします。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Deloitte</a:t>
            </a:r>
            <a:pPr indent="0" marL="0">
              <a:buNone/>
            </a:pPr>
            <a:r>
              <a:rPr lang="en-US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｜    アジェンダ／ハイライト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8DCD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UNDERSTANDING &amp;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先方要望の理解 と 進め方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すべてのユースケースは、経営者の「3つの問い」に帰着すると理解しました。この問いに答えることを設計の出発点に置いています。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9019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問い① ／ 気づく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1396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何が起きた／起きうるのか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4505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計画とのズレ、外部環境の変化、突発事象。見えていなかったものに気づきたい。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0248" y="178308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53128" y="19019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問い② ／ 見極める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53128" y="21396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うちにどれくらい効くのか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53128" y="24505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どの事業に、どの経路で、どの程度の影響か。判断に足る確からしさで見極めたい。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91856" y="178308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74736" y="19019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問い③ ／ 打ち手を選ぶ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74736" y="21396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どうすればいいのか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74736" y="24505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取りうる選択肢は何か。それぞれの得失は。過去はどう対処したのか。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私たちの解釈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7つの想定UCは3つの問いのいずれかに必ず帰着。個別UCを別々に作らず、問いに答える「機能」の構造へ再編する。</a:t>
            </a:r>
            <a:endParaRPr lang="en-US" sz="110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影響度は点推定せず「方向×大きさのオーダー×確度」の幅で示す。生成AIの弱点を仕様で守る。</a:t>
            </a:r>
            <a:endParaRPr lang="en-US" sz="110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役員が見るのは「今日の論点」1画面。UIは増やさず、全機能の出力を経営ブリーフ1枚の型に固定する。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進め方（PoCの前提）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74904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体験 → FB → 精緻化 の反復。まずモックで完成イメージを共有し、方向性を固める。</a:t>
            </a:r>
            <a:endParaRPr lang="en-US" sz="110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公開データ ＋ マスキング社内データ 前提。精度保証はしない段階として合意。</a:t>
            </a:r>
            <a:endParaRPr lang="en-US" sz="110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事業構造マップ・事例基盤はドラフト（たたき台）。妥当性は先方レビューで確定していく。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Deloitte</a:t>
            </a:r>
            <a:pPr indent="0" marL="0">
              <a:buNone/>
            </a:pPr>
            <a:r>
              <a:rPr lang="en-US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｜    先方要望の理解と進め方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8DCD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｜ WHOLE PICTURE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アプリ全体像 ― 4機能 × 3つの問い × 想定UC7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「気づく → 見極める → 打ち手」を1本のパイプラインでつなぐ。⓪が発火し、①②が診断し、③が相場観を供給する。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794760" y="1691640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F4F7EE"/>
          </a:solidFill>
          <a:ln w="15875">
            <a:solidFill>
              <a:srgbClr val="86BC2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94760" y="1783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⓪ 常時センシング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20756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KPI進捗・外部指標の定常監視（スケジュール駆動）　▶ UC-1・2 検知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4572000" cy="822960"/>
          </a:xfrm>
          <a:prstGeom prst="roundRect">
            <a:avLst>
              <a:gd name="adj" fmla="val 6667"/>
            </a:avLst>
          </a:prstGeom>
          <a:solidFill>
            <a:srgbClr val="F2F7EA"/>
          </a:solidFill>
          <a:ln w="15875">
            <a:solidFill>
              <a:srgbClr val="86BC2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017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定期診断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3101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事業計画の整合性・論理性・リスク精査（計画提出で駆動）　▶ UC-1〜4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0" y="2926080"/>
            <a:ext cx="4572000" cy="822960"/>
          </a:xfrm>
          <a:prstGeom prst="roundRect">
            <a:avLst>
              <a:gd name="adj" fmla="val 6667"/>
            </a:avLst>
          </a:prstGeom>
          <a:solidFill>
            <a:srgbClr val="F8ECE9"/>
          </a:solidFill>
          <a:ln w="15875">
            <a:solidFill>
              <a:srgbClr val="B33A2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0" y="3017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3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臨時診断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95160" y="33101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急変・突発事象の影響度シナリオ分析（イベント駆動）　▶ UC-5〜7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94560" y="4160520"/>
            <a:ext cx="7772400" cy="658368"/>
          </a:xfrm>
          <a:prstGeom prst="roundRect">
            <a:avLst>
              <a:gd name="adj" fmla="val 8333"/>
            </a:avLst>
          </a:prstGeom>
          <a:solidFill>
            <a:srgbClr val="F0F1ED"/>
          </a:solidFill>
          <a:ln w="15875">
            <a:solidFill>
              <a:srgbClr val="B8BCAE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94560" y="42519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事例ナレッジ基盤（RAG）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31720" y="454456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外部の類似イベント事例が主役　▶ ①②の出力に「過去の類似局面」を自動添付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 flipH="1">
            <a:off x="3931920" y="2404872"/>
            <a:ext cx="1371600" cy="521208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58000" y="2404872"/>
            <a:ext cx="1371600" cy="521208"/>
          </a:xfrm>
          <a:prstGeom prst="line">
            <a:avLst/>
          </a:prstGeom>
          <a:noFill/>
          <a:ln w="22225">
            <a:solidFill>
              <a:srgbClr val="B33A2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3017520" y="3749040"/>
            <a:ext cx="914" cy="41148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9144000" y="3749040"/>
            <a:ext cx="914" cy="41148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00100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3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急変検知で自動発火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同一パイプライン／トリガー違い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0" y="3794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類似事例・相場観を供給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0292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212080"/>
                <a:gridCol w="1828800"/>
                <a:gridCol w="182880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機能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役割（トリガー × レイヤー）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対応UC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答える問い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46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⓪ 常時センシング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KPI・外部指標を定常監視。急変検知で②を自動発火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UC-1・2 検知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問い①（気づく）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46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定期診断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各社事業計画の整合性・論理性・リスクをHD横断で精査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UC-1〜4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問い①②③ すべて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3A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 臨時診断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急変・突発事象の影響度をシナリオ分析（①と同一）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UC-5〜7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問い②③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46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 事例ナレッジ基盤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外部の類似事例が主役。①②の出力に類似局面を自動添付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全UCに供給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②③の確からしさ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Deloitte</a:t>
            </a:r>
            <a:pPr indent="0" marL="0">
              <a:buNone/>
            </a:pPr>
            <a:r>
              <a:rPr lang="en-US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｜    アプリ全体像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8DCD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｜ PRIORITIZATION &amp; MECHANISM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優先度検討 と 実現の仕組み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4機能はいずれも実現前提。Impact × Feasibility で立ち上げ順序を仕分け、難点は計画的に潰す。（▲データ取得／◆技術難易度／●運用・体制／■ライセンス）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Impact × Feasibility（初期仮説）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743200" cy="1463040"/>
          </a:xfrm>
          <a:prstGeom prst="roundRect">
            <a:avLst>
              <a:gd name="adj" fmla="val 3750"/>
            </a:avLst>
          </a:prstGeom>
          <a:solidFill>
            <a:srgbClr val="FDFAF3"/>
          </a:solidFill>
          <a:ln w="12700">
            <a:solidFill>
              <a:srgbClr val="D8DC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240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86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【次の重点】高 × 中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4963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B33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臨時診断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（UC5-7）▲◆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事例基盤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（▲■）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227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③が充実するほど②の実現性が上がる（③→②依存）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29000" y="2148840"/>
            <a:ext cx="2743200" cy="1463040"/>
          </a:xfrm>
          <a:prstGeom prst="roundRect">
            <a:avLst>
              <a:gd name="adj" fmla="val 3750"/>
            </a:avLst>
          </a:prstGeom>
          <a:solidFill>
            <a:srgbClr val="F5FAEE"/>
          </a:solidFill>
          <a:ln w="12700">
            <a:solidFill>
              <a:srgbClr val="D8DC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2240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【継続深化】高 × 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0" y="24963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定期診断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（UC1-4）◆一部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66160" y="3227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実装済。UC-3の変化検知精度を磨き込む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FBFBF9"/>
          </a:solidFill>
          <a:ln w="12700">
            <a:solidFill>
              <a:srgbClr val="D8DC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794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 × 中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40507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―（該当なし）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29000" y="3703320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F5FAEE"/>
          </a:solidFill>
          <a:ln w="12700">
            <a:solidFill>
              <a:srgbClr val="D8DC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66160" y="3794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【土台維持】中 × 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40507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⓪ 常時センシング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（▲）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66160" y="46908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単体価値より②の発火装置として効く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5166360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← Feasibility 中 → 高 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4652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実現の仕組み ― 重要ポイント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210312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パイプライン共通化：</a:t>
            </a:r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①定期と②臨時は診断の中身がほぼ同一。開発量を大きく圧縮。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③→②の依存：</a:t>
            </a:r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事例基盤の網羅性が②の確からしさを左右。③の整備が全体の鍵。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影響度は幅で：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点推定せず「方向×オーダー×確度」＋根拠（パスID）を必ず添える。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4652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想定の実現手法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39319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⓪：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自動取得→閾値・変化率ルールで異常検知→LLMが差分を言語化。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①：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観点別プロンプトチェーン（外部整合→内部論理→リスク→事例→ブリーフ）。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②：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イベント構造化→事業構造マップで因果トレース→相場観取得→打ち手網羅。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③：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カタログ定義→収集→LLM構造化→人がレビュー登録→構造的類似で検索。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Deloitte</a:t>
            </a:r>
            <a:pPr indent="0" marL="0">
              <a:buNone/>
            </a:pPr>
            <a:r>
              <a:rPr lang="en-US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｜    優先度検討と実現の仕組み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8DCD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｜ FUNCTION CORE ELEMENTS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各機能のコア要素 ― 機能 × リンクUC × 想定データ一覧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各機能が「食べる情報」を、データ種類・概要・取得可否で整理。取得可否は現段階の見立て（次頁で詳細）。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4480560"/>
                <a:gridCol w="1188720"/>
                <a:gridCol w="12801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機能 / リンクUC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データ種類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概要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取得可否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区分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</a:tr>
              <a:tr h="274320">
                <a:tc row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46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⓪ 常時センシング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UC-1・2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公開外部指標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為替・金利・訪日客数・地価等。Web／公開APIから自動取得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F8F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公開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社内KPI実績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運輸収入・稼働率・興行収入等（マスキング前提）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860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要提供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監視ルール定義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閾値・変化率ルール（自社で定義）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F8F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自社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46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定期診断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UC-1〜4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提出事業計画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各社の事業計画（提出タイミングで投入）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860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要提供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前回計画・前回診断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差分・トーン変化の比較基準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860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要提供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最新外部環境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計画前提と突合する外部データ（Web取得）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F8F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公開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事業構造マップ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因果パス（EXT→BIZ→KPI）。自社ナレッジ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F8F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自社ドラフト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row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3A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 臨時診断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UC-5〜7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トリガーイベント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⓪の急変検知 or 人の手動起動（内容記述）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F8F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自動／手動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直近KPI・計画値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影響試算の起点（マスキング前提）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860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要提供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最新報道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イベント詳細のWeb検索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F8F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公開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row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46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 事例ナレッジ基盤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全UCに供給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外部事例（主 8〜9割）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有報・決算資料／官公庁統計／他社リリース／シンクタンク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F8F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公開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外部事例（新聞DB）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新聞・業界紙データベース（相場観の中核）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860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B33A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■ライセンス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自社意思決定ログ（従）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過去の対応・結果の蓄積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860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要提供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23620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取得可否　○ 公開／API等で取得可　　△ 一部・要調整（マスキング提供・契約・整備が必要）　　× 未整備・新規開拓が必要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Deloitte</a:t>
            </a:r>
            <a:pPr indent="0" marL="0">
              <a:buNone/>
            </a:pPr>
            <a:r>
              <a:rPr lang="en-US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｜    各機能のコア要素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8DCD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｜ DATA DETAIL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データ詳細 ― ソース・取得方法・取得可否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各データの想定ソースと取得方法（API／DL／提供／手動）を整理。ソースは現段階のたたき台で、確定は先方レビューによる。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651760"/>
                <a:gridCol w="2377440"/>
                <a:gridCol w="1737360"/>
                <a:gridCol w="685800"/>
                <a:gridCol w="150876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想定ソース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リンク / 参照先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取得方法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可否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為替（USD/JPY・CNY/JPY）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日本銀行 時系列統計データ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stat-search.boj.or.jp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API／CSV DL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F8F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日次更新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長期金利・政策金利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財務省 国債金利情報／日銀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mof.go.jp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CSV DL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F8F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日次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訪日外客数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日本政府観光局（JNTO）／観光庁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jnto.go.jp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Excel／CSV DL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F8F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月次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関西空港入国者数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出入国在留管理庁 統計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e-stat.go.jp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API／DL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F8F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月次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沿線人口・転入超過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総務省 住民基本台帳人口移動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e-Stat API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API／DL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F8F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月次／年次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地価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国交省 地価公示・地価調査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土地総合情報システム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API／DL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F8F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年次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建設物価・労務単価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国交省／建設物価調査会 等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mlit.go.jp 他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DL（一部有償）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860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一部契約要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気象・災害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気象庁 防災情報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jma.go.jp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API（XML）／DL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F8F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随時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個人消費・景気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総務省 家計調査／内閣府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e-Stat／cao.go.jp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API／DL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F8F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月次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大型イベント・施設変更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主催者・自治体・各社リリース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各公式サイト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Web／手動収集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860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構造化要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決算・有報・IR資料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EDINET／各社IR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disclosure.edinet-fsa.go.jp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API（XBRL）／DL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F8F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四半期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事例（新聞・業界紙）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日経テレコン 等 新聞DB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要契約サービス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契約／API（有償）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860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B33A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■許諾判断要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社内KPI・事業計画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HH各社 基幹／管理会計（マスク）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先方提供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提供（方式未定）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860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粒度を要合意</a:t>
                      </a:r>
                      <a:endParaRPr lang="en-US" sz="8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26364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URLは代表的な参照先の例示。API接続・提供方式・更新頻度は本番設計フェーズで確定。現PoCのモックは全てダミーデータでオフライン動作。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Deloitte</a:t>
            </a:r>
            <a:pPr indent="0" marL="0">
              <a:buNone/>
            </a:pPr>
            <a:r>
              <a:rPr lang="en-US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｜    データ詳細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8DCD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STATUS &amp; ISSUES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進捗の現在地 と 課題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動作するモックで8ビューを体験可能。バックエンドは現段階すべてダミー（オフライン動作）。実装状況と主要課題を整理。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モック実装状況（8ビュー）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5577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2286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ビュー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状態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センシング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F8F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実装済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5事業シグナル＋指標詳細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定期診断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F8F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実装済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5段パイプラインの段階表示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シナリオ（臨時）診断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9860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一部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画面・遷移は動作／内容は限定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経営ブリーフ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F8F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実装済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共通1枚型レポート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事例ナレッジ基盤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F8F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実装済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類似検索（ダミースコア）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AIアシスタント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9860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一部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深掘り／質問（ダミー応答）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株主総会QAサポート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33A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近日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プレースホルダー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アプリの構造／FBボード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F8F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実装済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ドキュメント／改善提案集計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主要課題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210312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UC-3 変化検知の精度 ◆：</a:t>
            </a:r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文書横断で同一テーマのトーン・論点変化を捉える精度に課題。磨き込み対象。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②③のデータ整備 ▲：</a:t>
            </a:r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事例の網羅性が②の成否を左右。イベントカタログ定義と収集サイクルが未着手。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新聞DBのライセンス ■：</a:t>
            </a:r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相場観の中核となる新聞・業界紙DBの契約可否・費用の判断が必要。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事業構造マップの妥当性 ●：</a:t>
            </a:r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因果パス約20本はドラフト。向き・強さ・欠落の先方レビューが前提。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実データ接続：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現状は全ダミー。社内KPIのマスキング提供方式・粒度が未定。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Deloitte</a:t>
            </a:r>
            <a:pPr indent="0" marL="0">
              <a:buNone/>
            </a:pPr>
            <a:r>
              <a:rPr lang="en-US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｜    進捗の現在地と課題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8DCD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DECISIONS, ASKS &amp;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ご相談したいこと と 次のステップ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前進のために、本日ご意思決定・ご協力いただきたい事項です。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38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意思決定いただきたいこと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優先UCの合意：</a:t>
            </a: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「①継続深化」＋「②③を次の重点」で進める方針でよいか。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データ提供範囲：</a:t>
            </a: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社内KPI・事業計画のマスキング粒度と提供可能な範囲。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事例DBライセンス：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新聞DB等の有償ソースを採用するか（費用対効果の判断）。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035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9385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ご協力お願いしたいこと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22860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事業構造マップのレビュー：</a:t>
            </a: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因果パスの向き・強さ・欠落を有識者にご確認いただきたい。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サンプル事業計画の提供：</a:t>
            </a: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①定期診断の検証用に1社分（マスキング可）。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事例カタログ対象の合意：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収集すべき事象タイプ（コロナ・万博・災害・施設移転 等）の優先順位。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次のステップ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4F7EE"/>
          </a:solidFill>
          <a:ln w="12700">
            <a:solidFill>
              <a:srgbClr val="D8DC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" y="45445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4773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モック体験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" y="5138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完成イメージ共有・FB取得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46704" y="443484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4F7EE"/>
          </a:solidFill>
          <a:ln w="12700">
            <a:solidFill>
              <a:srgbClr val="D8DC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11296" y="45445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〜次回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11296" y="4773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FB反映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11296" y="5138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優先UC確定・データ調整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44768" y="443484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4F7EE"/>
          </a:solidFill>
          <a:ln w="12700">
            <a:solidFill>
              <a:srgbClr val="D8DC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9360" y="45445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短期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4773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②③着手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09360" y="5138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事例カタログ・臨時診断精緻化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942832" y="443484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4F7EE"/>
          </a:solidFill>
          <a:ln w="12700">
            <a:solidFill>
              <a:srgbClr val="D8DC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07424" y="45445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07424" y="4773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実データ接続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07424" y="5138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API接続・精度検証・体制設計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56692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6F2"/>
          </a:solidFill>
          <a:ln w="12700">
            <a:solidFill>
              <a:srgbClr val="D8DC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" y="5760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本日はまずアプリを実際に触っていただき、方向性への率直なフィードバック</a:t>
            </a:r>
            <a:pPr indent="0" marL="0">
              <a:buNone/>
            </a:pPr>
            <a:r>
              <a:rPr lang="en-US" sz="12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をいただくことがゴールです。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Deloitte</a:t>
            </a:r>
            <a:pPr indent="0" marL="0">
              <a:buNone/>
            </a:pPr>
            <a:r>
              <a:rPr lang="en-US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｜    ご相談したいこと・次のステップ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8DCD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HHグループ AI経営診断OS 週次進捗レビュー</dc:title>
  <dc:subject>PptxGenJS Presentation</dc:subject>
  <dc:creator>Deloitte</dc:creator>
  <cp:lastModifiedBy>Deloitte</cp:lastModifiedBy>
  <cp:revision>1</cp:revision>
  <dcterms:created xsi:type="dcterms:W3CDTF">2026-07-05T06:32:14Z</dcterms:created>
  <dcterms:modified xsi:type="dcterms:W3CDTF">2026-07-05T06:32:14Z</dcterms:modified>
</cp:coreProperties>
</file>