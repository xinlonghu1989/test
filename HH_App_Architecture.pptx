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/>
            </a:r>
            <a:endParaRPr 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/>
              <a:t>1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/>
            </a:r>
            <a:endParaRPr 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/>
              <a:t>2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/>
            </a:r>
            <a:endParaRPr 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/>
              <a:t>3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/>
            </a:r>
            <a:endParaRPr 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/>
              <a:t>4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/>
            </a:r>
            <a:endParaRPr 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/>
              <a:t>5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554480"/>
            <a:ext cx="822960" cy="13716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74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spc="200" kern="0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System Architecture ｜ 簡易構成（たたき台）</a:t>
            </a:r>
            <a:endParaRPr lang="ja-JP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4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AI経営診断OS ― 簡易システム構成図</a:t>
            </a:r>
            <a:endParaRPr lang="ja-JP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ja-JP" altLang="en-US" sz="140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同じアプリ・AI構成を、PoC段階と簡易本番基盤の2つの配置パターンで示す。違いは主にデータ層の置き場所（PoC＝EC2内に集約／本番＝閉域S3 or 自社サーバーに分離）とアクセス制御の強度。</a:t>
            </a:r>
            <a:endParaRPr lang="ja-JP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0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Deloitte</a:t>
            </a:r>
            <a:endParaRPr lang="ja-JP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18872" cy="118872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spc="200" kern="0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PoC段階の構成</a:t>
            </a:r>
            <a:endParaRPr lang="ja-JP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8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アプリ・診断・データ層を Amazon EC2 に集約</a:t>
            </a:r>
            <a:endParaRPr lang="ja-JP" sz="1800" dirty="0"/>
          </a:p>
        </p:txBody>
      </p:sp>
      <p:sp>
        <p:nvSpPr>
          <p:cNvPr id="5" name="Shape 3"/>
          <p:cNvSpPr/>
          <p:nvPr/>
        </p:nvSpPr>
        <p:spPr>
          <a:xfrm>
            <a:off x="3243507" y="1149531"/>
            <a:ext cx="8010144" cy="4357769"/>
          </a:xfrm>
          <a:prstGeom prst="roundRect">
            <a:avLst>
              <a:gd name="adj" fmla="val 1727"/>
            </a:avLst>
          </a:prstGeom>
          <a:solidFill>
            <a:srgbClr val="F5F8F2"/>
          </a:solidFill>
          <a:ln w="19050">
            <a:solidFill>
              <a:srgbClr val="046A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68911" y="1416014"/>
            <a:ext cx="5580453" cy="3730752"/>
          </a:xfrm>
          <a:prstGeom prst="roundRect">
            <a:avLst>
              <a:gd name="adj" fmla="val 1513"/>
            </a:avLst>
          </a:prstGeom>
          <a:solidFill>
            <a:srgbClr val="FFFFFF"/>
          </a:solidFill>
          <a:ln w="15240">
            <a:solidFill>
              <a:srgbClr val="9FB98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907869" y="1557093"/>
            <a:ext cx="1316736" cy="501614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5240">
            <a:solidFill>
              <a:srgbClr val="D8DC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7869" y="2325189"/>
            <a:ext cx="1316736" cy="501614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5240">
            <a:solidFill>
              <a:srgbClr val="D8DC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65683" y="1510066"/>
            <a:ext cx="783771" cy="1818350"/>
          </a:xfrm>
          <a:prstGeom prst="roundRect">
            <a:avLst>
              <a:gd name="adj" fmla="val 7200"/>
            </a:avLst>
          </a:prstGeom>
          <a:solidFill>
            <a:srgbClr val="FBF4E6"/>
          </a:solidFill>
          <a:ln w="16510">
            <a:solidFill>
              <a:srgbClr val="C9860A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444061" y="1760873"/>
            <a:ext cx="627017" cy="235131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C9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44061" y="2058706"/>
            <a:ext cx="627017" cy="31350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C9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44061" y="2434917"/>
            <a:ext cx="627017" cy="297833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4C9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8639" y="1588443"/>
            <a:ext cx="1379438" cy="736745"/>
          </a:xfrm>
          <a:prstGeom prst="roundRect">
            <a:avLst>
              <a:gd name="adj" fmla="val 7660"/>
            </a:avLst>
          </a:prstGeom>
          <a:solidFill>
            <a:srgbClr val="F2F7EA"/>
          </a:solidFill>
          <a:ln w="16510">
            <a:solidFill>
              <a:srgbClr val="86BC2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40234" y="1541417"/>
            <a:ext cx="3715077" cy="783771"/>
          </a:xfrm>
          <a:prstGeom prst="roundRect">
            <a:avLst>
              <a:gd name="adj" fmla="val 7200"/>
            </a:avLst>
          </a:prstGeom>
          <a:solidFill>
            <a:srgbClr val="EDF4E1"/>
          </a:solidFill>
          <a:ln w="16510">
            <a:solidFill>
              <a:srgbClr val="5E7C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72691" y="2560320"/>
            <a:ext cx="1536192" cy="689719"/>
          </a:xfrm>
          <a:prstGeom prst="roundRect">
            <a:avLst>
              <a:gd name="adj" fmla="val 8182"/>
            </a:avLst>
          </a:prstGeom>
          <a:solidFill>
            <a:srgbClr val="E9F0F0"/>
          </a:solidFill>
          <a:ln w="16510">
            <a:solidFill>
              <a:srgbClr val="0076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59690" y="2560320"/>
            <a:ext cx="1536192" cy="689719"/>
          </a:xfrm>
          <a:prstGeom prst="roundRect">
            <a:avLst>
              <a:gd name="adj" fmla="val 8182"/>
            </a:avLst>
          </a:prstGeom>
          <a:solidFill>
            <a:srgbClr val="F8ECE9"/>
          </a:solidFill>
          <a:ln w="16510">
            <a:solidFill>
              <a:srgbClr val="B33A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09898" y="2544645"/>
            <a:ext cx="1755648" cy="721070"/>
          </a:xfrm>
          <a:prstGeom prst="roundRect">
            <a:avLst>
              <a:gd name="adj" fmla="val 7826"/>
            </a:avLst>
          </a:prstGeom>
          <a:solidFill>
            <a:srgbClr val="EEF4E2"/>
          </a:solidFill>
          <a:ln w="20320">
            <a:solidFill>
              <a:srgbClr val="046A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8639" y="3563547"/>
            <a:ext cx="1645920" cy="799447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6510">
            <a:solidFill>
              <a:srgbClr val="0076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96989" y="3563547"/>
            <a:ext cx="2006455" cy="799447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6510">
            <a:solidFill>
              <a:srgbClr val="046A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75873" y="3563547"/>
            <a:ext cx="1379438" cy="799447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6510">
            <a:solidFill>
              <a:srgbClr val="9FB9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40234" y="5193792"/>
            <a:ext cx="2006455" cy="282158"/>
          </a:xfrm>
          <a:prstGeom prst="roundRect">
            <a:avLst>
              <a:gd name="adj" fmla="val 20000"/>
            </a:avLst>
          </a:prstGeom>
          <a:solidFill>
            <a:srgbClr val="FBF4E6"/>
          </a:solidFill>
          <a:ln w="16510">
            <a:solidFill>
              <a:srgbClr val="C9860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8639" y="5805134"/>
            <a:ext cx="2586446" cy="564315"/>
          </a:xfrm>
          <a:prstGeom prst="roundRect">
            <a:avLst>
              <a:gd name="adj" fmla="val 10000"/>
            </a:avLst>
          </a:prstGeom>
          <a:solidFill>
            <a:srgbClr val="F0F1ED"/>
          </a:solidFill>
          <a:ln w="15240">
            <a:solidFill>
              <a:srgbClr val="B8BCA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37514" y="5805134"/>
            <a:ext cx="1802674" cy="564315"/>
          </a:xfrm>
          <a:prstGeom prst="roundRect">
            <a:avLst>
              <a:gd name="adj" fmla="val 10000"/>
            </a:avLst>
          </a:prstGeom>
          <a:solidFill>
            <a:srgbClr val="F0F1ED"/>
          </a:solidFill>
          <a:ln w="15240">
            <a:solidFill>
              <a:srgbClr val="B8BCA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12618" y="5805134"/>
            <a:ext cx="2586446" cy="564315"/>
          </a:xfrm>
          <a:prstGeom prst="roundRect">
            <a:avLst>
              <a:gd name="adj" fmla="val 10000"/>
            </a:avLst>
          </a:prstGeom>
          <a:solidFill>
            <a:srgbClr val="F0F1ED"/>
          </a:solidFill>
          <a:ln w="15240">
            <a:solidFill>
              <a:srgbClr val="B8BCA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4605" y="1807899"/>
            <a:ext cx="141079" cy="141079"/>
          </a:xfrm>
          <a:prstGeom prst="line">
            <a:avLst/>
          </a:prstGeom>
          <a:noFill/>
          <a:ln w="19050">
            <a:solidFill>
              <a:srgbClr val="8A8D87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2224605" y="2403566"/>
            <a:ext cx="141079" cy="156754"/>
          </a:xfrm>
          <a:prstGeom prst="line">
            <a:avLst/>
          </a:prstGeom>
          <a:noFill/>
          <a:ln w="19050">
            <a:solidFill>
              <a:srgbClr val="8A8D87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149455" y="1956816"/>
            <a:ext cx="329184" cy="914"/>
          </a:xfrm>
          <a:prstGeom prst="line">
            <a:avLst/>
          </a:prstGeom>
          <a:noFill/>
          <a:ln w="20320">
            <a:solidFill>
              <a:srgbClr val="8A8D8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858077" y="1901952"/>
            <a:ext cx="282158" cy="914"/>
          </a:xfrm>
          <a:prstGeom prst="line">
            <a:avLst/>
          </a:prstGeom>
          <a:noFill/>
          <a:ln w="20320">
            <a:solidFill>
              <a:srgbClr val="5E7C3E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H="1">
            <a:off x="4858077" y="2058706"/>
            <a:ext cx="282158" cy="914"/>
          </a:xfrm>
          <a:prstGeom prst="line">
            <a:avLst/>
          </a:prstGeom>
          <a:noFill/>
          <a:ln w="17780">
            <a:solidFill>
              <a:srgbClr val="5E7C3E"/>
            </a:solidFill>
            <a:prstDash val="dash"/>
            <a:tailEnd type="triangle"/>
          </a:ln>
        </p:spPr>
      </p:sp>
      <p:sp>
        <p:nvSpPr>
          <p:cNvPr id="30" name="Shape 28"/>
          <p:cNvSpPr/>
          <p:nvPr/>
        </p:nvSpPr>
        <p:spPr>
          <a:xfrm flipH="1">
            <a:off x="4434840" y="2325189"/>
            <a:ext cx="1332411" cy="235131"/>
          </a:xfrm>
          <a:prstGeom prst="line">
            <a:avLst/>
          </a:prstGeom>
          <a:noFill/>
          <a:ln w="19050">
            <a:solidFill>
              <a:srgbClr val="8A8D87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434840" y="3250039"/>
            <a:ext cx="1018903" cy="313509"/>
          </a:xfrm>
          <a:prstGeom prst="line">
            <a:avLst/>
          </a:prstGeom>
          <a:noFill/>
          <a:ln w="19050">
            <a:solidFill>
              <a:srgbClr val="8A8D87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H="1">
            <a:off x="6159137" y="2325189"/>
            <a:ext cx="235131" cy="235131"/>
          </a:xfrm>
          <a:prstGeom prst="line">
            <a:avLst/>
          </a:prstGeom>
          <a:noFill/>
          <a:ln w="19050">
            <a:solidFill>
              <a:srgbClr val="8A8D87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895882" y="2889504"/>
            <a:ext cx="2414016" cy="914"/>
          </a:xfrm>
          <a:prstGeom prst="line">
            <a:avLst/>
          </a:prstGeom>
          <a:noFill/>
          <a:ln w="21590">
            <a:solidFill>
              <a:srgbClr val="046A3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H="1">
            <a:off x="6911558" y="3046258"/>
            <a:ext cx="2398341" cy="914"/>
          </a:xfrm>
          <a:prstGeom prst="line">
            <a:avLst/>
          </a:prstGeom>
          <a:noFill/>
          <a:ln w="16510">
            <a:solidFill>
              <a:srgbClr val="046A38"/>
            </a:solidFill>
            <a:prstDash val="dash"/>
            <a:tailEnd type="triangle"/>
          </a:ln>
        </p:spPr>
      </p:sp>
      <p:sp>
        <p:nvSpPr>
          <p:cNvPr id="35" name="Shape 33"/>
          <p:cNvSpPr/>
          <p:nvPr/>
        </p:nvSpPr>
        <p:spPr>
          <a:xfrm flipH="1">
            <a:off x="4434840" y="2325189"/>
            <a:ext cx="1018903" cy="1238359"/>
          </a:xfrm>
          <a:prstGeom prst="line">
            <a:avLst/>
          </a:prstGeom>
          <a:noFill/>
          <a:ln w="16510">
            <a:solidFill>
              <a:srgbClr val="8A8D87"/>
            </a:solidFill>
            <a:prstDash val="dash"/>
            <a:tailEnd type="triangle"/>
          </a:ln>
        </p:spPr>
      </p:sp>
      <p:sp>
        <p:nvSpPr>
          <p:cNvPr id="36" name="Shape 34"/>
          <p:cNvSpPr/>
          <p:nvPr/>
        </p:nvSpPr>
        <p:spPr>
          <a:xfrm flipH="1" flipV="1">
            <a:off x="4434840" y="4362994"/>
            <a:ext cx="235131" cy="1442139"/>
          </a:xfrm>
          <a:prstGeom prst="line">
            <a:avLst/>
          </a:prstGeom>
          <a:noFill/>
          <a:ln w="20320">
            <a:solidFill>
              <a:srgbClr val="C9860A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H="1" flipV="1">
            <a:off x="6394269" y="4362994"/>
            <a:ext cx="744583" cy="1442139"/>
          </a:xfrm>
          <a:prstGeom prst="line">
            <a:avLst/>
          </a:prstGeom>
          <a:noFill/>
          <a:ln w="20320">
            <a:solidFill>
              <a:srgbClr val="C9860A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667206" y="2325189"/>
            <a:ext cx="744583" cy="3432919"/>
          </a:xfrm>
          <a:prstGeom prst="line">
            <a:avLst/>
          </a:prstGeom>
          <a:noFill/>
          <a:ln w="17780">
            <a:solidFill>
              <a:srgbClr val="B33A2B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3368911" y="1228489"/>
            <a:ext cx="62179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80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クラウド（VPC）</a:t>
            </a:r>
            <a:endParaRPr lang="ja-JP" sz="800" dirty="0"/>
          </a:p>
        </p:txBody>
      </p:sp>
      <p:sp>
        <p:nvSpPr>
          <p:cNvPr id="40" name="Text 38"/>
          <p:cNvSpPr/>
          <p:nvPr/>
        </p:nvSpPr>
        <p:spPr>
          <a:xfrm>
            <a:off x="3462963" y="4969757"/>
            <a:ext cx="6217920" cy="135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710" b="1" dirty="0">
                <a:solidFill>
                  <a:srgbClr val="5E7C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Amazon EC2（PoC：アプリ・診断・データ層を1インスタンスに集約）</a:t>
            </a:r>
            <a:endParaRPr lang="ja-JP" sz="710" dirty="0"/>
          </a:p>
        </p:txBody>
      </p:sp>
      <p:sp>
        <p:nvSpPr>
          <p:cNvPr id="41" name="Text 39"/>
          <p:cNvSpPr/>
          <p:nvPr/>
        </p:nvSpPr>
        <p:spPr>
          <a:xfrm>
            <a:off x="907869" y="1184968"/>
            <a:ext cx="6217920" cy="146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770" b="1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ユーザー</a:t>
            </a:r>
            <a:endParaRPr lang="ja-JP" sz="770" dirty="0"/>
          </a:p>
        </p:txBody>
      </p:sp>
      <p:sp>
        <p:nvSpPr>
          <p:cNvPr id="42" name="Text 40"/>
          <p:cNvSpPr/>
          <p:nvPr/>
        </p:nvSpPr>
        <p:spPr>
          <a:xfrm>
            <a:off x="194637" y="1675239"/>
            <a:ext cx="274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8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使用者</a:t>
            </a:r>
            <a:endParaRPr lang="ja-JP" sz="800" dirty="0"/>
          </a:p>
        </p:txBody>
      </p:sp>
      <p:sp>
        <p:nvSpPr>
          <p:cNvPr id="43" name="Text 41"/>
          <p:cNvSpPr/>
          <p:nvPr/>
        </p:nvSpPr>
        <p:spPr>
          <a:xfrm>
            <a:off x="194637" y="1850688"/>
            <a:ext cx="274320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4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役員・事業責任者（閲覧）</a:t>
            </a:r>
            <a:endParaRPr lang="ja-JP" sz="640" dirty="0"/>
          </a:p>
        </p:txBody>
      </p:sp>
      <p:sp>
        <p:nvSpPr>
          <p:cNvPr id="44" name="Text 42"/>
          <p:cNvSpPr/>
          <p:nvPr/>
        </p:nvSpPr>
        <p:spPr>
          <a:xfrm>
            <a:off x="194637" y="2443335"/>
            <a:ext cx="274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8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管理者</a:t>
            </a:r>
            <a:endParaRPr lang="ja-JP" sz="800" dirty="0"/>
          </a:p>
        </p:txBody>
      </p:sp>
      <p:sp>
        <p:nvSpPr>
          <p:cNvPr id="45" name="Text 43"/>
          <p:cNvSpPr/>
          <p:nvPr/>
        </p:nvSpPr>
        <p:spPr>
          <a:xfrm>
            <a:off x="194637" y="2618784"/>
            <a:ext cx="274320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4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登録・設定・事例レビュー</a:t>
            </a:r>
            <a:endParaRPr lang="ja-JP" sz="640" dirty="0"/>
          </a:p>
        </p:txBody>
      </p:sp>
      <p:sp>
        <p:nvSpPr>
          <p:cNvPr id="46" name="Text 44"/>
          <p:cNvSpPr/>
          <p:nvPr/>
        </p:nvSpPr>
        <p:spPr>
          <a:xfrm>
            <a:off x="1385969" y="1583864"/>
            <a:ext cx="2743200" cy="135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710" b="1" dirty="0">
                <a:solidFill>
                  <a:srgbClr val="B077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アクセス境界</a:t>
            </a:r>
            <a:endParaRPr lang="ja-JP" sz="710" dirty="0"/>
          </a:p>
        </p:txBody>
      </p:sp>
      <p:sp>
        <p:nvSpPr>
          <p:cNvPr id="47" name="Text 45"/>
          <p:cNvSpPr/>
          <p:nvPr/>
        </p:nvSpPr>
        <p:spPr>
          <a:xfrm>
            <a:off x="1385969" y="1833844"/>
            <a:ext cx="27432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50" dirty="0">
                <a:solidFill>
                  <a:srgbClr val="8A6A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IP制限</a:t>
            </a:r>
            <a:endParaRPr lang="ja-JP" sz="650" dirty="0"/>
          </a:p>
        </p:txBody>
      </p:sp>
      <p:sp>
        <p:nvSpPr>
          <p:cNvPr id="48" name="Text 46"/>
          <p:cNvSpPr/>
          <p:nvPr/>
        </p:nvSpPr>
        <p:spPr>
          <a:xfrm>
            <a:off x="1385969" y="2108164"/>
            <a:ext cx="27432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50" dirty="0">
                <a:solidFill>
                  <a:srgbClr val="8A6A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認証</a:t>
            </a:r>
            <a:endParaRPr lang="ja-JP" sz="650" dirty="0"/>
          </a:p>
        </p:txBody>
      </p:sp>
      <p:sp>
        <p:nvSpPr>
          <p:cNvPr id="49" name="Text 47"/>
          <p:cNvSpPr/>
          <p:nvPr/>
        </p:nvSpPr>
        <p:spPr>
          <a:xfrm>
            <a:off x="1385969" y="2237072"/>
            <a:ext cx="2743200" cy="11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20" dirty="0">
                <a:solidFill>
                  <a:srgbClr val="8A6A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(ID / PW)</a:t>
            </a:r>
            <a:endParaRPr lang="ja-JP" sz="620" dirty="0"/>
          </a:p>
        </p:txBody>
      </p:sp>
      <p:sp>
        <p:nvSpPr>
          <p:cNvPr id="50" name="Text 48"/>
          <p:cNvSpPr/>
          <p:nvPr/>
        </p:nvSpPr>
        <p:spPr>
          <a:xfrm>
            <a:off x="1385969" y="2487879"/>
            <a:ext cx="2743200" cy="11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20" dirty="0">
                <a:solidFill>
                  <a:srgbClr val="A98F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SSO・MFA</a:t>
            </a:r>
            <a:endParaRPr lang="ja-JP" sz="620" dirty="0"/>
          </a:p>
        </p:txBody>
      </p:sp>
      <p:sp>
        <p:nvSpPr>
          <p:cNvPr id="51" name="Text 49"/>
          <p:cNvSpPr/>
          <p:nvPr/>
        </p:nvSpPr>
        <p:spPr>
          <a:xfrm>
            <a:off x="1385969" y="2599944"/>
            <a:ext cx="2743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dirty="0">
                <a:solidFill>
                  <a:srgbClr val="A98F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（任意）</a:t>
            </a:r>
            <a:endParaRPr lang="ja-JP" sz="600" dirty="0"/>
          </a:p>
        </p:txBody>
      </p:sp>
      <p:sp>
        <p:nvSpPr>
          <p:cNvPr id="52" name="Text 50"/>
          <p:cNvSpPr/>
          <p:nvPr/>
        </p:nvSpPr>
        <p:spPr>
          <a:xfrm>
            <a:off x="1385969" y="2850751"/>
            <a:ext cx="2743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dirty="0">
                <a:solidFill>
                  <a:srgbClr val="A98F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TLS / WAF</a:t>
            </a:r>
            <a:endParaRPr lang="ja-JP" sz="600" dirty="0"/>
          </a:p>
        </p:txBody>
      </p:sp>
      <p:sp>
        <p:nvSpPr>
          <p:cNvPr id="53" name="Text 51"/>
          <p:cNvSpPr/>
          <p:nvPr/>
        </p:nvSpPr>
        <p:spPr>
          <a:xfrm>
            <a:off x="2796758" y="1733608"/>
            <a:ext cx="2743200" cy="146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77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アプリUI</a:t>
            </a:r>
            <a:endParaRPr lang="ja-JP" sz="770" dirty="0"/>
          </a:p>
        </p:txBody>
      </p:sp>
      <p:sp>
        <p:nvSpPr>
          <p:cNvPr id="54" name="Text 52"/>
          <p:cNvSpPr/>
          <p:nvPr/>
        </p:nvSpPr>
        <p:spPr>
          <a:xfrm>
            <a:off x="2796758" y="1889876"/>
            <a:ext cx="274320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4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（フロントエンド）</a:t>
            </a:r>
            <a:endParaRPr lang="ja-JP" sz="640" dirty="0"/>
          </a:p>
        </p:txBody>
      </p:sp>
      <p:sp>
        <p:nvSpPr>
          <p:cNvPr id="55" name="Text 53"/>
          <p:cNvSpPr/>
          <p:nvPr/>
        </p:nvSpPr>
        <p:spPr>
          <a:xfrm>
            <a:off x="2796758" y="2082655"/>
            <a:ext cx="2743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現UIの8ビュー／</a:t>
            </a:r>
            <a:endParaRPr lang="ja-JP" sz="600" dirty="0"/>
          </a:p>
        </p:txBody>
      </p:sp>
      <p:sp>
        <p:nvSpPr>
          <p:cNvPr id="56" name="Text 54"/>
          <p:cNvSpPr/>
          <p:nvPr/>
        </p:nvSpPr>
        <p:spPr>
          <a:xfrm>
            <a:off x="2796758" y="2184545"/>
            <a:ext cx="2743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経営ブリーフ表示</a:t>
            </a:r>
            <a:endParaRPr lang="ja-JP" sz="600" dirty="0"/>
          </a:p>
        </p:txBody>
      </p:sp>
      <p:sp>
        <p:nvSpPr>
          <p:cNvPr id="57" name="Text 55"/>
          <p:cNvSpPr/>
          <p:nvPr/>
        </p:nvSpPr>
        <p:spPr>
          <a:xfrm>
            <a:off x="5265638" y="1623880"/>
            <a:ext cx="6217920" cy="146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770" b="1" dirty="0">
                <a:solidFill>
                  <a:srgbClr val="3D4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アプリ・バックエンド（オーケストレーション）</a:t>
            </a:r>
            <a:endParaRPr lang="ja-JP" sz="770" dirty="0"/>
          </a:p>
        </p:txBody>
      </p:sp>
      <p:sp>
        <p:nvSpPr>
          <p:cNvPr id="58" name="Text 56"/>
          <p:cNvSpPr/>
          <p:nvPr/>
        </p:nvSpPr>
        <p:spPr>
          <a:xfrm>
            <a:off x="5265638" y="1838176"/>
            <a:ext cx="6217920" cy="129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680" dirty="0">
                <a:solidFill>
                  <a:srgbClr val="3D4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定期診断エンジン ／ アドホック診断エンジン ／ レポート生成</a:t>
            </a:r>
            <a:endParaRPr lang="ja-JP" sz="680" dirty="0"/>
          </a:p>
        </p:txBody>
      </p:sp>
      <p:sp>
        <p:nvSpPr>
          <p:cNvPr id="59" name="Text 57"/>
          <p:cNvSpPr/>
          <p:nvPr/>
        </p:nvSpPr>
        <p:spPr>
          <a:xfrm>
            <a:off x="5265638" y="2026281"/>
            <a:ext cx="6217920" cy="129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680" dirty="0">
                <a:solidFill>
                  <a:srgbClr val="3D4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AIアシスタント ／ データ取込ジョブ</a:t>
            </a:r>
            <a:endParaRPr lang="ja-JP" sz="680" dirty="0"/>
          </a:p>
        </p:txBody>
      </p:sp>
      <p:sp>
        <p:nvSpPr>
          <p:cNvPr id="60" name="Text 58"/>
          <p:cNvSpPr/>
          <p:nvPr/>
        </p:nvSpPr>
        <p:spPr>
          <a:xfrm>
            <a:off x="2969187" y="2690978"/>
            <a:ext cx="274320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760" b="1" dirty="0">
                <a:solidFill>
                  <a:srgbClr val="0060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RAG 検索</a:t>
            </a:r>
            <a:endParaRPr lang="ja-JP" sz="760" dirty="0"/>
          </a:p>
        </p:txBody>
      </p:sp>
      <p:sp>
        <p:nvSpPr>
          <p:cNvPr id="61" name="Text 59"/>
          <p:cNvSpPr/>
          <p:nvPr/>
        </p:nvSpPr>
        <p:spPr>
          <a:xfrm>
            <a:off x="2969187" y="2855083"/>
            <a:ext cx="274320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3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意味検索・Embedding</a:t>
            </a:r>
            <a:endParaRPr lang="ja-JP" sz="630" dirty="0"/>
          </a:p>
        </p:txBody>
      </p:sp>
      <p:sp>
        <p:nvSpPr>
          <p:cNvPr id="62" name="Text 60"/>
          <p:cNvSpPr/>
          <p:nvPr/>
        </p:nvSpPr>
        <p:spPr>
          <a:xfrm>
            <a:off x="2969187" y="3023181"/>
            <a:ext cx="2743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構造的類似で関連事例を取得</a:t>
            </a:r>
            <a:endParaRPr lang="ja-JP" sz="600" dirty="0"/>
          </a:p>
        </p:txBody>
      </p:sp>
      <p:sp>
        <p:nvSpPr>
          <p:cNvPr id="63" name="Text 61"/>
          <p:cNvSpPr/>
          <p:nvPr/>
        </p:nvSpPr>
        <p:spPr>
          <a:xfrm>
            <a:off x="4756186" y="2690978"/>
            <a:ext cx="274320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760" b="1" dirty="0">
                <a:solidFill>
                  <a:srgbClr val="B33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ガードレール</a:t>
            </a:r>
            <a:endParaRPr lang="ja-JP" sz="760" dirty="0"/>
          </a:p>
        </p:txBody>
      </p:sp>
      <p:sp>
        <p:nvSpPr>
          <p:cNvPr id="64" name="Text 62"/>
          <p:cNvSpPr/>
          <p:nvPr/>
        </p:nvSpPr>
        <p:spPr>
          <a:xfrm>
            <a:off x="4756186" y="2855083"/>
            <a:ext cx="274320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3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入出力の制御</a:t>
            </a:r>
            <a:endParaRPr lang="ja-JP" sz="630" dirty="0"/>
          </a:p>
        </p:txBody>
      </p:sp>
      <p:sp>
        <p:nvSpPr>
          <p:cNvPr id="65" name="Text 63"/>
          <p:cNvSpPr/>
          <p:nvPr/>
        </p:nvSpPr>
        <p:spPr>
          <a:xfrm>
            <a:off x="4756186" y="3023181"/>
            <a:ext cx="2743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マスキング／出典必須／点推定禁止</a:t>
            </a:r>
            <a:endParaRPr lang="ja-JP" sz="600" dirty="0"/>
          </a:p>
        </p:txBody>
      </p:sp>
      <p:sp>
        <p:nvSpPr>
          <p:cNvPr id="66" name="Text 64"/>
          <p:cNvSpPr/>
          <p:nvPr/>
        </p:nvSpPr>
        <p:spPr>
          <a:xfrm>
            <a:off x="8816122" y="2675302"/>
            <a:ext cx="274320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76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Amazon Bedrock</a:t>
            </a:r>
            <a:endParaRPr lang="ja-JP" sz="760" dirty="0"/>
          </a:p>
        </p:txBody>
      </p:sp>
      <p:sp>
        <p:nvSpPr>
          <p:cNvPr id="67" name="Text 65"/>
          <p:cNvSpPr/>
          <p:nvPr/>
        </p:nvSpPr>
        <p:spPr>
          <a:xfrm>
            <a:off x="8816122" y="2839408"/>
            <a:ext cx="274320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3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LLM（Claude系）</a:t>
            </a:r>
            <a:endParaRPr lang="ja-JP" sz="630" dirty="0"/>
          </a:p>
        </p:txBody>
      </p:sp>
      <p:sp>
        <p:nvSpPr>
          <p:cNvPr id="68" name="Text 66"/>
          <p:cNvSpPr/>
          <p:nvPr/>
        </p:nvSpPr>
        <p:spPr>
          <a:xfrm>
            <a:off x="8816122" y="3007505"/>
            <a:ext cx="2743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マネージド（環境内に置かない）</a:t>
            </a:r>
            <a:endParaRPr lang="ja-JP" sz="600" dirty="0"/>
          </a:p>
        </p:txBody>
      </p:sp>
      <p:sp>
        <p:nvSpPr>
          <p:cNvPr id="69" name="Text 67"/>
          <p:cNvSpPr/>
          <p:nvPr/>
        </p:nvSpPr>
        <p:spPr>
          <a:xfrm>
            <a:off x="3462963" y="3417889"/>
            <a:ext cx="6217920" cy="135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710" b="1" dirty="0">
                <a:solidFill>
                  <a:srgbClr val="5E7C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データ層（PoC＝EC2内に配置）</a:t>
            </a:r>
            <a:endParaRPr lang="ja-JP" sz="710" dirty="0"/>
          </a:p>
        </p:txBody>
      </p:sp>
      <p:sp>
        <p:nvSpPr>
          <p:cNvPr id="70" name="Text 68"/>
          <p:cNvSpPr/>
          <p:nvPr/>
        </p:nvSpPr>
        <p:spPr>
          <a:xfrm>
            <a:off x="2929999" y="3698879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720" b="1" dirty="0">
                <a:solidFill>
                  <a:srgbClr val="0060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常時センシングDB</a:t>
            </a:r>
            <a:endParaRPr lang="ja-JP" sz="720" dirty="0"/>
          </a:p>
        </p:txBody>
      </p:sp>
      <p:sp>
        <p:nvSpPr>
          <p:cNvPr id="71" name="Text 69"/>
          <p:cNvSpPr/>
          <p:nvPr/>
        </p:nvSpPr>
        <p:spPr>
          <a:xfrm>
            <a:off x="2929999" y="3867317"/>
            <a:ext cx="2743200" cy="11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2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時系列：KPI＋外部指標</a:t>
            </a:r>
            <a:endParaRPr lang="ja-JP" sz="620" dirty="0"/>
          </a:p>
        </p:txBody>
      </p:sp>
      <p:sp>
        <p:nvSpPr>
          <p:cNvPr id="72" name="Text 70"/>
          <p:cNvSpPr/>
          <p:nvPr/>
        </p:nvSpPr>
        <p:spPr>
          <a:xfrm>
            <a:off x="2929999" y="4026408"/>
            <a:ext cx="2743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為替・金利・訪日・地価 等</a:t>
            </a:r>
            <a:endParaRPr lang="ja-JP" sz="600" dirty="0"/>
          </a:p>
        </p:txBody>
      </p:sp>
      <p:sp>
        <p:nvSpPr>
          <p:cNvPr id="73" name="Text 71"/>
          <p:cNvSpPr/>
          <p:nvPr/>
        </p:nvSpPr>
        <p:spPr>
          <a:xfrm>
            <a:off x="2929999" y="4175325"/>
            <a:ext cx="2743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API/DLで定期取得</a:t>
            </a:r>
            <a:endParaRPr lang="ja-JP" sz="600" dirty="0"/>
          </a:p>
        </p:txBody>
      </p:sp>
      <p:sp>
        <p:nvSpPr>
          <p:cNvPr id="74" name="Text 72"/>
          <p:cNvSpPr/>
          <p:nvPr/>
        </p:nvSpPr>
        <p:spPr>
          <a:xfrm>
            <a:off x="4928616" y="3698879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72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ナレッジ基盤（ベクトルDB）</a:t>
            </a:r>
            <a:endParaRPr lang="ja-JP" sz="720" dirty="0"/>
          </a:p>
        </p:txBody>
      </p:sp>
      <p:sp>
        <p:nvSpPr>
          <p:cNvPr id="75" name="Text 73"/>
          <p:cNvSpPr/>
          <p:nvPr/>
        </p:nvSpPr>
        <p:spPr>
          <a:xfrm>
            <a:off x="4928616" y="3867317"/>
            <a:ext cx="2743200" cy="11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2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過去事例・関連記事・過去レポート</a:t>
            </a:r>
            <a:endParaRPr lang="ja-JP" sz="620" dirty="0"/>
          </a:p>
        </p:txBody>
      </p:sp>
      <p:sp>
        <p:nvSpPr>
          <p:cNvPr id="76" name="Text 74"/>
          <p:cNvSpPr/>
          <p:nvPr/>
        </p:nvSpPr>
        <p:spPr>
          <a:xfrm>
            <a:off x="4928616" y="4026408"/>
            <a:ext cx="2743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構造化＋Embeddingで蓄積</a:t>
            </a:r>
            <a:endParaRPr lang="ja-JP" sz="600" dirty="0"/>
          </a:p>
        </p:txBody>
      </p:sp>
      <p:sp>
        <p:nvSpPr>
          <p:cNvPr id="77" name="Text 75"/>
          <p:cNvSpPr/>
          <p:nvPr/>
        </p:nvSpPr>
        <p:spPr>
          <a:xfrm>
            <a:off x="4928616" y="4175325"/>
            <a:ext cx="2743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RAGの供給源</a:t>
            </a:r>
            <a:endParaRPr lang="ja-JP" sz="600" dirty="0"/>
          </a:p>
        </p:txBody>
      </p:sp>
      <p:sp>
        <p:nvSpPr>
          <p:cNvPr id="78" name="Text 76"/>
          <p:cNvSpPr/>
          <p:nvPr/>
        </p:nvSpPr>
        <p:spPr>
          <a:xfrm>
            <a:off x="6793992" y="3748242"/>
            <a:ext cx="2743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700" b="1" dirty="0">
                <a:solidFill>
                  <a:srgbClr val="3D4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参照ファイル</a:t>
            </a:r>
            <a:endParaRPr lang="ja-JP" sz="700" dirty="0"/>
          </a:p>
        </p:txBody>
      </p:sp>
      <p:sp>
        <p:nvSpPr>
          <p:cNvPr id="79" name="Text 77"/>
          <p:cNvSpPr/>
          <p:nvPr/>
        </p:nvSpPr>
        <p:spPr>
          <a:xfrm>
            <a:off x="6793992" y="3914343"/>
            <a:ext cx="2743200" cy="11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2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事業構造マップ</a:t>
            </a:r>
            <a:endParaRPr lang="ja-JP" sz="620" dirty="0"/>
          </a:p>
        </p:txBody>
      </p:sp>
      <p:sp>
        <p:nvSpPr>
          <p:cNvPr id="80" name="Text 78"/>
          <p:cNvSpPr/>
          <p:nvPr/>
        </p:nvSpPr>
        <p:spPr>
          <a:xfrm>
            <a:off x="6793992" y="4039747"/>
            <a:ext cx="2743200" cy="11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2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（因果パス）等</a:t>
            </a:r>
            <a:endParaRPr lang="ja-JP" sz="620" dirty="0"/>
          </a:p>
        </p:txBody>
      </p:sp>
      <p:sp>
        <p:nvSpPr>
          <p:cNvPr id="81" name="Text 79"/>
          <p:cNvSpPr/>
          <p:nvPr/>
        </p:nvSpPr>
        <p:spPr>
          <a:xfrm>
            <a:off x="4771862" y="5248750"/>
            <a:ext cx="2743200" cy="127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70" b="1" dirty="0">
                <a:solidFill>
                  <a:srgbClr val="B077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NAT / 外向きゲートウェイ</a:t>
            </a:r>
            <a:endParaRPr lang="ja-JP" sz="670" dirty="0"/>
          </a:p>
        </p:txBody>
      </p:sp>
      <p:sp>
        <p:nvSpPr>
          <p:cNvPr id="82" name="Text 80"/>
          <p:cNvSpPr/>
          <p:nvPr/>
        </p:nvSpPr>
        <p:spPr>
          <a:xfrm>
            <a:off x="4771862" y="5358819"/>
            <a:ext cx="2743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dirty="0">
                <a:solidFill>
                  <a:srgbClr val="A98F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許可先のみ・送信内容も制御</a:t>
            </a:r>
            <a:endParaRPr lang="ja-JP" sz="600" dirty="0"/>
          </a:p>
        </p:txBody>
      </p:sp>
      <p:sp>
        <p:nvSpPr>
          <p:cNvPr id="83" name="Text 81"/>
          <p:cNvSpPr/>
          <p:nvPr/>
        </p:nvSpPr>
        <p:spPr>
          <a:xfrm>
            <a:off x="907869" y="5621114"/>
            <a:ext cx="6217920" cy="146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770" b="1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外部（インターネット／許可先のみ）</a:t>
            </a:r>
            <a:endParaRPr lang="ja-JP" sz="770" dirty="0"/>
          </a:p>
        </p:txBody>
      </p:sp>
      <p:sp>
        <p:nvSpPr>
          <p:cNvPr id="84" name="Text 82"/>
          <p:cNvSpPr/>
          <p:nvPr/>
        </p:nvSpPr>
        <p:spPr>
          <a:xfrm>
            <a:off x="3400262" y="5924789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720" b="1" dirty="0">
                <a:solidFill>
                  <a:srgbClr val="3D4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外部データソース（公開API／DL）</a:t>
            </a:r>
            <a:endParaRPr lang="ja-JP" sz="720" dirty="0"/>
          </a:p>
        </p:txBody>
      </p:sp>
      <p:sp>
        <p:nvSpPr>
          <p:cNvPr id="85" name="Text 83"/>
          <p:cNvSpPr/>
          <p:nvPr/>
        </p:nvSpPr>
        <p:spPr>
          <a:xfrm>
            <a:off x="3400262" y="6093228"/>
            <a:ext cx="2743200" cy="11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2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日銀・JNTO・e-Stat・EDINET・気象庁 等</a:t>
            </a:r>
            <a:endParaRPr lang="ja-JP" sz="620" dirty="0"/>
          </a:p>
        </p:txBody>
      </p:sp>
      <p:sp>
        <p:nvSpPr>
          <p:cNvPr id="86" name="Text 84"/>
          <p:cNvSpPr/>
          <p:nvPr/>
        </p:nvSpPr>
        <p:spPr>
          <a:xfrm>
            <a:off x="3400262" y="6228806"/>
            <a:ext cx="2743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取込ジョブが定期取得 → センシングDB</a:t>
            </a:r>
            <a:endParaRPr lang="ja-JP" sz="600" dirty="0"/>
          </a:p>
        </p:txBody>
      </p:sp>
      <p:sp>
        <p:nvSpPr>
          <p:cNvPr id="87" name="Text 85"/>
          <p:cNvSpPr/>
          <p:nvPr/>
        </p:nvSpPr>
        <p:spPr>
          <a:xfrm>
            <a:off x="5767251" y="5924789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720" b="1" dirty="0">
                <a:solidFill>
                  <a:srgbClr val="3D4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過去事例・記事</a:t>
            </a:r>
            <a:endParaRPr lang="ja-JP" sz="720" dirty="0"/>
          </a:p>
        </p:txBody>
      </p:sp>
      <p:sp>
        <p:nvSpPr>
          <p:cNvPr id="88" name="Text 86"/>
          <p:cNvSpPr/>
          <p:nvPr/>
        </p:nvSpPr>
        <p:spPr>
          <a:xfrm>
            <a:off x="5767251" y="6093228"/>
            <a:ext cx="2743200" cy="11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2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新聞DB・有報・決算資料 等</a:t>
            </a:r>
            <a:endParaRPr lang="ja-JP" sz="620" dirty="0"/>
          </a:p>
        </p:txBody>
      </p:sp>
      <p:sp>
        <p:nvSpPr>
          <p:cNvPr id="89" name="Text 87"/>
          <p:cNvSpPr/>
          <p:nvPr/>
        </p:nvSpPr>
        <p:spPr>
          <a:xfrm>
            <a:off x="5767251" y="6228806"/>
            <a:ext cx="2743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構造化 → ベクトルDBへ蓄積</a:t>
            </a:r>
            <a:endParaRPr lang="ja-JP" sz="600" dirty="0"/>
          </a:p>
        </p:txBody>
      </p:sp>
      <p:sp>
        <p:nvSpPr>
          <p:cNvPr id="90" name="Text 88"/>
          <p:cNvSpPr/>
          <p:nvPr/>
        </p:nvSpPr>
        <p:spPr>
          <a:xfrm>
            <a:off x="8134241" y="5924789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720" b="1" dirty="0">
                <a:solidFill>
                  <a:srgbClr val="3D4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マネージド Web検索API</a:t>
            </a:r>
            <a:endParaRPr lang="ja-JP" sz="720" dirty="0"/>
          </a:p>
        </p:txBody>
      </p:sp>
      <p:sp>
        <p:nvSpPr>
          <p:cNvPr id="91" name="Text 89"/>
          <p:cNvSpPr/>
          <p:nvPr/>
        </p:nvSpPr>
        <p:spPr>
          <a:xfrm>
            <a:off x="8134241" y="6093228"/>
            <a:ext cx="2743200" cy="11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2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Tavily・Bing 等</a:t>
            </a:r>
            <a:endParaRPr lang="ja-JP" sz="620" dirty="0"/>
          </a:p>
        </p:txBody>
      </p:sp>
      <p:sp>
        <p:nvSpPr>
          <p:cNvPr id="92" name="Text 90"/>
          <p:cNvSpPr/>
          <p:nvPr/>
        </p:nvSpPr>
        <p:spPr>
          <a:xfrm>
            <a:off x="8134241" y="6228806"/>
            <a:ext cx="2743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アドホック時の最新報道</a:t>
            </a:r>
            <a:endParaRPr lang="ja-JP" sz="600" dirty="0"/>
          </a:p>
        </p:txBody>
      </p:sp>
      <p:sp>
        <p:nvSpPr>
          <p:cNvPr id="93" name="Text 91"/>
          <p:cNvSpPr/>
          <p:nvPr/>
        </p:nvSpPr>
        <p:spPr>
          <a:xfrm>
            <a:off x="9090442" y="4214513"/>
            <a:ext cx="62179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600" dirty="0">
                <a:solidFill>
                  <a:srgbClr val="B33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NAT経由</a:t>
            </a:r>
            <a:endParaRPr lang="ja-JP" sz="600" dirty="0"/>
          </a:p>
        </p:txBody>
      </p:sp>
      <p:sp>
        <p:nvSpPr>
          <p:cNvPr id="94" name="Text 92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90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Deloitte</a:t>
            </a:r>
            <a:pPr indent="0" marL="0">
              <a:buNone/>
            </a:pPr>
            <a:r>
              <a:rPr lang="ja-JP" sz="9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｜　PoC段階の構成</a:t>
            </a:r>
            <a:endParaRPr lang="ja-JP" sz="900" dirty="0"/>
          </a:p>
        </p:txBody>
      </p:sp>
      <p:sp>
        <p:nvSpPr>
          <p:cNvPr id="95" name="Text 93"/>
          <p:cNvSpPr/>
          <p:nvPr/>
        </p:nvSpPr>
        <p:spPr>
          <a:xfrm>
            <a:off x="11064240" y="65105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sz="9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ja-JP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18872" cy="118872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spc="200" kern="0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簡易本番基盤の構成</a:t>
            </a:r>
            <a:endParaRPr lang="ja-JP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8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データ層を閉域S3 / 自社サーバーへ分離・アクセス制御を強化</a:t>
            </a:r>
            <a:endParaRPr lang="ja-JP" sz="1800" dirty="0"/>
          </a:p>
        </p:txBody>
      </p:sp>
      <p:sp>
        <p:nvSpPr>
          <p:cNvPr id="5" name="Shape 3"/>
          <p:cNvSpPr/>
          <p:nvPr/>
        </p:nvSpPr>
        <p:spPr>
          <a:xfrm>
            <a:off x="3322320" y="1143000"/>
            <a:ext cx="7787640" cy="4389120"/>
          </a:xfrm>
          <a:prstGeom prst="roundRect">
            <a:avLst>
              <a:gd name="adj" fmla="val 1667"/>
            </a:avLst>
          </a:prstGeom>
          <a:solidFill>
            <a:srgbClr val="F5F8F2"/>
          </a:solidFill>
          <a:ln w="19050">
            <a:solidFill>
              <a:srgbClr val="046A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44240" y="1402080"/>
            <a:ext cx="5425440" cy="2270760"/>
          </a:xfrm>
          <a:prstGeom prst="roundRect">
            <a:avLst>
              <a:gd name="adj" fmla="val 2416"/>
            </a:avLst>
          </a:prstGeom>
          <a:solidFill>
            <a:srgbClr val="FFFFFF"/>
          </a:solidFill>
          <a:ln w="15240">
            <a:solidFill>
              <a:srgbClr val="9FB98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051560" y="1539240"/>
            <a:ext cx="1280160" cy="48768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5240">
            <a:solidFill>
              <a:srgbClr val="D8DC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286000"/>
            <a:ext cx="1280160" cy="48768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5240">
            <a:solidFill>
              <a:srgbClr val="D8DC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1493520"/>
            <a:ext cx="762000" cy="1889760"/>
          </a:xfrm>
          <a:prstGeom prst="roundRect">
            <a:avLst>
              <a:gd name="adj" fmla="val 7200"/>
            </a:avLst>
          </a:prstGeom>
          <a:solidFill>
            <a:srgbClr val="FBF4E6"/>
          </a:solidFill>
          <a:ln w="19050">
            <a:solidFill>
              <a:srgbClr val="C9860A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545080" y="1737360"/>
            <a:ext cx="609600" cy="21336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C9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45080" y="1996440"/>
            <a:ext cx="609600" cy="28956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4C9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45080" y="2331720"/>
            <a:ext cx="6096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9860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45080" y="2606040"/>
            <a:ext cx="609600" cy="21336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C9860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50920" y="1569720"/>
            <a:ext cx="1341120" cy="716280"/>
          </a:xfrm>
          <a:prstGeom prst="roundRect">
            <a:avLst>
              <a:gd name="adj" fmla="val 7660"/>
            </a:avLst>
          </a:prstGeom>
          <a:solidFill>
            <a:srgbClr val="F2F7EA"/>
          </a:solidFill>
          <a:ln w="16510">
            <a:solidFill>
              <a:srgbClr val="86BC2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1524000"/>
            <a:ext cx="3611880" cy="762000"/>
          </a:xfrm>
          <a:prstGeom prst="roundRect">
            <a:avLst>
              <a:gd name="adj" fmla="val 7200"/>
            </a:avLst>
          </a:prstGeom>
          <a:solidFill>
            <a:srgbClr val="EDF4E1"/>
          </a:solidFill>
          <a:ln w="16510">
            <a:solidFill>
              <a:srgbClr val="5E7C3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42360" y="2514600"/>
            <a:ext cx="1493520" cy="670560"/>
          </a:xfrm>
          <a:prstGeom prst="roundRect">
            <a:avLst>
              <a:gd name="adj" fmla="val 8182"/>
            </a:avLst>
          </a:prstGeom>
          <a:solidFill>
            <a:srgbClr val="E9F0F0"/>
          </a:solidFill>
          <a:ln w="16510">
            <a:solidFill>
              <a:srgbClr val="0076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79720" y="2514600"/>
            <a:ext cx="1493520" cy="670560"/>
          </a:xfrm>
          <a:prstGeom prst="roundRect">
            <a:avLst>
              <a:gd name="adj" fmla="val 8182"/>
            </a:avLst>
          </a:prstGeom>
          <a:solidFill>
            <a:srgbClr val="F8ECE9"/>
          </a:solidFill>
          <a:ln w="19050">
            <a:solidFill>
              <a:srgbClr val="B33A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20200" y="2499360"/>
            <a:ext cx="1706880" cy="701040"/>
          </a:xfrm>
          <a:prstGeom prst="roundRect">
            <a:avLst>
              <a:gd name="adj" fmla="val 7826"/>
            </a:avLst>
          </a:prstGeom>
          <a:solidFill>
            <a:srgbClr val="EEF4E2"/>
          </a:solidFill>
          <a:ln w="20320">
            <a:solidFill>
              <a:srgbClr val="046A3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44240" y="3901440"/>
            <a:ext cx="5425440" cy="1295400"/>
          </a:xfrm>
          <a:prstGeom prst="roundRect">
            <a:avLst>
              <a:gd name="adj" fmla="val 5647"/>
            </a:avLst>
          </a:prstGeom>
          <a:solidFill>
            <a:srgbClr val="FBF4E6"/>
          </a:solidFill>
          <a:ln w="20320">
            <a:solidFill>
              <a:srgbClr val="C9860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66160" y="4160520"/>
            <a:ext cx="1615440" cy="899160"/>
          </a:xfrm>
          <a:prstGeom prst="roundRect">
            <a:avLst>
              <a:gd name="adj" fmla="val 6102"/>
            </a:avLst>
          </a:prstGeom>
          <a:solidFill>
            <a:srgbClr val="FFFFFF"/>
          </a:solidFill>
          <a:ln w="16510">
            <a:solidFill>
              <a:srgbClr val="0076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0" y="4160520"/>
            <a:ext cx="1965960" cy="899160"/>
          </a:xfrm>
          <a:prstGeom prst="roundRect">
            <a:avLst>
              <a:gd name="adj" fmla="val 6102"/>
            </a:avLst>
          </a:prstGeom>
          <a:solidFill>
            <a:srgbClr val="FFFFFF"/>
          </a:solidFill>
          <a:ln w="16510">
            <a:solidFill>
              <a:srgbClr val="046A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91400" y="4160520"/>
            <a:ext cx="1371600" cy="899160"/>
          </a:xfrm>
          <a:prstGeom prst="roundRect">
            <a:avLst>
              <a:gd name="adj" fmla="val 6102"/>
            </a:avLst>
          </a:prstGeom>
          <a:solidFill>
            <a:srgbClr val="FFFFFF"/>
          </a:solidFill>
          <a:ln w="16510">
            <a:solidFill>
              <a:srgbClr val="9FB9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66360" y="5227320"/>
            <a:ext cx="1950720" cy="259080"/>
          </a:xfrm>
          <a:prstGeom prst="roundRect">
            <a:avLst>
              <a:gd name="adj" fmla="val 21176"/>
            </a:avLst>
          </a:prstGeom>
          <a:solidFill>
            <a:srgbClr val="FBF4E6"/>
          </a:solidFill>
          <a:ln w="16510">
            <a:solidFill>
              <a:srgbClr val="C9860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50920" y="5821680"/>
            <a:ext cx="2514600" cy="533400"/>
          </a:xfrm>
          <a:prstGeom prst="roundRect">
            <a:avLst>
              <a:gd name="adj" fmla="val 10286"/>
            </a:avLst>
          </a:prstGeom>
          <a:solidFill>
            <a:srgbClr val="F0F1ED"/>
          </a:solidFill>
          <a:ln w="15240">
            <a:solidFill>
              <a:srgbClr val="B8BCA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33160" y="5821680"/>
            <a:ext cx="1752600" cy="533400"/>
          </a:xfrm>
          <a:prstGeom prst="roundRect">
            <a:avLst>
              <a:gd name="adj" fmla="val 10286"/>
            </a:avLst>
          </a:prstGeom>
          <a:solidFill>
            <a:srgbClr val="F0F1ED"/>
          </a:solidFill>
          <a:ln w="15240">
            <a:solidFill>
              <a:srgbClr val="B8BCA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53400" y="5821680"/>
            <a:ext cx="2514600" cy="533400"/>
          </a:xfrm>
          <a:prstGeom prst="roundRect">
            <a:avLst>
              <a:gd name="adj" fmla="val 10286"/>
            </a:avLst>
          </a:prstGeom>
          <a:solidFill>
            <a:srgbClr val="F0F1ED"/>
          </a:solidFill>
          <a:ln w="15240">
            <a:solidFill>
              <a:srgbClr val="B8BCA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31720" y="1783080"/>
            <a:ext cx="137160" cy="137160"/>
          </a:xfrm>
          <a:prstGeom prst="line">
            <a:avLst/>
          </a:prstGeom>
          <a:noFill/>
          <a:ln w="19050">
            <a:solidFill>
              <a:srgbClr val="8A8D8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V="1">
            <a:off x="2331720" y="2362200"/>
            <a:ext cx="137160" cy="152400"/>
          </a:xfrm>
          <a:prstGeom prst="line">
            <a:avLst/>
          </a:prstGeom>
          <a:noFill/>
          <a:ln w="19050">
            <a:solidFill>
              <a:srgbClr val="8A8D87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230880" y="1927860"/>
            <a:ext cx="320040" cy="914"/>
          </a:xfrm>
          <a:prstGeom prst="line">
            <a:avLst/>
          </a:prstGeom>
          <a:noFill/>
          <a:ln w="20320">
            <a:solidFill>
              <a:srgbClr val="8A8D87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892040" y="1874520"/>
            <a:ext cx="274320" cy="914"/>
          </a:xfrm>
          <a:prstGeom prst="line">
            <a:avLst/>
          </a:prstGeom>
          <a:noFill/>
          <a:ln w="20320">
            <a:solidFill>
              <a:srgbClr val="5E7C3E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H="1">
            <a:off x="4892040" y="2026920"/>
            <a:ext cx="274320" cy="914"/>
          </a:xfrm>
          <a:prstGeom prst="line">
            <a:avLst/>
          </a:prstGeom>
          <a:noFill/>
          <a:ln w="17780">
            <a:solidFill>
              <a:srgbClr val="5E7C3E"/>
            </a:solidFill>
            <a:prstDash val="dash"/>
            <a:tailEnd type="triangle"/>
          </a:ln>
        </p:spPr>
      </p:sp>
      <p:sp>
        <p:nvSpPr>
          <p:cNvPr id="32" name="Shape 30"/>
          <p:cNvSpPr/>
          <p:nvPr/>
        </p:nvSpPr>
        <p:spPr>
          <a:xfrm flipH="1">
            <a:off x="4480560" y="2286000"/>
            <a:ext cx="1295400" cy="228600"/>
          </a:xfrm>
          <a:prstGeom prst="line">
            <a:avLst/>
          </a:prstGeom>
          <a:noFill/>
          <a:ln w="19050">
            <a:solidFill>
              <a:srgbClr val="8A8D87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H="1">
            <a:off x="6156960" y="2286000"/>
            <a:ext cx="228600" cy="228600"/>
          </a:xfrm>
          <a:prstGeom prst="line">
            <a:avLst/>
          </a:prstGeom>
          <a:noFill/>
          <a:ln w="19050">
            <a:solidFill>
              <a:srgbClr val="8A8D87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873240" y="2834640"/>
            <a:ext cx="2346960" cy="914"/>
          </a:xfrm>
          <a:prstGeom prst="line">
            <a:avLst/>
          </a:prstGeom>
          <a:noFill/>
          <a:ln w="21590">
            <a:solidFill>
              <a:srgbClr val="046A3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H="1">
            <a:off x="6888480" y="2987040"/>
            <a:ext cx="2331720" cy="914"/>
          </a:xfrm>
          <a:prstGeom prst="line">
            <a:avLst/>
          </a:prstGeom>
          <a:noFill/>
          <a:ln w="16510">
            <a:solidFill>
              <a:srgbClr val="046A38"/>
            </a:solidFill>
            <a:prstDash val="dash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389120" y="3185160"/>
            <a:ext cx="914" cy="975360"/>
          </a:xfrm>
          <a:prstGeom prst="line">
            <a:avLst/>
          </a:prstGeom>
          <a:noFill/>
          <a:ln w="21590">
            <a:solidFill>
              <a:srgbClr val="C9860A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V="1">
            <a:off x="4632960" y="3185160"/>
            <a:ext cx="914" cy="975360"/>
          </a:xfrm>
          <a:prstGeom prst="line">
            <a:avLst/>
          </a:prstGeom>
          <a:noFill/>
          <a:ln w="16510">
            <a:solidFill>
              <a:srgbClr val="C9860A"/>
            </a:solidFill>
            <a:prstDash val="dash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233160" y="2286000"/>
            <a:ext cx="914" cy="1874520"/>
          </a:xfrm>
          <a:prstGeom prst="line">
            <a:avLst/>
          </a:prstGeom>
          <a:noFill/>
          <a:ln w="16510">
            <a:solidFill>
              <a:srgbClr val="8A8D87"/>
            </a:solidFill>
            <a:prstDash val="dash"/>
            <a:tailEnd type="triangle"/>
          </a:ln>
        </p:spPr>
      </p:sp>
      <p:sp>
        <p:nvSpPr>
          <p:cNvPr id="39" name="Shape 37"/>
          <p:cNvSpPr/>
          <p:nvPr/>
        </p:nvSpPr>
        <p:spPr>
          <a:xfrm flipH="1" flipV="1">
            <a:off x="4480560" y="5059680"/>
            <a:ext cx="228600" cy="762000"/>
          </a:xfrm>
          <a:prstGeom prst="line">
            <a:avLst/>
          </a:prstGeom>
          <a:noFill/>
          <a:ln w="19050">
            <a:solidFill>
              <a:srgbClr val="C9860A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H="1" flipV="1">
            <a:off x="6309360" y="5059680"/>
            <a:ext cx="800100" cy="762000"/>
          </a:xfrm>
          <a:prstGeom prst="line">
            <a:avLst/>
          </a:prstGeom>
          <a:noFill/>
          <a:ln w="19050">
            <a:solidFill>
              <a:srgbClr val="C9860A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595360" y="2286000"/>
            <a:ext cx="762000" cy="3489960"/>
          </a:xfrm>
          <a:prstGeom prst="line">
            <a:avLst/>
          </a:prstGeom>
          <a:noFill/>
          <a:ln w="17780">
            <a:solidFill>
              <a:srgbClr val="B33A2B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3444240" y="1219505"/>
            <a:ext cx="621792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78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クラウド（VPC）</a:t>
            </a:r>
            <a:endParaRPr lang="ja-JP" sz="780" dirty="0"/>
          </a:p>
        </p:txBody>
      </p:sp>
      <p:sp>
        <p:nvSpPr>
          <p:cNvPr id="43" name="Text 41"/>
          <p:cNvSpPr/>
          <p:nvPr/>
        </p:nvSpPr>
        <p:spPr>
          <a:xfrm>
            <a:off x="3535680" y="3500780"/>
            <a:ext cx="6217920" cy="131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690" b="1" dirty="0">
                <a:solidFill>
                  <a:srgbClr val="5E7C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Amazon EC2（アプリ・診断ロジック）</a:t>
            </a:r>
            <a:endParaRPr lang="ja-JP" sz="690" dirty="0"/>
          </a:p>
        </p:txBody>
      </p:sp>
      <p:sp>
        <p:nvSpPr>
          <p:cNvPr id="44" name="Text 42"/>
          <p:cNvSpPr/>
          <p:nvPr/>
        </p:nvSpPr>
        <p:spPr>
          <a:xfrm>
            <a:off x="1051560" y="1177290"/>
            <a:ext cx="62179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750" b="1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ユーザー</a:t>
            </a:r>
            <a:endParaRPr lang="ja-JP" sz="750" dirty="0"/>
          </a:p>
        </p:txBody>
      </p:sp>
      <p:sp>
        <p:nvSpPr>
          <p:cNvPr id="45" name="Text 43"/>
          <p:cNvSpPr/>
          <p:nvPr/>
        </p:nvSpPr>
        <p:spPr>
          <a:xfrm>
            <a:off x="320040" y="1653845"/>
            <a:ext cx="27432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78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使用者</a:t>
            </a:r>
            <a:endParaRPr lang="ja-JP" sz="780" dirty="0"/>
          </a:p>
        </p:txBody>
      </p:sp>
      <p:sp>
        <p:nvSpPr>
          <p:cNvPr id="46" name="Text 44"/>
          <p:cNvSpPr/>
          <p:nvPr/>
        </p:nvSpPr>
        <p:spPr>
          <a:xfrm>
            <a:off x="320040" y="1824939"/>
            <a:ext cx="2743200" cy="11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2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役員・事業責任者（閲覧）</a:t>
            </a:r>
            <a:endParaRPr lang="ja-JP" sz="620" dirty="0"/>
          </a:p>
        </p:txBody>
      </p:sp>
      <p:sp>
        <p:nvSpPr>
          <p:cNvPr id="47" name="Text 45"/>
          <p:cNvSpPr/>
          <p:nvPr/>
        </p:nvSpPr>
        <p:spPr>
          <a:xfrm>
            <a:off x="320040" y="2400605"/>
            <a:ext cx="274320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78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管理者</a:t>
            </a:r>
            <a:endParaRPr lang="ja-JP" sz="780" dirty="0"/>
          </a:p>
        </p:txBody>
      </p:sp>
      <p:sp>
        <p:nvSpPr>
          <p:cNvPr id="48" name="Text 46"/>
          <p:cNvSpPr/>
          <p:nvPr/>
        </p:nvSpPr>
        <p:spPr>
          <a:xfrm>
            <a:off x="320040" y="2571699"/>
            <a:ext cx="2743200" cy="11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2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登録・設定・事例レビュー</a:t>
            </a:r>
            <a:endParaRPr lang="ja-JP" sz="620" dirty="0"/>
          </a:p>
        </p:txBody>
      </p:sp>
      <p:sp>
        <p:nvSpPr>
          <p:cNvPr id="49" name="Text 47"/>
          <p:cNvSpPr/>
          <p:nvPr/>
        </p:nvSpPr>
        <p:spPr>
          <a:xfrm>
            <a:off x="1478280" y="1565300"/>
            <a:ext cx="2743200" cy="131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90" b="1" dirty="0">
                <a:solidFill>
                  <a:srgbClr val="B077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アクセス境界</a:t>
            </a:r>
            <a:endParaRPr lang="ja-JP" sz="690" dirty="0"/>
          </a:p>
        </p:txBody>
      </p:sp>
      <p:sp>
        <p:nvSpPr>
          <p:cNvPr id="50" name="Text 48"/>
          <p:cNvSpPr/>
          <p:nvPr/>
        </p:nvSpPr>
        <p:spPr>
          <a:xfrm>
            <a:off x="1478280" y="1802079"/>
            <a:ext cx="2743200" cy="11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20" dirty="0">
                <a:solidFill>
                  <a:srgbClr val="8A6A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IP制限</a:t>
            </a:r>
            <a:endParaRPr lang="ja-JP" sz="620" dirty="0"/>
          </a:p>
        </p:txBody>
      </p:sp>
      <p:sp>
        <p:nvSpPr>
          <p:cNvPr id="51" name="Text 49"/>
          <p:cNvSpPr/>
          <p:nvPr/>
        </p:nvSpPr>
        <p:spPr>
          <a:xfrm>
            <a:off x="1478280" y="2045919"/>
            <a:ext cx="2743200" cy="11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20" dirty="0">
                <a:solidFill>
                  <a:srgbClr val="8A6A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認証</a:t>
            </a:r>
            <a:endParaRPr lang="ja-JP" sz="620" dirty="0"/>
          </a:p>
        </p:txBody>
      </p:sp>
      <p:sp>
        <p:nvSpPr>
          <p:cNvPr id="52" name="Text 50"/>
          <p:cNvSpPr/>
          <p:nvPr/>
        </p:nvSpPr>
        <p:spPr>
          <a:xfrm>
            <a:off x="1478280" y="2162556"/>
            <a:ext cx="2743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dirty="0">
                <a:solidFill>
                  <a:srgbClr val="8A6A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(ID / PW)</a:t>
            </a:r>
            <a:endParaRPr lang="ja-JP" sz="600" dirty="0"/>
          </a:p>
        </p:txBody>
      </p:sp>
      <p:sp>
        <p:nvSpPr>
          <p:cNvPr id="53" name="Text 51"/>
          <p:cNvSpPr/>
          <p:nvPr/>
        </p:nvSpPr>
        <p:spPr>
          <a:xfrm>
            <a:off x="1478280" y="2404059"/>
            <a:ext cx="2743200" cy="11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20" b="1" dirty="0">
                <a:solidFill>
                  <a:srgbClr val="8A6A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SSO・MFA</a:t>
            </a:r>
            <a:endParaRPr lang="ja-JP" sz="620" dirty="0"/>
          </a:p>
        </p:txBody>
      </p:sp>
      <p:sp>
        <p:nvSpPr>
          <p:cNvPr id="54" name="Text 52"/>
          <p:cNvSpPr/>
          <p:nvPr/>
        </p:nvSpPr>
        <p:spPr>
          <a:xfrm>
            <a:off x="1478280" y="2673096"/>
            <a:ext cx="2743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b="1" dirty="0">
                <a:solidFill>
                  <a:srgbClr val="8A6A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監査ログ</a:t>
            </a:r>
            <a:endParaRPr lang="ja-JP" sz="600" dirty="0"/>
          </a:p>
        </p:txBody>
      </p:sp>
      <p:sp>
        <p:nvSpPr>
          <p:cNvPr id="55" name="Text 53"/>
          <p:cNvSpPr/>
          <p:nvPr/>
        </p:nvSpPr>
        <p:spPr>
          <a:xfrm>
            <a:off x="1478280" y="2901696"/>
            <a:ext cx="2743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dirty="0">
                <a:solidFill>
                  <a:srgbClr val="A98F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TLS / WAF</a:t>
            </a:r>
            <a:endParaRPr lang="ja-JP" sz="600" dirty="0"/>
          </a:p>
        </p:txBody>
      </p:sp>
      <p:sp>
        <p:nvSpPr>
          <p:cNvPr id="56" name="Text 54"/>
          <p:cNvSpPr/>
          <p:nvPr/>
        </p:nvSpPr>
        <p:spPr>
          <a:xfrm>
            <a:off x="2849880" y="1710690"/>
            <a:ext cx="27432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75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アプリUI</a:t>
            </a:r>
            <a:endParaRPr lang="ja-JP" sz="750" dirty="0"/>
          </a:p>
        </p:txBody>
      </p:sp>
      <p:sp>
        <p:nvSpPr>
          <p:cNvPr id="57" name="Text 55"/>
          <p:cNvSpPr/>
          <p:nvPr/>
        </p:nvSpPr>
        <p:spPr>
          <a:xfrm>
            <a:off x="2849880" y="1863039"/>
            <a:ext cx="2743200" cy="11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2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（フロントエンド）</a:t>
            </a:r>
            <a:endParaRPr lang="ja-JP" sz="620" dirty="0"/>
          </a:p>
        </p:txBody>
      </p:sp>
      <p:sp>
        <p:nvSpPr>
          <p:cNvPr id="58" name="Text 56"/>
          <p:cNvSpPr/>
          <p:nvPr/>
        </p:nvSpPr>
        <p:spPr>
          <a:xfrm>
            <a:off x="2849880" y="2048256"/>
            <a:ext cx="2743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現UIの8ビュー／</a:t>
            </a:r>
            <a:endParaRPr lang="ja-JP" sz="600" dirty="0"/>
          </a:p>
        </p:txBody>
      </p:sp>
      <p:sp>
        <p:nvSpPr>
          <p:cNvPr id="59" name="Text 57"/>
          <p:cNvSpPr/>
          <p:nvPr/>
        </p:nvSpPr>
        <p:spPr>
          <a:xfrm>
            <a:off x="2849880" y="2147316"/>
            <a:ext cx="2743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経営ブリーフ表示</a:t>
            </a:r>
            <a:endParaRPr lang="ja-JP" sz="600" dirty="0"/>
          </a:p>
        </p:txBody>
      </p:sp>
      <p:sp>
        <p:nvSpPr>
          <p:cNvPr id="60" name="Text 58"/>
          <p:cNvSpPr/>
          <p:nvPr/>
        </p:nvSpPr>
        <p:spPr>
          <a:xfrm>
            <a:off x="5288280" y="1604010"/>
            <a:ext cx="62179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750" b="1" dirty="0">
                <a:solidFill>
                  <a:srgbClr val="3D4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アプリ・バックエンド（オーケストレーション）</a:t>
            </a:r>
            <a:endParaRPr lang="ja-JP" sz="750" dirty="0"/>
          </a:p>
        </p:txBody>
      </p:sp>
      <p:sp>
        <p:nvSpPr>
          <p:cNvPr id="61" name="Text 59"/>
          <p:cNvSpPr/>
          <p:nvPr/>
        </p:nvSpPr>
        <p:spPr>
          <a:xfrm>
            <a:off x="5288280" y="1812646"/>
            <a:ext cx="6217920" cy="1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660" dirty="0">
                <a:solidFill>
                  <a:srgbClr val="3D4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定期診断エンジン ／ アドホック診断エンジン ／ レポート生成</a:t>
            </a:r>
            <a:endParaRPr lang="ja-JP" sz="660" dirty="0"/>
          </a:p>
        </p:txBody>
      </p:sp>
      <p:sp>
        <p:nvSpPr>
          <p:cNvPr id="62" name="Text 60"/>
          <p:cNvSpPr/>
          <p:nvPr/>
        </p:nvSpPr>
        <p:spPr>
          <a:xfrm>
            <a:off x="5288280" y="1995526"/>
            <a:ext cx="6217920" cy="1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660" dirty="0">
                <a:solidFill>
                  <a:srgbClr val="3D4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AIアシスタント ／ データ取込ジョブ</a:t>
            </a:r>
            <a:endParaRPr lang="ja-JP" sz="660" dirty="0"/>
          </a:p>
        </p:txBody>
      </p:sp>
      <p:sp>
        <p:nvSpPr>
          <p:cNvPr id="63" name="Text 61"/>
          <p:cNvSpPr/>
          <p:nvPr/>
        </p:nvSpPr>
        <p:spPr>
          <a:xfrm>
            <a:off x="3017520" y="2641498"/>
            <a:ext cx="2743200" cy="140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740" b="1" dirty="0">
                <a:solidFill>
                  <a:srgbClr val="0060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RAG 検索</a:t>
            </a:r>
            <a:endParaRPr lang="ja-JP" sz="740" dirty="0"/>
          </a:p>
        </p:txBody>
      </p:sp>
      <p:sp>
        <p:nvSpPr>
          <p:cNvPr id="64" name="Text 62"/>
          <p:cNvSpPr/>
          <p:nvPr/>
        </p:nvSpPr>
        <p:spPr>
          <a:xfrm>
            <a:off x="3017520" y="2801468"/>
            <a:ext cx="2743200" cy="116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1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意味検索・Embedding</a:t>
            </a:r>
            <a:endParaRPr lang="ja-JP" sz="610" dirty="0"/>
          </a:p>
        </p:txBody>
      </p:sp>
      <p:sp>
        <p:nvSpPr>
          <p:cNvPr id="65" name="Text 63"/>
          <p:cNvSpPr/>
          <p:nvPr/>
        </p:nvSpPr>
        <p:spPr>
          <a:xfrm>
            <a:off x="3017520" y="2962656"/>
            <a:ext cx="2743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構造的類似で関連事例を取得</a:t>
            </a:r>
            <a:endParaRPr lang="ja-JP" sz="600" dirty="0"/>
          </a:p>
        </p:txBody>
      </p:sp>
      <p:sp>
        <p:nvSpPr>
          <p:cNvPr id="66" name="Text 64"/>
          <p:cNvSpPr/>
          <p:nvPr/>
        </p:nvSpPr>
        <p:spPr>
          <a:xfrm>
            <a:off x="4754880" y="2641498"/>
            <a:ext cx="2743200" cy="140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740" b="1" dirty="0">
                <a:solidFill>
                  <a:srgbClr val="B33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ガードレール（強化）</a:t>
            </a:r>
            <a:endParaRPr lang="ja-JP" sz="740" dirty="0"/>
          </a:p>
        </p:txBody>
      </p:sp>
      <p:sp>
        <p:nvSpPr>
          <p:cNvPr id="67" name="Text 65"/>
          <p:cNvSpPr/>
          <p:nvPr/>
        </p:nvSpPr>
        <p:spPr>
          <a:xfrm>
            <a:off x="4754880" y="2801468"/>
            <a:ext cx="2743200" cy="116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1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入出力の制御＋監査</a:t>
            </a:r>
            <a:endParaRPr lang="ja-JP" sz="610" dirty="0"/>
          </a:p>
        </p:txBody>
      </p:sp>
      <p:sp>
        <p:nvSpPr>
          <p:cNvPr id="68" name="Text 66"/>
          <p:cNvSpPr/>
          <p:nvPr/>
        </p:nvSpPr>
        <p:spPr>
          <a:xfrm>
            <a:off x="4754880" y="2962656"/>
            <a:ext cx="2743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機密マスキング／出典必須</a:t>
            </a:r>
            <a:endParaRPr lang="ja-JP" sz="600" dirty="0"/>
          </a:p>
        </p:txBody>
      </p:sp>
      <p:sp>
        <p:nvSpPr>
          <p:cNvPr id="69" name="Text 67"/>
          <p:cNvSpPr/>
          <p:nvPr/>
        </p:nvSpPr>
        <p:spPr>
          <a:xfrm>
            <a:off x="8702040" y="2626258"/>
            <a:ext cx="2743200" cy="140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74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Amazon Bedrock</a:t>
            </a:r>
            <a:endParaRPr lang="ja-JP" sz="740" dirty="0"/>
          </a:p>
        </p:txBody>
      </p:sp>
      <p:sp>
        <p:nvSpPr>
          <p:cNvPr id="70" name="Text 68"/>
          <p:cNvSpPr/>
          <p:nvPr/>
        </p:nvSpPr>
        <p:spPr>
          <a:xfrm>
            <a:off x="8702040" y="2786228"/>
            <a:ext cx="2743200" cy="116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1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LLM（Claude系）</a:t>
            </a:r>
            <a:endParaRPr lang="ja-JP" sz="610" dirty="0"/>
          </a:p>
        </p:txBody>
      </p:sp>
      <p:sp>
        <p:nvSpPr>
          <p:cNvPr id="71" name="Text 69"/>
          <p:cNvSpPr/>
          <p:nvPr/>
        </p:nvSpPr>
        <p:spPr>
          <a:xfrm>
            <a:off x="8702040" y="2947416"/>
            <a:ext cx="2743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マネージド（環境内に置かない）</a:t>
            </a:r>
            <a:endParaRPr lang="ja-JP" sz="600" dirty="0"/>
          </a:p>
        </p:txBody>
      </p:sp>
      <p:sp>
        <p:nvSpPr>
          <p:cNvPr id="72" name="Text 70"/>
          <p:cNvSpPr/>
          <p:nvPr/>
        </p:nvSpPr>
        <p:spPr>
          <a:xfrm>
            <a:off x="3535680" y="3981450"/>
            <a:ext cx="62179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750" b="1" dirty="0">
                <a:solidFill>
                  <a:srgbClr val="B077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閉域データ基盤（閉域S3 or 自社サーバー）</a:t>
            </a:r>
            <a:endParaRPr lang="ja-JP" sz="750" dirty="0"/>
          </a:p>
        </p:txBody>
      </p:sp>
      <p:sp>
        <p:nvSpPr>
          <p:cNvPr id="73" name="Text 71"/>
          <p:cNvSpPr/>
          <p:nvPr/>
        </p:nvSpPr>
        <p:spPr>
          <a:xfrm>
            <a:off x="6233160" y="3998976"/>
            <a:ext cx="62179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600" dirty="0">
                <a:solidFill>
                  <a:srgbClr val="A98F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※自社サーバーの場合はオンプレ／自社DCに配置。機密はマスキング前提。</a:t>
            </a:r>
            <a:endParaRPr lang="ja-JP" sz="600" dirty="0"/>
          </a:p>
        </p:txBody>
      </p:sp>
      <p:sp>
        <p:nvSpPr>
          <p:cNvPr id="74" name="Text 72"/>
          <p:cNvSpPr/>
          <p:nvPr/>
        </p:nvSpPr>
        <p:spPr>
          <a:xfrm>
            <a:off x="3002280" y="4307332"/>
            <a:ext cx="2743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700" b="1" dirty="0">
                <a:solidFill>
                  <a:srgbClr val="0060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常時センシングDB</a:t>
            </a:r>
            <a:endParaRPr lang="ja-JP" sz="700" dirty="0"/>
          </a:p>
        </p:txBody>
      </p:sp>
      <p:sp>
        <p:nvSpPr>
          <p:cNvPr id="75" name="Text 73"/>
          <p:cNvSpPr/>
          <p:nvPr/>
        </p:nvSpPr>
        <p:spPr>
          <a:xfrm>
            <a:off x="3002280" y="4471416"/>
            <a:ext cx="2743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時系列：KPI＋外部指標</a:t>
            </a:r>
            <a:endParaRPr lang="ja-JP" sz="600" dirty="0"/>
          </a:p>
        </p:txBody>
      </p:sp>
      <p:sp>
        <p:nvSpPr>
          <p:cNvPr id="76" name="Text 74"/>
          <p:cNvSpPr/>
          <p:nvPr/>
        </p:nvSpPr>
        <p:spPr>
          <a:xfrm>
            <a:off x="3002280" y="4623816"/>
            <a:ext cx="2743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為替・金利・訪日・地価 等</a:t>
            </a:r>
            <a:endParaRPr lang="ja-JP" sz="600" dirty="0"/>
          </a:p>
        </p:txBody>
      </p:sp>
      <p:sp>
        <p:nvSpPr>
          <p:cNvPr id="77" name="Text 75"/>
          <p:cNvSpPr/>
          <p:nvPr/>
        </p:nvSpPr>
        <p:spPr>
          <a:xfrm>
            <a:off x="3002280" y="4791456"/>
            <a:ext cx="2743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社内KPIは機密扱い</a:t>
            </a:r>
            <a:endParaRPr lang="ja-JP" sz="600" dirty="0"/>
          </a:p>
        </p:txBody>
      </p:sp>
      <p:sp>
        <p:nvSpPr>
          <p:cNvPr id="78" name="Text 76"/>
          <p:cNvSpPr/>
          <p:nvPr/>
        </p:nvSpPr>
        <p:spPr>
          <a:xfrm>
            <a:off x="4914900" y="4307332"/>
            <a:ext cx="2743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70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ナレッジ基盤（ベクトルDB）</a:t>
            </a:r>
            <a:endParaRPr lang="ja-JP" sz="700" dirty="0"/>
          </a:p>
        </p:txBody>
      </p:sp>
      <p:sp>
        <p:nvSpPr>
          <p:cNvPr id="79" name="Text 77"/>
          <p:cNvSpPr/>
          <p:nvPr/>
        </p:nvSpPr>
        <p:spPr>
          <a:xfrm>
            <a:off x="4914900" y="4471416"/>
            <a:ext cx="2743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過去事例・関連記事・過去レポート</a:t>
            </a:r>
            <a:endParaRPr lang="ja-JP" sz="600" dirty="0"/>
          </a:p>
        </p:txBody>
      </p:sp>
      <p:sp>
        <p:nvSpPr>
          <p:cNvPr id="80" name="Text 78"/>
          <p:cNvSpPr/>
          <p:nvPr/>
        </p:nvSpPr>
        <p:spPr>
          <a:xfrm>
            <a:off x="4914900" y="4623816"/>
            <a:ext cx="2743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構造化＋Embeddingで蓄積</a:t>
            </a:r>
            <a:endParaRPr lang="ja-JP" sz="600" dirty="0"/>
          </a:p>
        </p:txBody>
      </p:sp>
      <p:sp>
        <p:nvSpPr>
          <p:cNvPr id="81" name="Text 79"/>
          <p:cNvSpPr/>
          <p:nvPr/>
        </p:nvSpPr>
        <p:spPr>
          <a:xfrm>
            <a:off x="4914900" y="4791456"/>
            <a:ext cx="2743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RAGの供給源</a:t>
            </a:r>
            <a:endParaRPr lang="ja-JP" sz="600" dirty="0"/>
          </a:p>
        </p:txBody>
      </p:sp>
      <p:sp>
        <p:nvSpPr>
          <p:cNvPr id="82" name="Text 80"/>
          <p:cNvSpPr/>
          <p:nvPr/>
        </p:nvSpPr>
        <p:spPr>
          <a:xfrm>
            <a:off x="6705600" y="4355389"/>
            <a:ext cx="2743200" cy="129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80" b="1" dirty="0">
                <a:solidFill>
                  <a:srgbClr val="3D4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参照ファイル</a:t>
            </a:r>
            <a:endParaRPr lang="ja-JP" sz="680" dirty="0"/>
          </a:p>
        </p:txBody>
      </p:sp>
      <p:sp>
        <p:nvSpPr>
          <p:cNvPr id="83" name="Text 81"/>
          <p:cNvSpPr/>
          <p:nvPr/>
        </p:nvSpPr>
        <p:spPr>
          <a:xfrm>
            <a:off x="6705600" y="4517136"/>
            <a:ext cx="2743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事業構造マップ</a:t>
            </a:r>
            <a:endParaRPr lang="ja-JP" sz="600" dirty="0"/>
          </a:p>
        </p:txBody>
      </p:sp>
      <p:sp>
        <p:nvSpPr>
          <p:cNvPr id="84" name="Text 82"/>
          <p:cNvSpPr/>
          <p:nvPr/>
        </p:nvSpPr>
        <p:spPr>
          <a:xfrm>
            <a:off x="6705600" y="4639056"/>
            <a:ext cx="2743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（因果パス）等</a:t>
            </a:r>
            <a:endParaRPr lang="ja-JP" sz="600" dirty="0"/>
          </a:p>
        </p:txBody>
      </p:sp>
      <p:sp>
        <p:nvSpPr>
          <p:cNvPr id="85" name="Text 83"/>
          <p:cNvSpPr/>
          <p:nvPr/>
        </p:nvSpPr>
        <p:spPr>
          <a:xfrm>
            <a:off x="4770120" y="5280914"/>
            <a:ext cx="27432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50" b="1" dirty="0">
                <a:solidFill>
                  <a:srgbClr val="B077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NAT / 外向きゲートウェイ</a:t>
            </a:r>
            <a:endParaRPr lang="ja-JP" sz="650" dirty="0"/>
          </a:p>
        </p:txBody>
      </p:sp>
      <p:sp>
        <p:nvSpPr>
          <p:cNvPr id="86" name="Text 84"/>
          <p:cNvSpPr/>
          <p:nvPr/>
        </p:nvSpPr>
        <p:spPr>
          <a:xfrm>
            <a:off x="4770120" y="5385816"/>
            <a:ext cx="2743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dirty="0">
                <a:solidFill>
                  <a:srgbClr val="A98F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許可先のみ・送信内容も制御</a:t>
            </a:r>
            <a:endParaRPr lang="ja-JP" sz="600" dirty="0"/>
          </a:p>
        </p:txBody>
      </p:sp>
      <p:sp>
        <p:nvSpPr>
          <p:cNvPr id="87" name="Text 85"/>
          <p:cNvSpPr/>
          <p:nvPr/>
        </p:nvSpPr>
        <p:spPr>
          <a:xfrm>
            <a:off x="1051560" y="5642610"/>
            <a:ext cx="62179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750" b="1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外部（インターネット／許可先のみ）</a:t>
            </a:r>
            <a:endParaRPr lang="ja-JP" sz="750" dirty="0"/>
          </a:p>
        </p:txBody>
      </p:sp>
      <p:sp>
        <p:nvSpPr>
          <p:cNvPr id="88" name="Text 86"/>
          <p:cNvSpPr/>
          <p:nvPr/>
        </p:nvSpPr>
        <p:spPr>
          <a:xfrm>
            <a:off x="3436620" y="5930392"/>
            <a:ext cx="2743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700" b="1" dirty="0">
                <a:solidFill>
                  <a:srgbClr val="3D4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外部データソース（公開API／DL）</a:t>
            </a:r>
            <a:endParaRPr lang="ja-JP" sz="700" dirty="0"/>
          </a:p>
        </p:txBody>
      </p:sp>
      <p:sp>
        <p:nvSpPr>
          <p:cNvPr id="89" name="Text 87"/>
          <p:cNvSpPr/>
          <p:nvPr/>
        </p:nvSpPr>
        <p:spPr>
          <a:xfrm>
            <a:off x="3436620" y="6094476"/>
            <a:ext cx="2743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日銀・JNTO・e-Stat・EDINET・気象庁 等</a:t>
            </a:r>
            <a:endParaRPr lang="ja-JP" sz="600" dirty="0"/>
          </a:p>
        </p:txBody>
      </p:sp>
      <p:sp>
        <p:nvSpPr>
          <p:cNvPr id="90" name="Text 88"/>
          <p:cNvSpPr/>
          <p:nvPr/>
        </p:nvSpPr>
        <p:spPr>
          <a:xfrm>
            <a:off x="3436620" y="6224016"/>
            <a:ext cx="2743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取込ジョブが定期取得</a:t>
            </a:r>
            <a:endParaRPr lang="ja-JP" sz="600" dirty="0"/>
          </a:p>
        </p:txBody>
      </p:sp>
      <p:sp>
        <p:nvSpPr>
          <p:cNvPr id="91" name="Text 89"/>
          <p:cNvSpPr/>
          <p:nvPr/>
        </p:nvSpPr>
        <p:spPr>
          <a:xfrm>
            <a:off x="5737860" y="5930392"/>
            <a:ext cx="2743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700" b="1" dirty="0">
                <a:solidFill>
                  <a:srgbClr val="3D4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過去事例・記事</a:t>
            </a:r>
            <a:endParaRPr lang="ja-JP" sz="700" dirty="0"/>
          </a:p>
        </p:txBody>
      </p:sp>
      <p:sp>
        <p:nvSpPr>
          <p:cNvPr id="92" name="Text 90"/>
          <p:cNvSpPr/>
          <p:nvPr/>
        </p:nvSpPr>
        <p:spPr>
          <a:xfrm>
            <a:off x="5737860" y="6094476"/>
            <a:ext cx="2743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新聞DB・有報・決算資料 等</a:t>
            </a:r>
            <a:endParaRPr lang="ja-JP" sz="600" dirty="0"/>
          </a:p>
        </p:txBody>
      </p:sp>
      <p:sp>
        <p:nvSpPr>
          <p:cNvPr id="93" name="Text 91"/>
          <p:cNvSpPr/>
          <p:nvPr/>
        </p:nvSpPr>
        <p:spPr>
          <a:xfrm>
            <a:off x="5737860" y="6224016"/>
            <a:ext cx="2743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構造化 → ベクトルDBへ</a:t>
            </a:r>
            <a:endParaRPr lang="ja-JP" sz="600" dirty="0"/>
          </a:p>
        </p:txBody>
      </p:sp>
      <p:sp>
        <p:nvSpPr>
          <p:cNvPr id="94" name="Text 92"/>
          <p:cNvSpPr/>
          <p:nvPr/>
        </p:nvSpPr>
        <p:spPr>
          <a:xfrm>
            <a:off x="8039100" y="5930392"/>
            <a:ext cx="2743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700" b="1" dirty="0">
                <a:solidFill>
                  <a:srgbClr val="3D4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マネージド Web検索API</a:t>
            </a:r>
            <a:endParaRPr lang="ja-JP" sz="700" dirty="0"/>
          </a:p>
        </p:txBody>
      </p:sp>
      <p:sp>
        <p:nvSpPr>
          <p:cNvPr id="95" name="Text 93"/>
          <p:cNvSpPr/>
          <p:nvPr/>
        </p:nvSpPr>
        <p:spPr>
          <a:xfrm>
            <a:off x="8039100" y="6094476"/>
            <a:ext cx="2743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Tavily・Bing 等</a:t>
            </a:r>
            <a:endParaRPr lang="ja-JP" sz="600" dirty="0"/>
          </a:p>
        </p:txBody>
      </p:sp>
      <p:sp>
        <p:nvSpPr>
          <p:cNvPr id="96" name="Text 94"/>
          <p:cNvSpPr/>
          <p:nvPr/>
        </p:nvSpPr>
        <p:spPr>
          <a:xfrm>
            <a:off x="8039100" y="6224016"/>
            <a:ext cx="2743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アドホック時の最新報道</a:t>
            </a:r>
            <a:endParaRPr lang="ja-JP" sz="600" dirty="0"/>
          </a:p>
        </p:txBody>
      </p:sp>
      <p:sp>
        <p:nvSpPr>
          <p:cNvPr id="97" name="Text 95"/>
          <p:cNvSpPr/>
          <p:nvPr/>
        </p:nvSpPr>
        <p:spPr>
          <a:xfrm>
            <a:off x="4709160" y="3587496"/>
            <a:ext cx="62179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600" dirty="0">
                <a:solidFill>
                  <a:srgbClr val="B077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閉域内アクセス</a:t>
            </a:r>
            <a:endParaRPr lang="ja-JP" sz="600" dirty="0"/>
          </a:p>
        </p:txBody>
      </p:sp>
      <p:sp>
        <p:nvSpPr>
          <p:cNvPr id="98" name="Text 96"/>
          <p:cNvSpPr/>
          <p:nvPr/>
        </p:nvSpPr>
        <p:spPr>
          <a:xfrm>
            <a:off x="9022080" y="4120896"/>
            <a:ext cx="62179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600" dirty="0">
                <a:solidFill>
                  <a:srgbClr val="B33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NAT経由</a:t>
            </a:r>
            <a:endParaRPr lang="ja-JP" sz="600" dirty="0"/>
          </a:p>
        </p:txBody>
      </p:sp>
      <p:sp>
        <p:nvSpPr>
          <p:cNvPr id="99" name="Text 97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90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Deloitte</a:t>
            </a:r>
            <a:pPr indent="0" marL="0">
              <a:buNone/>
            </a:pPr>
            <a:r>
              <a:rPr lang="ja-JP" sz="9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｜　簡易本番基盤の構成</a:t>
            </a:r>
            <a:endParaRPr lang="ja-JP" sz="900" dirty="0"/>
          </a:p>
        </p:txBody>
      </p:sp>
      <p:sp>
        <p:nvSpPr>
          <p:cNvPr id="100" name="Text 98"/>
          <p:cNvSpPr/>
          <p:nvPr/>
        </p:nvSpPr>
        <p:spPr>
          <a:xfrm>
            <a:off x="11064240" y="65105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sz="9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ja-JP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18872" cy="118872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spc="200" kern="0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Technical Notes</a:t>
            </a:r>
            <a:endParaRPr lang="ja-JP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8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技術注記（配置・境界・制御）</a:t>
            </a:r>
            <a:endParaRPr lang="ja-JP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566160" cy="49377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8DCD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207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インフラ配置</a:t>
            </a:r>
            <a:endParaRPr lang="ja-JP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27632"/>
            <a:ext cx="3200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ja-JP" alt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アプリ（front/back）：</a:t>
            </a: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ja-JP" altLang="en-US" sz="11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EC2。PoCは1インスタンスに集約。</a:t>
            </a:r>
            <a:endParaRPr lang="ja-JP" sz="11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ja-JP" alt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LLM：</a:t>
            </a: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ja-JP" altLang="en-US" sz="11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Amazon Bedrock（Claude系）をAPI呼び出し。モデルは環境内に持たない。</a:t>
            </a:r>
            <a:endParaRPr lang="ja-JP" sz="11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ja-JP" alt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データ層（センシングDB・ベクトルDB・参照ファイル）：</a:t>
            </a: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ja-JP" altLang="en-US" sz="11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同じ扱い。PoC＝EC2内 → 本番＝閉域S3 or 自社サーバーに分離。</a:t>
            </a:r>
            <a:endParaRPr lang="ja-JP" sz="11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ja-JP" alt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外部通信：</a:t>
            </a: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ja-JP" altLang="en-US" sz="11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NAT経由で許可先のみ（検索API・公開データ）。</a:t>
            </a:r>
            <a:endParaRPr lang="ja-JP" sz="1150" dirty="0"/>
          </a:p>
        </p:txBody>
      </p:sp>
      <p:sp>
        <p:nvSpPr>
          <p:cNvPr id="8" name="Shape 6"/>
          <p:cNvSpPr/>
          <p:nvPr/>
        </p:nvSpPr>
        <p:spPr>
          <a:xfrm>
            <a:off x="4251960" y="1051560"/>
            <a:ext cx="3566160" cy="49377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8DCD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53128" y="1207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アクセス・認証</a:t>
            </a:r>
            <a:endParaRPr lang="ja-JP" sz="1400" dirty="0"/>
          </a:p>
        </p:txBody>
      </p:sp>
      <p:sp>
        <p:nvSpPr>
          <p:cNvPr id="10" name="Text 8"/>
          <p:cNvSpPr/>
          <p:nvPr/>
        </p:nvSpPr>
        <p:spPr>
          <a:xfrm>
            <a:off x="4453128" y="1627632"/>
            <a:ext cx="3200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ja-JP" alt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IP制限：</a:t>
            </a: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ja-JP" altLang="en-US" sz="11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Security Group／WAFの許可リスト。</a:t>
            </a:r>
            <a:endParaRPr lang="ja-JP" sz="11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ja-JP" alt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認証：</a:t>
            </a: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ja-JP" altLang="en-US" sz="11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ID/PW を基本。本番はSSO（社内IdP）・MFA・監査ログを追加。</a:t>
            </a:r>
            <a:endParaRPr lang="ja-JP" sz="11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ja-JP" alt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通信：</a:t>
            </a: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ja-JP" altLang="en-US" sz="11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TLS必須。ロールで使用者／管理者の権限分離。</a:t>
            </a:r>
            <a:endParaRPr lang="ja-JP" sz="11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ja-JP" alt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機密：</a:t>
            </a: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ja-JP" altLang="en-US" sz="11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本番は閉域配置＋データはマスキング前提。</a:t>
            </a:r>
            <a:endParaRPr lang="ja-JP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051560"/>
            <a:ext cx="3566160" cy="49377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8DCD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47888" y="1207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LLM制御（ガードレール）</a:t>
            </a:r>
            <a:endParaRPr lang="ja-JP" sz="1400" dirty="0"/>
          </a:p>
        </p:txBody>
      </p:sp>
      <p:sp>
        <p:nvSpPr>
          <p:cNvPr id="13" name="Text 11"/>
          <p:cNvSpPr/>
          <p:nvPr/>
        </p:nvSpPr>
        <p:spPr>
          <a:xfrm>
            <a:off x="8247888" y="1627632"/>
            <a:ext cx="3200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ja-JP" alt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入力側：</a:t>
            </a: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ja-JP" altLang="en-US" sz="11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PII・機密のマスキング、禁止トピック遮断。</a:t>
            </a:r>
            <a:endParaRPr lang="ja-JP" sz="11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ja-JP" alt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出力側：</a:t>
            </a: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ja-JP" altLang="en-US" sz="11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出典必須・点推定禁止（方向×オーダー×確度の幅）。</a:t>
            </a:r>
            <a:endParaRPr lang="ja-JP" sz="11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ja-JP" alt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推論制御：</a:t>
            </a: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ja-JP" altLang="en-US" sz="11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マップ外推論の抑制・逸脱検知。</a:t>
            </a:r>
            <a:endParaRPr lang="ja-JP" sz="11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ja-JP" alt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実装：</a:t>
            </a: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ja-JP" altLang="en-US" sz="11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Bedrock Guardrails＋プロンプト仕様の二段構え。本番は監査強化。</a:t>
            </a:r>
            <a:endParaRPr lang="ja-JP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90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Deloitte</a:t>
            </a:r>
            <a:pPr indent="0" marL="0">
              <a:buNone/>
            </a:pPr>
            <a:r>
              <a:rPr lang="ja-JP" sz="9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｜　技術注記</a:t>
            </a:r>
            <a:endParaRPr lang="ja-JP" sz="900" dirty="0"/>
          </a:p>
        </p:txBody>
      </p:sp>
      <p:sp>
        <p:nvSpPr>
          <p:cNvPr id="15" name="Text 13"/>
          <p:cNvSpPr/>
          <p:nvPr/>
        </p:nvSpPr>
        <p:spPr>
          <a:xfrm>
            <a:off x="11064240" y="65105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sz="9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ja-JP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18872" cy="118872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100" b="1" spc="200" kern="0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PoC / 簡易本番</a:t>
            </a:r>
            <a:endParaRPr lang="ja-JP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18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PoC ／ 簡易本番 の差分</a:t>
            </a:r>
            <a:endParaRPr lang="ja-JP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471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069080"/>
                <a:gridCol w="40690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要素</a:t>
                      </a:r>
                      <a:endParaRPr lang="ja-JP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PoC（現段階）</a:t>
                      </a:r>
                      <a:endParaRPr lang="ja-JP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簡易本番（機密投入を前提）</a:t>
                      </a:r>
                      <a:endParaRPr lang="ja-JP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6A3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15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アプリ配置</a:t>
                      </a:r>
                      <a:endParaRPr lang="ja-JP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15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EC2 1インスタンスに集約（front/back）</a:t>
                      </a:r>
                      <a:endParaRPr lang="ja-JP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15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役割分離・可用性強化（構成は要検討）</a:t>
                      </a:r>
                      <a:endParaRPr lang="ja-JP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15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データ層（センシングDB・ベクトルDB・参照ファイル）</a:t>
                      </a:r>
                      <a:endParaRPr lang="ja-JP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15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EC2内に同居</a:t>
                      </a:r>
                      <a:endParaRPr lang="ja-JP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15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閉域S3 or 自社サーバーへ分離配置</a:t>
                      </a:r>
                      <a:endParaRPr lang="ja-JP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15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</a:t>
                      </a:r>
                      <a:endParaRPr lang="ja-JP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15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公開／ダミー・マスキング中心</a:t>
                      </a:r>
                      <a:endParaRPr lang="ja-JP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15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社内KPI等の機密を投入（閉域・マスキング）</a:t>
                      </a:r>
                      <a:endParaRPr lang="ja-JP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15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LLM</a:t>
                      </a:r>
                      <a:endParaRPr lang="ja-JP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15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Bedrock（共通）</a:t>
                      </a:r>
                      <a:endParaRPr lang="ja-JP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15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Bedrock（共通）＋ガードレール・監査強化</a:t>
                      </a:r>
                      <a:endParaRPr lang="ja-JP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15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アクセス</a:t>
                      </a:r>
                      <a:endParaRPr lang="ja-JP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15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IP制限＋ID/PW</a:t>
                      </a:r>
                      <a:endParaRPr lang="ja-JP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15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＋SSO・MFA、監査ログ</a:t>
                      </a:r>
                      <a:endParaRPr lang="ja-JP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15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外部検索</a:t>
                      </a:r>
                      <a:endParaRPr lang="ja-JP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15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マネージド検索API（NAT経由）</a:t>
                      </a:r>
                      <a:endParaRPr lang="ja-JP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15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同左＋送信内容の制御・許可先厳格化</a:t>
                      </a:r>
                      <a:endParaRPr lang="ja-JP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95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本図は公開情報ベースの簡易構成（たたき台）。サービス選定・可用性・ネットワーク設計・データ分類は本番設計フェーズで確定する。</a:t>
            </a:r>
            <a:endParaRPr lang="ja-JP" sz="95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sz="90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Deloitte</a:t>
            </a:r>
            <a:pPr indent="0" marL="0">
              <a:buNone/>
            </a:pPr>
            <a:r>
              <a:rPr lang="ja-JP" sz="9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｜　PoC／簡易本番の差分</a:t>
            </a:r>
            <a:endParaRPr lang="ja-JP" sz="900" dirty="0"/>
          </a:p>
        </p:txBody>
      </p:sp>
      <p:sp>
        <p:nvSpPr>
          <p:cNvPr id="8" name="Text 5"/>
          <p:cNvSpPr/>
          <p:nvPr/>
        </p:nvSpPr>
        <p:spPr>
          <a:xfrm>
            <a:off x="11064240" y="65105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sz="9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ja-JP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HHグループ AI経営診断OS 簡易システム構成図</dc:title>
  <dc:subject>PptxGenJS Presentation</dc:subject>
  <dc:creator>Deloitte</dc:creator>
  <cp:lastModifiedBy>Deloitte</cp:lastModifiedBy>
  <cp:revision>1</cp:revision>
  <dcterms:created xsi:type="dcterms:W3CDTF">2026-07-08T07:21:19Z</dcterms:created>
  <dcterms:modified xsi:type="dcterms:W3CDTF">2026-07-08T07:21:19Z</dcterms:modified>
</cp:coreProperties>
</file>